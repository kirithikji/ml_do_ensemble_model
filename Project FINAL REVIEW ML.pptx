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8"/>
  </p:notesMasterIdLst>
  <p:sldIdLst>
    <p:sldId id="256" r:id="rId2"/>
    <p:sldId id="258" r:id="rId3"/>
    <p:sldId id="259" r:id="rId4"/>
    <p:sldId id="260" r:id="rId5"/>
    <p:sldId id="270" r:id="rId6"/>
    <p:sldId id="263" r:id="rId7"/>
    <p:sldId id="262" r:id="rId8"/>
    <p:sldId id="264" r:id="rId9"/>
    <p:sldId id="291" r:id="rId10"/>
    <p:sldId id="293" r:id="rId11"/>
    <p:sldId id="292" r:id="rId12"/>
    <p:sldId id="275" r:id="rId13"/>
    <p:sldId id="283" r:id="rId14"/>
    <p:sldId id="284" r:id="rId15"/>
    <p:sldId id="286" r:id="rId16"/>
    <p:sldId id="285" r:id="rId17"/>
    <p:sldId id="287" r:id="rId18"/>
    <p:sldId id="265" r:id="rId19"/>
    <p:sldId id="294" r:id="rId20"/>
    <p:sldId id="266" r:id="rId21"/>
    <p:sldId id="288" r:id="rId22"/>
    <p:sldId id="295" r:id="rId23"/>
    <p:sldId id="276" r:id="rId24"/>
    <p:sldId id="296" r:id="rId25"/>
    <p:sldId id="278" r:id="rId26"/>
    <p:sldId id="289" r:id="rId27"/>
    <p:sldId id="279" r:id="rId28"/>
    <p:sldId id="280" r:id="rId29"/>
    <p:sldId id="282" r:id="rId30"/>
    <p:sldId id="274" r:id="rId31"/>
    <p:sldId id="297" r:id="rId32"/>
    <p:sldId id="273" r:id="rId33"/>
    <p:sldId id="290" r:id="rId34"/>
    <p:sldId id="267" r:id="rId35"/>
    <p:sldId id="268" r:id="rId36"/>
    <p:sldId id="269" r:id="rId3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i7nK151YdIZSeRnm+3JZk4hwiQ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BC6C1E-BED5-463D-9D9D-55BB47110D15}">
  <a:tblStyle styleId="{F9BC6C1E-BED5-463D-9D9D-55BB47110D15}"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17792F72-9F60-45A1-A759-DC8DF3A647CD}"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94660"/>
  </p:normalViewPr>
  <p:slideViewPr>
    <p:cSldViewPr snapToGrid="0">
      <p:cViewPr varScale="1">
        <p:scale>
          <a:sx n="78" d="100"/>
          <a:sy n="78" d="100"/>
        </p:scale>
        <p:origin x="1915"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6BABEE88-AA12-0649-AF0A-F28C2A0A0EF7}"/>
            </a:ext>
          </a:extLst>
        </p:cNvPr>
        <p:cNvGrpSpPr/>
        <p:nvPr/>
      </p:nvGrpSpPr>
      <p:grpSpPr>
        <a:xfrm>
          <a:off x="0" y="0"/>
          <a:ext cx="0" cy="0"/>
          <a:chOff x="0" y="0"/>
          <a:chExt cx="0" cy="0"/>
        </a:xfrm>
      </p:grpSpPr>
      <p:sp>
        <p:nvSpPr>
          <p:cNvPr id="151" name="Google Shape;151;p11:notes">
            <a:extLst>
              <a:ext uri="{FF2B5EF4-FFF2-40B4-BE49-F238E27FC236}">
                <a16:creationId xmlns:a16="http://schemas.microsoft.com/office/drawing/2014/main" id="{D550F0D7-FF9C-98DA-A992-BFBC875DE9C0}"/>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1:notes">
            <a:extLst>
              <a:ext uri="{FF2B5EF4-FFF2-40B4-BE49-F238E27FC236}">
                <a16:creationId xmlns:a16="http://schemas.microsoft.com/office/drawing/2014/main" id="{96828FF0-21CA-06E7-8A04-AF72692CD19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4363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1105B761-3E87-E101-9E90-737F42DFB847}"/>
            </a:ext>
          </a:extLst>
        </p:cNvPr>
        <p:cNvGrpSpPr/>
        <p:nvPr/>
      </p:nvGrpSpPr>
      <p:grpSpPr>
        <a:xfrm>
          <a:off x="0" y="0"/>
          <a:ext cx="0" cy="0"/>
          <a:chOff x="0" y="0"/>
          <a:chExt cx="0" cy="0"/>
        </a:xfrm>
      </p:grpSpPr>
      <p:sp>
        <p:nvSpPr>
          <p:cNvPr id="158" name="Google Shape;158;p12:notes">
            <a:extLst>
              <a:ext uri="{FF2B5EF4-FFF2-40B4-BE49-F238E27FC236}">
                <a16:creationId xmlns:a16="http://schemas.microsoft.com/office/drawing/2014/main" id="{49C47B17-8BCB-A1C5-5737-5BA7458AA56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a:extLst>
              <a:ext uri="{FF2B5EF4-FFF2-40B4-BE49-F238E27FC236}">
                <a16:creationId xmlns:a16="http://schemas.microsoft.com/office/drawing/2014/main" id="{E746A425-1412-F387-56D6-A5DC42765C2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1348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2561E443-B416-6D81-AD9D-13F37AF593EA}"/>
            </a:ext>
          </a:extLst>
        </p:cNvPr>
        <p:cNvGrpSpPr/>
        <p:nvPr/>
      </p:nvGrpSpPr>
      <p:grpSpPr>
        <a:xfrm>
          <a:off x="0" y="0"/>
          <a:ext cx="0" cy="0"/>
          <a:chOff x="0" y="0"/>
          <a:chExt cx="0" cy="0"/>
        </a:xfrm>
      </p:grpSpPr>
      <p:sp>
        <p:nvSpPr>
          <p:cNvPr id="158" name="Google Shape;158;p12:notes">
            <a:extLst>
              <a:ext uri="{FF2B5EF4-FFF2-40B4-BE49-F238E27FC236}">
                <a16:creationId xmlns:a16="http://schemas.microsoft.com/office/drawing/2014/main" id="{BD57D88D-217C-CA36-765E-2DB04985121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a:extLst>
              <a:ext uri="{FF2B5EF4-FFF2-40B4-BE49-F238E27FC236}">
                <a16:creationId xmlns:a16="http://schemas.microsoft.com/office/drawing/2014/main" id="{72051162-FAA2-1720-2FF0-50C23F97557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08786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8FC8BDA9-EA25-0F84-5C21-D1598F7FE74F}"/>
            </a:ext>
          </a:extLst>
        </p:cNvPr>
        <p:cNvGrpSpPr/>
        <p:nvPr/>
      </p:nvGrpSpPr>
      <p:grpSpPr>
        <a:xfrm>
          <a:off x="0" y="0"/>
          <a:ext cx="0" cy="0"/>
          <a:chOff x="0" y="0"/>
          <a:chExt cx="0" cy="0"/>
        </a:xfrm>
      </p:grpSpPr>
      <p:sp>
        <p:nvSpPr>
          <p:cNvPr id="158" name="Google Shape;158;p12:notes">
            <a:extLst>
              <a:ext uri="{FF2B5EF4-FFF2-40B4-BE49-F238E27FC236}">
                <a16:creationId xmlns:a16="http://schemas.microsoft.com/office/drawing/2014/main" id="{73819968-AE92-B85A-DF2E-B78DEF377FB5}"/>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a:extLst>
              <a:ext uri="{FF2B5EF4-FFF2-40B4-BE49-F238E27FC236}">
                <a16:creationId xmlns:a16="http://schemas.microsoft.com/office/drawing/2014/main" id="{DA15A068-E2D1-A792-7C96-A9C130C243F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0215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F88A4117-3DC0-1708-0853-5AA5EF3480CF}"/>
            </a:ext>
          </a:extLst>
        </p:cNvPr>
        <p:cNvGrpSpPr/>
        <p:nvPr/>
      </p:nvGrpSpPr>
      <p:grpSpPr>
        <a:xfrm>
          <a:off x="0" y="0"/>
          <a:ext cx="0" cy="0"/>
          <a:chOff x="0" y="0"/>
          <a:chExt cx="0" cy="0"/>
        </a:xfrm>
      </p:grpSpPr>
      <p:sp>
        <p:nvSpPr>
          <p:cNvPr id="158" name="Google Shape;158;p12:notes">
            <a:extLst>
              <a:ext uri="{FF2B5EF4-FFF2-40B4-BE49-F238E27FC236}">
                <a16:creationId xmlns:a16="http://schemas.microsoft.com/office/drawing/2014/main" id="{3BFDA6F5-8062-6188-7836-DC9C3B30C5A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a:extLst>
              <a:ext uri="{FF2B5EF4-FFF2-40B4-BE49-F238E27FC236}">
                <a16:creationId xmlns:a16="http://schemas.microsoft.com/office/drawing/2014/main" id="{3D4624A4-DF76-1F1B-FF2C-4C7D6270C8F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8395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600174DD-FC05-CF85-7C84-78065F1B7C00}"/>
            </a:ext>
          </a:extLst>
        </p:cNvPr>
        <p:cNvGrpSpPr/>
        <p:nvPr/>
      </p:nvGrpSpPr>
      <p:grpSpPr>
        <a:xfrm>
          <a:off x="0" y="0"/>
          <a:ext cx="0" cy="0"/>
          <a:chOff x="0" y="0"/>
          <a:chExt cx="0" cy="0"/>
        </a:xfrm>
      </p:grpSpPr>
      <p:sp>
        <p:nvSpPr>
          <p:cNvPr id="158" name="Google Shape;158;p12:notes">
            <a:extLst>
              <a:ext uri="{FF2B5EF4-FFF2-40B4-BE49-F238E27FC236}">
                <a16:creationId xmlns:a16="http://schemas.microsoft.com/office/drawing/2014/main" id="{DD0BD133-B4B4-ACED-D847-42C02234B7C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a:extLst>
              <a:ext uri="{FF2B5EF4-FFF2-40B4-BE49-F238E27FC236}">
                <a16:creationId xmlns:a16="http://schemas.microsoft.com/office/drawing/2014/main" id="{BA836DA6-36A3-4E59-47DF-8EE77C3EFCF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6047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07BD1995-780E-E3E6-C856-57F0C7B49A13}"/>
            </a:ext>
          </a:extLst>
        </p:cNvPr>
        <p:cNvGrpSpPr/>
        <p:nvPr/>
      </p:nvGrpSpPr>
      <p:grpSpPr>
        <a:xfrm>
          <a:off x="0" y="0"/>
          <a:ext cx="0" cy="0"/>
          <a:chOff x="0" y="0"/>
          <a:chExt cx="0" cy="0"/>
        </a:xfrm>
      </p:grpSpPr>
      <p:sp>
        <p:nvSpPr>
          <p:cNvPr id="158" name="Google Shape;158;p12:notes">
            <a:extLst>
              <a:ext uri="{FF2B5EF4-FFF2-40B4-BE49-F238E27FC236}">
                <a16:creationId xmlns:a16="http://schemas.microsoft.com/office/drawing/2014/main" id="{E6DB215F-BDAC-6ABD-0CAE-4874F44332F5}"/>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a:extLst>
              <a:ext uri="{FF2B5EF4-FFF2-40B4-BE49-F238E27FC236}">
                <a16:creationId xmlns:a16="http://schemas.microsoft.com/office/drawing/2014/main" id="{FACA01C1-CAE9-A638-2E47-9A11DDB0DC2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35634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F273A88B-7538-CB3C-95E8-8FF9009A54B9}"/>
            </a:ext>
          </a:extLst>
        </p:cNvPr>
        <p:cNvGrpSpPr/>
        <p:nvPr/>
      </p:nvGrpSpPr>
      <p:grpSpPr>
        <a:xfrm>
          <a:off x="0" y="0"/>
          <a:ext cx="0" cy="0"/>
          <a:chOff x="0" y="0"/>
          <a:chExt cx="0" cy="0"/>
        </a:xfrm>
      </p:grpSpPr>
      <p:sp>
        <p:nvSpPr>
          <p:cNvPr id="158" name="Google Shape;158;p12:notes">
            <a:extLst>
              <a:ext uri="{FF2B5EF4-FFF2-40B4-BE49-F238E27FC236}">
                <a16:creationId xmlns:a16="http://schemas.microsoft.com/office/drawing/2014/main" id="{195B1D99-536B-CCE7-D684-A93B0A77730B}"/>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a:extLst>
              <a:ext uri="{FF2B5EF4-FFF2-40B4-BE49-F238E27FC236}">
                <a16:creationId xmlns:a16="http://schemas.microsoft.com/office/drawing/2014/main" id="{5D5DDBE6-BA89-2FD2-5363-F10C13CCB8A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0637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E80B869F-44A3-9B6A-0F43-B362117866B4}"/>
            </a:ext>
          </a:extLst>
        </p:cNvPr>
        <p:cNvGrpSpPr/>
        <p:nvPr/>
      </p:nvGrpSpPr>
      <p:grpSpPr>
        <a:xfrm>
          <a:off x="0" y="0"/>
          <a:ext cx="0" cy="0"/>
          <a:chOff x="0" y="0"/>
          <a:chExt cx="0" cy="0"/>
        </a:xfrm>
      </p:grpSpPr>
      <p:sp>
        <p:nvSpPr>
          <p:cNvPr id="158" name="Google Shape;158;p12:notes">
            <a:extLst>
              <a:ext uri="{FF2B5EF4-FFF2-40B4-BE49-F238E27FC236}">
                <a16:creationId xmlns:a16="http://schemas.microsoft.com/office/drawing/2014/main" id="{B937387D-CA19-C1CB-8A36-2AA0DD8CACB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a:extLst>
              <a:ext uri="{FF2B5EF4-FFF2-40B4-BE49-F238E27FC236}">
                <a16:creationId xmlns:a16="http://schemas.microsoft.com/office/drawing/2014/main" id="{49D54556-0CAA-B1D7-122A-270B6AEF349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364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3BBA167C-622C-29FC-598F-A5465EA366A2}"/>
            </a:ext>
          </a:extLst>
        </p:cNvPr>
        <p:cNvGrpSpPr/>
        <p:nvPr/>
      </p:nvGrpSpPr>
      <p:grpSpPr>
        <a:xfrm>
          <a:off x="0" y="0"/>
          <a:ext cx="0" cy="0"/>
          <a:chOff x="0" y="0"/>
          <a:chExt cx="0" cy="0"/>
        </a:xfrm>
      </p:grpSpPr>
      <p:sp>
        <p:nvSpPr>
          <p:cNvPr id="158" name="Google Shape;158;p12:notes">
            <a:extLst>
              <a:ext uri="{FF2B5EF4-FFF2-40B4-BE49-F238E27FC236}">
                <a16:creationId xmlns:a16="http://schemas.microsoft.com/office/drawing/2014/main" id="{C62F3783-AA07-7062-62AC-9A75AFA3BC5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a:extLst>
              <a:ext uri="{FF2B5EF4-FFF2-40B4-BE49-F238E27FC236}">
                <a16:creationId xmlns:a16="http://schemas.microsoft.com/office/drawing/2014/main" id="{C600220B-3349-2768-8FEA-8DD0EC64673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1776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91767FD9-4493-C823-BCEA-B05CB2683AFA}"/>
            </a:ext>
          </a:extLst>
        </p:cNvPr>
        <p:cNvGrpSpPr/>
        <p:nvPr/>
      </p:nvGrpSpPr>
      <p:grpSpPr>
        <a:xfrm>
          <a:off x="0" y="0"/>
          <a:ext cx="0" cy="0"/>
          <a:chOff x="0" y="0"/>
          <a:chExt cx="0" cy="0"/>
        </a:xfrm>
      </p:grpSpPr>
      <p:sp>
        <p:nvSpPr>
          <p:cNvPr id="158" name="Google Shape;158;p12:notes">
            <a:extLst>
              <a:ext uri="{FF2B5EF4-FFF2-40B4-BE49-F238E27FC236}">
                <a16:creationId xmlns:a16="http://schemas.microsoft.com/office/drawing/2014/main" id="{61383910-1895-C2BF-3149-DE2FA0A5A7E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a:extLst>
              <a:ext uri="{FF2B5EF4-FFF2-40B4-BE49-F238E27FC236}">
                <a16:creationId xmlns:a16="http://schemas.microsoft.com/office/drawing/2014/main" id="{F6FD7CAF-BDB4-5ECE-07D6-7D9225B7699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187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sz="4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just">
              <a:spcBef>
                <a:spcPts val="360"/>
              </a:spcBef>
              <a:spcAft>
                <a:spcPts val="0"/>
              </a:spcAft>
              <a:buClr>
                <a:schemeClr val="dk1"/>
              </a:buClr>
              <a:buSzPts val="1800"/>
              <a:buChar char="•"/>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dirty="0"/>
          </a:p>
        </p:txBody>
      </p:sp>
      <p:sp>
        <p:nvSpPr>
          <p:cNvPr id="24" name="Google Shape;24;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6"/>
          <p:cNvSpPr>
            <a:spLocks noGrp="1"/>
          </p:cNvSpPr>
          <p:nvPr>
            <p:ph type="pic" idx="2"/>
          </p:nvPr>
        </p:nvSpPr>
        <p:spPr>
          <a:xfrm>
            <a:off x="1792288" y="612775"/>
            <a:ext cx="5486400" cy="4114800"/>
          </a:xfrm>
          <a:prstGeom prst="rect">
            <a:avLst/>
          </a:prstGeom>
          <a:noFill/>
          <a:ln>
            <a:noFill/>
          </a:ln>
        </p:spPr>
      </p:sp>
      <p:sp>
        <p:nvSpPr>
          <p:cNvPr id="68" name="Google Shape;68;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sp>
        <p:nvSpPr>
          <p:cNvPr id="12" name="Google Shape;1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aterdata.usgs.gov/"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2047600" y="469900"/>
            <a:ext cx="6563100" cy="133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1800"/>
              <a:buFont typeface="Times New Roman"/>
              <a:buNone/>
            </a:pPr>
            <a:r>
              <a:rPr lang="en-US" sz="1800" b="1">
                <a:latin typeface="Times New Roman"/>
                <a:ea typeface="Times New Roman"/>
                <a:cs typeface="Times New Roman"/>
                <a:sym typeface="Times New Roman"/>
              </a:rPr>
              <a:t>SRM INSTITUTE OF SCIENCE AND TECHNOLOGY</a:t>
            </a:r>
            <a:br>
              <a:rPr lang="en-US" sz="1800" b="1">
                <a:latin typeface="Times New Roman"/>
                <a:ea typeface="Times New Roman"/>
                <a:cs typeface="Times New Roman"/>
                <a:sym typeface="Times New Roman"/>
              </a:rPr>
            </a:br>
            <a:r>
              <a:rPr lang="en-US" sz="1800" b="1">
                <a:latin typeface="Times New Roman"/>
                <a:ea typeface="Times New Roman"/>
                <a:cs typeface="Times New Roman"/>
                <a:sym typeface="Times New Roman"/>
              </a:rPr>
              <a:t>Ramapuram , Chennai – 600 089</a:t>
            </a:r>
            <a:br>
              <a:rPr lang="en-US" sz="18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DEPARTMENT OF COMPUTER SCIENCE AND ENGINEERING</a:t>
            </a:r>
            <a:endParaRPr lang="en-US" sz="1800"/>
          </a:p>
        </p:txBody>
      </p:sp>
      <p:sp>
        <p:nvSpPr>
          <p:cNvPr id="89" name="Google Shape;89;p1"/>
          <p:cNvSpPr txBox="1">
            <a:spLocks noGrp="1"/>
          </p:cNvSpPr>
          <p:nvPr>
            <p:ph type="subTitle" idx="1"/>
          </p:nvPr>
        </p:nvSpPr>
        <p:spPr>
          <a:xfrm>
            <a:off x="609600" y="1800225"/>
            <a:ext cx="8077200" cy="12477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21CSC305P/ MACHINE LEARNING</a:t>
            </a:r>
          </a:p>
          <a:p>
            <a:pPr marL="0" lvl="0" indent="0">
              <a:buClr>
                <a:schemeClr val="dk1"/>
              </a:buClr>
            </a:pPr>
            <a:r>
              <a:rPr lang="en-US" sz="2000">
                <a:solidFill>
                  <a:schemeClr val="dk1"/>
                </a:solidFill>
                <a:latin typeface="Times New Roman"/>
                <a:ea typeface="Times New Roman"/>
                <a:cs typeface="Times New Roman"/>
                <a:sym typeface="Times New Roman"/>
              </a:rPr>
              <a:t>Multimodal Machine Learning Framework for Early Warning of Dissolved-Oxygen Deterioration in Rivers</a:t>
            </a:r>
            <a:endParaRPr lang="en-US" sz="2000">
              <a:latin typeface="Times New Roman"/>
              <a:ea typeface="Times New Roman"/>
              <a:cs typeface="Times New Roman"/>
              <a:sym typeface="Times New Roman"/>
            </a:endParaRPr>
          </a:p>
          <a:p>
            <a:pPr marL="0" lvl="0" indent="0" algn="ctr" rtl="0">
              <a:spcBef>
                <a:spcPts val="640"/>
              </a:spcBef>
              <a:spcAft>
                <a:spcPts val="0"/>
              </a:spcAft>
              <a:buClr>
                <a:srgbClr val="888888"/>
              </a:buClr>
              <a:buSzPts val="3200"/>
              <a:buNone/>
            </a:pPr>
            <a:endParaRPr lang="en-US" dirty="0">
              <a:solidFill>
                <a:schemeClr val="dk1"/>
              </a:solidFill>
            </a:endParaRPr>
          </a:p>
        </p:txBody>
      </p:sp>
      <p:sp>
        <p:nvSpPr>
          <p:cNvPr id="90" name="Google Shape;90;p1"/>
          <p:cNvSpPr txBox="1"/>
          <p:nvPr/>
        </p:nvSpPr>
        <p:spPr>
          <a:xfrm>
            <a:off x="1633728" y="3276600"/>
            <a:ext cx="6400800" cy="8382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dk1"/>
              </a:buClr>
              <a:buSzPts val="3200"/>
              <a:buFont typeface="Arial"/>
              <a:buNone/>
            </a:pPr>
            <a:r>
              <a:rPr lang="en-US" sz="3200" i="0" u="none" strike="noStrike" cap="none" dirty="0">
                <a:solidFill>
                  <a:schemeClr val="dk1"/>
                </a:solidFill>
                <a:latin typeface="Times New Roman"/>
                <a:ea typeface="Times New Roman"/>
                <a:cs typeface="Times New Roman"/>
                <a:sym typeface="Times New Roman"/>
              </a:rPr>
              <a:t>BATCH NUMBER : 15</a:t>
            </a:r>
            <a:endParaRPr dirty="0">
              <a:latin typeface="Times New Roman"/>
              <a:ea typeface="Times New Roman"/>
              <a:cs typeface="Times New Roman"/>
              <a:sym typeface="Times New Roman"/>
            </a:endParaRPr>
          </a:p>
        </p:txBody>
      </p:sp>
      <p:graphicFrame>
        <p:nvGraphicFramePr>
          <p:cNvPr id="91" name="Google Shape;91;p1"/>
          <p:cNvGraphicFramePr/>
          <p:nvPr>
            <p:extLst>
              <p:ext uri="{D42A27DB-BD31-4B8C-83A1-F6EECF244321}">
                <p14:modId xmlns:p14="http://schemas.microsoft.com/office/powerpoint/2010/main" val="2209475637"/>
              </p:ext>
            </p:extLst>
          </p:nvPr>
        </p:nvGraphicFramePr>
        <p:xfrm>
          <a:off x="304800" y="4114800"/>
          <a:ext cx="8305800" cy="2133600"/>
        </p:xfrm>
        <a:graphic>
          <a:graphicData uri="http://schemas.openxmlformats.org/drawingml/2006/table">
            <a:tbl>
              <a:tblPr firstRow="1" bandRow="1">
                <a:noFill/>
                <a:tableStyleId>{F9BC6C1E-BED5-463D-9D9D-55BB47110D15}</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383750">
                <a:tc>
                  <a:txBody>
                    <a:bodyPr/>
                    <a:lstStyle/>
                    <a:p>
                      <a:pPr marL="0" marR="0" lvl="0" indent="0" algn="l" rtl="0">
                        <a:spcBef>
                          <a:spcPts val="0"/>
                        </a:spcBef>
                        <a:spcAft>
                          <a:spcPts val="0"/>
                        </a:spcAft>
                        <a:buNone/>
                      </a:pPr>
                      <a:r>
                        <a:rPr lang="en-US" sz="1800" u="none" strike="noStrike" cap="none"/>
                        <a:t>Team Members </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Supervisor</a:t>
                      </a:r>
                      <a:endParaRPr/>
                    </a:p>
                  </a:txBody>
                  <a:tcPr marL="91450" marR="91450" marT="45725" marB="45725"/>
                </a:tc>
                <a:extLst>
                  <a:ext uri="{0D108BD9-81ED-4DB2-BD59-A6C34878D82A}">
                    <a16:rowId xmlns:a16="http://schemas.microsoft.com/office/drawing/2014/main" val="10000"/>
                  </a:ext>
                </a:extLst>
              </a:tr>
              <a:tr h="1749850">
                <a:tc>
                  <a:txBody>
                    <a:bodyPr/>
                    <a:lstStyle/>
                    <a:p>
                      <a:pPr marL="0" marR="0" lvl="0" indent="0" algn="l" rtl="0">
                        <a:spcBef>
                          <a:spcPts val="0"/>
                        </a:spcBef>
                        <a:spcAft>
                          <a:spcPts val="0"/>
                        </a:spcAft>
                        <a:buNone/>
                      </a:pPr>
                      <a:r>
                        <a:rPr lang="en-US" sz="1800" dirty="0" err="1"/>
                        <a:t>Jackroshan</a:t>
                      </a:r>
                      <a:r>
                        <a:rPr lang="en-US" sz="1800" dirty="0"/>
                        <a:t> J    – RA2411003020031</a:t>
                      </a:r>
                    </a:p>
                    <a:p>
                      <a:pPr marL="0" marR="0" lvl="0" indent="0" algn="l" rtl="0">
                        <a:spcBef>
                          <a:spcPts val="0"/>
                        </a:spcBef>
                        <a:spcAft>
                          <a:spcPts val="0"/>
                        </a:spcAft>
                        <a:buNone/>
                      </a:pPr>
                      <a:r>
                        <a:rPr lang="en-US" sz="1800" dirty="0"/>
                        <a:t>Yagnesh C        – RA2411003020036</a:t>
                      </a:r>
                    </a:p>
                    <a:p>
                      <a:pPr marL="0" marR="0" lvl="0" indent="0" algn="l" rtl="0">
                        <a:spcBef>
                          <a:spcPts val="0"/>
                        </a:spcBef>
                        <a:spcAft>
                          <a:spcPts val="0"/>
                        </a:spcAft>
                        <a:buNone/>
                      </a:pPr>
                      <a:r>
                        <a:rPr lang="en-US" sz="1800" dirty="0" err="1"/>
                        <a:t>Kirithikji</a:t>
                      </a:r>
                      <a:r>
                        <a:rPr lang="en-US" sz="1800" dirty="0"/>
                        <a:t>           – RA2411003020044</a:t>
                      </a:r>
                      <a:endParaRPr sz="1800" dirty="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dirty="0"/>
                        <a:t>Dr. Sahaya </a:t>
                      </a:r>
                      <a:r>
                        <a:rPr lang="en-US" sz="1800" dirty="0" err="1"/>
                        <a:t>Sakila.V</a:t>
                      </a:r>
                      <a:r>
                        <a:rPr lang="en-US" sz="1800" dirty="0"/>
                        <a:t>, ME., Ph.D.</a:t>
                      </a:r>
                    </a:p>
                    <a:p>
                      <a:pPr marL="0" marR="0" lvl="0" indent="0" algn="l" rtl="0">
                        <a:lnSpc>
                          <a:spcPct val="100000"/>
                        </a:lnSpc>
                        <a:spcBef>
                          <a:spcPts val="0"/>
                        </a:spcBef>
                        <a:spcAft>
                          <a:spcPts val="0"/>
                        </a:spcAft>
                        <a:buClr>
                          <a:schemeClr val="dk1"/>
                        </a:buClr>
                        <a:buSzPts val="1800"/>
                        <a:buFont typeface="Calibri"/>
                        <a:buNone/>
                      </a:pPr>
                      <a:r>
                        <a:rPr lang="en-US" sz="1800" dirty="0"/>
                        <a:t>           Assistant Professor</a:t>
                      </a:r>
                      <a:endParaRPr dirty="0"/>
                    </a:p>
                  </a:txBody>
                  <a:tcPr marL="91450" marR="91450" marT="45725" marB="45725"/>
                </a:tc>
                <a:extLst>
                  <a:ext uri="{0D108BD9-81ED-4DB2-BD59-A6C34878D82A}">
                    <a16:rowId xmlns:a16="http://schemas.microsoft.com/office/drawing/2014/main" val="10001"/>
                  </a:ext>
                </a:extLst>
              </a:tr>
            </a:tbl>
          </a:graphicData>
        </a:graphic>
      </p:graphicFrame>
      <p:sp>
        <p:nvSpPr>
          <p:cNvPr id="92" name="Google Shape;92;p1"/>
          <p:cNvSpPr txBox="1">
            <a:spLocks noGrp="1"/>
          </p:cNvSpPr>
          <p:nvPr>
            <p:ph type="ftr" idx="11"/>
          </p:nvPr>
        </p:nvSpPr>
        <p:spPr>
          <a:xfrm>
            <a:off x="533400" y="6356351"/>
            <a:ext cx="8077200" cy="27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Date							Slide Number</a:t>
            </a:r>
          </a:p>
          <a:p>
            <a:pPr marL="0" lvl="0" indent="0" algn="ctr" rtl="0">
              <a:spcBef>
                <a:spcPts val="0"/>
              </a:spcBef>
              <a:spcAft>
                <a:spcPts val="0"/>
              </a:spcAft>
              <a:buNone/>
            </a:pPr>
            <a:endParaRPr lang="en-US"/>
          </a:p>
        </p:txBody>
      </p:sp>
      <p:pic>
        <p:nvPicPr>
          <p:cNvPr id="93" name="Google Shape;93;p1"/>
          <p:cNvPicPr preferRelativeResize="0"/>
          <p:nvPr/>
        </p:nvPicPr>
        <p:blipFill>
          <a:blip r:embed="rId3">
            <a:alphaModFix/>
          </a:blip>
          <a:stretch>
            <a:fillRect/>
          </a:stretch>
        </p:blipFill>
        <p:spPr>
          <a:xfrm>
            <a:off x="304800" y="177250"/>
            <a:ext cx="1742800" cy="1622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IN" dirty="0"/>
              <a:t>ABSTRACT</a:t>
            </a:r>
          </a:p>
        </p:txBody>
      </p:sp>
      <p:sp>
        <p:nvSpPr>
          <p:cNvPr id="106" name="Google Shape;106;p3"/>
          <p:cNvSpPr txBox="1">
            <a:spLocks noGrp="1"/>
          </p:cNvSpPr>
          <p:nvPr>
            <p:ph type="body" idx="1"/>
          </p:nvPr>
        </p:nvSpPr>
        <p:spPr>
          <a:xfrm>
            <a:off x="457200" y="1600200"/>
            <a:ext cx="8229600" cy="4525963"/>
          </a:xfrm>
          <a:noFill/>
          <a:ln>
            <a:noFill/>
          </a:ln>
        </p:spPr>
        <p:txBody>
          <a:bodyPr spcFirstLastPara="1" wrap="square" lIns="91425" tIns="45700" rIns="91425" bIns="45700" anchor="t" anchorCtr="0">
            <a:noAutofit/>
          </a:bodyPr>
          <a:lstStyle/>
          <a:p>
            <a:pPr marL="114300" indent="0">
              <a:buNone/>
            </a:pPr>
            <a:r>
              <a:rPr lang="en-US" dirty="0"/>
              <a:t>Dissolved-oxygen (DO) depletion (DO &lt; 5 mg/L) is the primary indicator of riverine hypoxia and ecological collapse, yet traditional monitoring only flags deterioration after threshold violations occur. Proposed Framework is a multimodal machine-learning system for early warning of DO deterioration events at operational forecast horizons of H ∈ {6, 12, 24, 48} hours. The Multimodal Data Integration Integrates hourly in-situ water sensors (USGS NWIS), reanalysis weather (ERA5), and atmospheric composition (CAMS) across 15 hypoxia-prone river stations (2023–2025; 337,248 hourly records). The Methodology is 115 strictly causal features; binary event-onset classification under heavy class imbalance (1.14%–7.54% positive rate); comparison of early-fusion </a:t>
            </a:r>
            <a:r>
              <a:rPr lang="en-US" dirty="0" err="1"/>
              <a:t>LightGBM</a:t>
            </a:r>
            <a:r>
              <a:rPr lang="en-US" dirty="0"/>
              <a:t> classifiers against a logistic-regression stacked late-fusion ensemble. Strict temporal split with frozen parameters evaluated once on an independent 2025 hold-out year; SHAP-based global and local interpretability. The Key Findings are Auxiliary weather and air modalities provided no statistically significant performance boost over in-situ water quality alone. However, the machine learning models extended warning lead times by +4 to +9 hours at 24 h and 48 h horizons compared to conventional threshold alerts.</a:t>
            </a:r>
          </a:p>
        </p:txBody>
      </p:sp>
      <p:sp>
        <p:nvSpPr>
          <p:cNvPr id="107" name="Google Shape;107;p3"/>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a:p>
            <a:pPr lvl="0"/>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IN" dirty="0"/>
              <a:t>Scope and Motivation</a:t>
            </a:r>
          </a:p>
        </p:txBody>
      </p:sp>
      <mc:AlternateContent xmlns:mc="http://schemas.openxmlformats.org/markup-compatibility/2006" xmlns:a14="http://schemas.microsoft.com/office/drawing/2010/main">
        <mc:Choice Requires="a14">
          <p:sp>
            <p:nvSpPr>
              <p:cNvPr id="113" name="Google Shape;113;p4"/>
              <p:cNvSpPr txBox="1">
                <a:spLocks noGrp="1"/>
              </p:cNvSpPr>
              <p:nvPr>
                <p:ph type="body" idx="1"/>
              </p:nvPr>
            </p:nvSpPr>
            <p:spPr>
              <a:xfrm>
                <a:off x="457200" y="1226576"/>
                <a:ext cx="8229600" cy="4525963"/>
              </a:xfrm>
              <a:noFill/>
              <a:ln>
                <a:noFill/>
              </a:ln>
            </p:spPr>
            <p:txBody>
              <a:bodyPr spcFirstLastPara="1" wrap="square" lIns="91425" tIns="45700" rIns="91425" bIns="45700" anchor="t" anchorCtr="0">
                <a:noAutofit/>
              </a:bodyPr>
              <a:lstStyle/>
              <a:p>
                <a:pPr marL="114300" indent="0">
                  <a:buNone/>
                </a:pPr>
                <a:r>
                  <a:rPr lang="en-IN" dirty="0"/>
                  <a:t>Motivation</a:t>
                </a:r>
              </a:p>
              <a:p>
                <a:pPr lvl="0"/>
                <a:r>
                  <a:rPr lang="en-IN" dirty="0"/>
                  <a:t>Ecological &amp; Economic Hazard: Hypoxic river conditions (</a:t>
                </a:r>
                <a14:m>
                  <m:oMath xmlns:m="http://schemas.openxmlformats.org/officeDocument/2006/math">
                    <m:r>
                      <m:rPr>
                        <m:nor/>
                      </m:rPr>
                      <a:rPr lang="en-IN" i="0"/>
                      <m:t>DO</m:t>
                    </m:r>
                    <m:r>
                      <a:rPr lang="en-IN">
                        <a:latin typeface="Cambria Math" panose="02040503050406030204" pitchFamily="18" charset="0"/>
                      </a:rPr>
                      <m:t>&lt;5</m:t>
                    </m:r>
                    <m:r>
                      <m:rPr>
                        <m:nor/>
                      </m:rPr>
                      <a:rPr lang="en-IN" i="0"/>
                      <m:t> mg/L</m:t>
                    </m:r>
                  </m:oMath>
                </a14:m>
                <a:r>
                  <a:rPr lang="en-IN" dirty="0"/>
                  <a:t>) lead to catastrophic fish kills, biodiversity loss, and hazardous municipal drinking-water contamination.</a:t>
                </a:r>
              </a:p>
              <a:p>
                <a:pPr lvl="0"/>
                <a:r>
                  <a:rPr lang="en-IN" dirty="0"/>
                  <a:t>The "Reactive Monitoring" Trap: Existing telemetry triggers alerts only when the river is already depleted, leaving zero lead time for water basin authorities to deploy remedial actions (e.g., artificial aeration, sluice gate flow regulation, agricultural runoff throttling).</a:t>
                </a:r>
              </a:p>
              <a:p>
                <a:pPr lvl="0"/>
                <a:r>
                  <a:rPr lang="en-IN" dirty="0"/>
                  <a:t>Research Void: Most existing studies focus on raw continuous numerical regression (</a:t>
                </a:r>
                <a14:m>
                  <m:oMath xmlns:m="http://schemas.openxmlformats.org/officeDocument/2006/math">
                    <m:sSup>
                      <m:sSupPr>
                        <m:ctrlPr>
                          <a:rPr lang="en-IN">
                            <a:latin typeface="Cambria Math" panose="02040503050406030204" pitchFamily="18" charset="0"/>
                          </a:rPr>
                        </m:ctrlPr>
                      </m:sSupPr>
                      <m:e>
                        <m:r>
                          <a:rPr lang="en-IN">
                            <a:latin typeface="Cambria Math" panose="02040503050406030204" pitchFamily="18" charset="0"/>
                          </a:rPr>
                          <m:t>𝑅</m:t>
                        </m:r>
                      </m:e>
                      <m:sup>
                        <m:r>
                          <a:rPr lang="en-IN">
                            <a:latin typeface="Cambria Math" panose="02040503050406030204" pitchFamily="18" charset="0"/>
                          </a:rPr>
                          <m:t>2</m:t>
                        </m:r>
                      </m:sup>
                    </m:sSup>
                  </m:oMath>
                </a14:m>
                <a:r>
                  <a:rPr lang="en-IN" dirty="0"/>
                  <a:t>, RMSE) rather than discrete operational warning lead times, often suffering from temporal leakage.</a:t>
                </a:r>
              </a:p>
              <a:p>
                <a:pPr marL="114300" indent="0">
                  <a:buNone/>
                </a:pPr>
                <a:r>
                  <a:rPr lang="en-IN" dirty="0"/>
                  <a:t>Project Scope</a:t>
                </a:r>
              </a:p>
              <a:p>
                <a:pPr lvl="0"/>
                <a:r>
                  <a:rPr lang="en-IN" dirty="0"/>
                  <a:t>Geographical &amp; Temporal Coverage: 15 hypoxia-prone river monitoring stations across diverse US basins; hourly resolution spanning January 2023 to September 2025 (337,248 total rows).</a:t>
                </a:r>
              </a:p>
              <a:p>
                <a:pPr lvl="0"/>
                <a:r>
                  <a:rPr lang="en-IN" dirty="0"/>
                  <a:t>Deterioration Criterion: Standard aquatic-life regulatory threshold (</a:t>
                </a:r>
                <a14:m>
                  <m:oMath xmlns:m="http://schemas.openxmlformats.org/officeDocument/2006/math">
                    <m:r>
                      <m:rPr>
                        <m:nor/>
                      </m:rPr>
                      <a:rPr lang="en-IN" i="0"/>
                      <m:t>DO</m:t>
                    </m:r>
                    <m:r>
                      <a:rPr lang="en-IN">
                        <a:latin typeface="Cambria Math" panose="02040503050406030204" pitchFamily="18" charset="0"/>
                      </a:rPr>
                      <m:t>&lt;5.0</m:t>
                    </m:r>
                    <m:r>
                      <m:rPr>
                        <m:nor/>
                      </m:rPr>
                      <a:rPr lang="en-IN" i="0"/>
                      <m:t> mg/L</m:t>
                    </m:r>
                  </m:oMath>
                </a14:m>
                <a:r>
                  <a:rPr lang="en-IN" dirty="0"/>
                  <a:t>) requiring a 24-hour healthy precondition (</a:t>
                </a:r>
                <a14:m>
                  <m:oMath xmlns:m="http://schemas.openxmlformats.org/officeDocument/2006/math">
                    <m:r>
                      <m:rPr>
                        <m:nor/>
                      </m:rPr>
                      <a:rPr lang="en-IN" i="0"/>
                      <m:t>DO</m:t>
                    </m:r>
                    <m:r>
                      <a:rPr lang="en-IN">
                        <a:latin typeface="Cambria Math" panose="02040503050406030204" pitchFamily="18" charset="0"/>
                      </a:rPr>
                      <m:t>≥5.0</m:t>
                    </m:r>
                    <m:r>
                      <m:rPr>
                        <m:nor/>
                      </m:rPr>
                      <a:rPr lang="en-IN" i="0"/>
                      <m:t> mg/L</m:t>
                    </m:r>
                  </m:oMath>
                </a14:m>
                <a:r>
                  <a:rPr lang="en-IN" dirty="0"/>
                  <a:t>).</a:t>
                </a:r>
              </a:p>
              <a:p>
                <a:pPr lvl="0"/>
                <a:r>
                  <a:rPr lang="en-IN" dirty="0"/>
                  <a:t>Horizons &amp; Modalities: </a:t>
                </a:r>
                <a14:m>
                  <m:oMath xmlns:m="http://schemas.openxmlformats.org/officeDocument/2006/math">
                    <m:r>
                      <a:rPr lang="en-IN">
                        <a:latin typeface="Cambria Math" panose="02040503050406030204" pitchFamily="18" charset="0"/>
                      </a:rPr>
                      <m:t>𝐻</m:t>
                    </m:r>
                    <m:r>
                      <a:rPr lang="en-IN">
                        <a:latin typeface="Cambria Math" panose="02040503050406030204" pitchFamily="18" charset="0"/>
                      </a:rPr>
                      <m:t>∈</m:t>
                    </m:r>
                    <m:d>
                      <m:dPr>
                        <m:begChr m:val="{"/>
                        <m:endChr m:val="}"/>
                        <m:sepChr m:val=","/>
                        <m:ctrlPr>
                          <a:rPr lang="en-IN">
                            <a:latin typeface="Cambria Math" panose="02040503050406030204" pitchFamily="18" charset="0"/>
                          </a:rPr>
                        </m:ctrlPr>
                      </m:dPr>
                      <m:e>
                        <m:r>
                          <a:rPr lang="en-IN">
                            <a:latin typeface="Cambria Math" panose="02040503050406030204" pitchFamily="18" charset="0"/>
                          </a:rPr>
                          <m:t>6</m:t>
                        </m:r>
                      </m:e>
                      <m:e>
                        <m:r>
                          <a:rPr lang="en-IN">
                            <a:latin typeface="Cambria Math" panose="02040503050406030204" pitchFamily="18" charset="0"/>
                          </a:rPr>
                          <m:t>12</m:t>
                        </m:r>
                      </m:e>
                      <m:e>
                        <m:r>
                          <a:rPr lang="en-IN">
                            <a:latin typeface="Cambria Math" panose="02040503050406030204" pitchFamily="18" charset="0"/>
                          </a:rPr>
                          <m:t>24</m:t>
                        </m:r>
                      </m:e>
                      <m:e>
                        <m:r>
                          <a:rPr lang="en-IN">
                            <a:latin typeface="Cambria Math" panose="02040503050406030204" pitchFamily="18" charset="0"/>
                          </a:rPr>
                          <m:t>48</m:t>
                        </m:r>
                      </m:e>
                    </m:d>
                    <m:r>
                      <m:rPr>
                        <m:nor/>
                      </m:rPr>
                      <a:rPr lang="en-IN" i="0"/>
                      <m:t> hours</m:t>
                    </m:r>
                  </m:oMath>
                </a14:m>
                <a:r>
                  <a:rPr lang="en-IN" dirty="0"/>
                  <a:t>; in-situ hydrological parameters, meteorological forcing, atmospheric pollutants.</a:t>
                </a:r>
              </a:p>
              <a:p>
                <a:pPr lvl="0"/>
                <a:r>
                  <a:rPr lang="en-IN" dirty="0"/>
                  <a:t>System Deliverable: Calibrated risk probabilities, anticipation lead time (hours), local SHAP explanations, and a real-time </a:t>
                </a:r>
                <a:r>
                  <a:rPr lang="en-IN" dirty="0" err="1"/>
                  <a:t>Streamlit</a:t>
                </a:r>
                <a:r>
                  <a:rPr lang="en-IN" dirty="0"/>
                  <a:t> dashboard.</a:t>
                </a:r>
              </a:p>
            </p:txBody>
          </p:sp>
        </mc:Choice>
        <mc:Fallback xmlns="">
          <p:sp>
            <p:nvSpPr>
              <p:cNvPr id="113" name="Google Shape;113;p4"/>
              <p:cNvSpPr txBox="1">
                <a:spLocks noGrp="1" noRot="1" noChangeAspect="1" noMove="1" noResize="1" noEditPoints="1" noAdjustHandles="1" noChangeArrowheads="1" noChangeShapeType="1" noTextEdit="1"/>
              </p:cNvSpPr>
              <p:nvPr>
                <p:ph type="body" idx="1"/>
              </p:nvPr>
            </p:nvSpPr>
            <p:spPr>
              <a:xfrm>
                <a:off x="457200" y="1226576"/>
                <a:ext cx="8229600" cy="4525963"/>
              </a:xfrm>
              <a:blipFill>
                <a:blip r:embed="rId3"/>
                <a:stretch>
                  <a:fillRect r="-370" b="-16151"/>
                </a:stretch>
              </a:blipFill>
              <a:ln>
                <a:noFill/>
              </a:ln>
            </p:spPr>
            <p:txBody>
              <a:bodyPr/>
              <a:lstStyle/>
              <a:p>
                <a:r>
                  <a:rPr lang="en-IN">
                    <a:noFill/>
                  </a:rPr>
                  <a:t> </a:t>
                </a:r>
              </a:p>
            </p:txBody>
          </p:sp>
        </mc:Fallback>
      </mc:AlternateContent>
      <p:sp>
        <p:nvSpPr>
          <p:cNvPr id="114" name="Google Shape;114;p4"/>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IN"/>
              <a:t>Introduction</a:t>
            </a:r>
          </a:p>
        </p:txBody>
      </p:sp>
      <mc:AlternateContent xmlns:mc="http://schemas.openxmlformats.org/markup-compatibility/2006" xmlns:a14="http://schemas.microsoft.com/office/drawing/2010/main">
        <mc:Choice Requires="a14">
          <p:sp>
            <p:nvSpPr>
              <p:cNvPr id="120" name="Google Shape;120;p5"/>
              <p:cNvSpPr txBox="1">
                <a:spLocks noGrp="1"/>
              </p:cNvSpPr>
              <p:nvPr>
                <p:ph type="body" idx="1"/>
              </p:nvPr>
            </p:nvSpPr>
            <p:spPr>
              <a:xfrm>
                <a:off x="457200" y="1600200"/>
                <a:ext cx="8229600" cy="4525963"/>
              </a:xfrm>
              <a:noFill/>
              <a:ln>
                <a:noFill/>
              </a:ln>
            </p:spPr>
            <p:txBody>
              <a:bodyPr spcFirstLastPara="1" wrap="square" lIns="91425" tIns="45700" rIns="91425" bIns="45700" anchor="t" anchorCtr="0">
                <a:normAutofit/>
              </a:bodyPr>
              <a:lstStyle/>
              <a:p>
                <a:pPr lvl="0"/>
                <a:r>
                  <a:rPr lang="en-IN" dirty="0"/>
                  <a:t>Dissolved Oxygen Dynamics: Highly non-linear aquatic biogeochemical parameter governed by water temperature, photosynthetic-respiration diurnal cycles, atmospheric reaeration, and biochemical oxygen demand (BOD).</a:t>
                </a:r>
              </a:p>
              <a:p>
                <a:pPr lvl="0"/>
                <a:r>
                  <a:rPr lang="en-IN" dirty="0"/>
                  <a:t>Early Warning Paradigm: Redefines the forecasting problem from scalar regression to Event-Onset Binary Classification (</a:t>
                </a:r>
                <a14:m>
                  <m:oMath xmlns:m="http://schemas.openxmlformats.org/officeDocument/2006/math">
                    <m:sSub>
                      <m:sSubPr>
                        <m:ctrlPr>
                          <a:rPr lang="en-IN">
                            <a:latin typeface="Cambria Math" panose="02040503050406030204" pitchFamily="18" charset="0"/>
                          </a:rPr>
                        </m:ctrlPr>
                      </m:sSubPr>
                      <m:e>
                        <m:r>
                          <a:rPr lang="en-IN">
                            <a:latin typeface="Cambria Math" panose="02040503050406030204" pitchFamily="18" charset="0"/>
                          </a:rPr>
                          <m:t>𝑦</m:t>
                        </m:r>
                      </m:e>
                      <m:sub>
                        <m:r>
                          <a:rPr lang="en-IN">
                            <a:latin typeface="Cambria Math" panose="02040503050406030204" pitchFamily="18" charset="0"/>
                          </a:rPr>
                          <m:t>𝑡</m:t>
                        </m:r>
                      </m:sub>
                    </m:sSub>
                    <m:r>
                      <a:rPr lang="en-IN">
                        <a:latin typeface="Cambria Math" panose="02040503050406030204" pitchFamily="18" charset="0"/>
                      </a:rPr>
                      <m:t>∈</m:t>
                    </m:r>
                    <m:d>
                      <m:dPr>
                        <m:begChr m:val="{"/>
                        <m:endChr m:val="}"/>
                        <m:sepChr m:val=","/>
                        <m:ctrlPr>
                          <a:rPr lang="en-IN">
                            <a:latin typeface="Cambria Math" panose="02040503050406030204" pitchFamily="18" charset="0"/>
                          </a:rPr>
                        </m:ctrlPr>
                      </m:dPr>
                      <m:e>
                        <m:r>
                          <a:rPr lang="en-IN">
                            <a:latin typeface="Cambria Math" panose="02040503050406030204" pitchFamily="18" charset="0"/>
                          </a:rPr>
                          <m:t>0</m:t>
                        </m:r>
                      </m:e>
                      <m:e>
                        <m:r>
                          <a:rPr lang="en-IN">
                            <a:latin typeface="Cambria Math" panose="02040503050406030204" pitchFamily="18" charset="0"/>
                          </a:rPr>
                          <m:t>1</m:t>
                        </m:r>
                      </m:e>
                    </m:d>
                  </m:oMath>
                </a14:m>
                <a:r>
                  <a:rPr lang="en-IN" dirty="0"/>
                  <a:t>), identifying whether compliant water will cross into hypoxia within </a:t>
                </a:r>
                <a14:m>
                  <m:oMath xmlns:m="http://schemas.openxmlformats.org/officeDocument/2006/math">
                    <m:r>
                      <a:rPr lang="en-IN">
                        <a:latin typeface="Cambria Math" panose="02040503050406030204" pitchFamily="18" charset="0"/>
                      </a:rPr>
                      <m:t>𝐻</m:t>
                    </m:r>
                  </m:oMath>
                </a14:m>
                <a:r>
                  <a:rPr lang="en-IN" dirty="0"/>
                  <a:t>hours.</a:t>
                </a:r>
              </a:p>
              <a:p>
                <a:pPr lvl="0"/>
                <a:r>
                  <a:rPr lang="en-IN" dirty="0"/>
                  <a:t>Class Imbalance Challenge: Onset events represent extreme anomalies in natural river systems, with positive classes occurring in only 1.14% (6 h) to 7.54% (48 h) of eligible operational observations.</a:t>
                </a:r>
              </a:p>
              <a:p>
                <a:pPr lvl="0"/>
                <a:r>
                  <a:rPr lang="en-IN" dirty="0"/>
                  <a:t>Multimodal Fusion Architectures: </a:t>
                </a:r>
              </a:p>
              <a:p>
                <a:pPr lvl="1"/>
                <a:r>
                  <a:rPr lang="en-IN" sz="1600" dirty="0"/>
                  <a:t>Early Fusion: Concatenating hydrological, weather, and air quality features directly into a single cost-sensitive gradient boosted tree (</a:t>
                </a:r>
                <a:r>
                  <a:rPr lang="en-IN" sz="1600" dirty="0" err="1"/>
                  <a:t>LightGBM</a:t>
                </a:r>
                <a:r>
                  <a:rPr lang="en-IN" sz="1600" dirty="0"/>
                  <a:t>).</a:t>
                </a:r>
              </a:p>
              <a:p>
                <a:pPr lvl="1"/>
                <a:r>
                  <a:rPr lang="en-IN" sz="1600" dirty="0"/>
                  <a:t>Late Fusion: Training specialized modality-specific models and stacking their out-of-fold probabilistic outputs using a meta-classifier.</a:t>
                </a:r>
              </a:p>
              <a:p>
                <a:pPr lvl="0"/>
                <a:r>
                  <a:rPr lang="en-IN" dirty="0"/>
                  <a:t>Explainable AI (XAI): Utilizing </a:t>
                </a:r>
                <a:r>
                  <a:rPr lang="en-IN" dirty="0" err="1"/>
                  <a:t>TreeSHAP</a:t>
                </a:r>
                <a:r>
                  <a:rPr lang="en-IN" dirty="0"/>
                  <a:t> to attribute every issued alert to real-time physical drivers, providing actionable transparency to environmental engineers.</a:t>
                </a:r>
              </a:p>
            </p:txBody>
          </p:sp>
        </mc:Choice>
        <mc:Fallback xmlns="">
          <p:sp>
            <p:nvSpPr>
              <p:cNvPr id="120" name="Google Shape;120;p5"/>
              <p:cNvSpPr txBox="1">
                <a:spLocks noGrp="1" noRot="1" noChangeAspect="1" noMove="1" noResize="1" noEditPoints="1" noAdjustHandles="1" noChangeArrowheads="1" noChangeShapeType="1" noTextEdit="1"/>
              </p:cNvSpPr>
              <p:nvPr>
                <p:ph type="body" idx="1"/>
              </p:nvPr>
            </p:nvSpPr>
            <p:spPr>
              <a:xfrm>
                <a:off x="457200" y="1600200"/>
                <a:ext cx="8229600" cy="4525963"/>
              </a:xfrm>
              <a:blipFill>
                <a:blip r:embed="rId3"/>
                <a:stretch>
                  <a:fillRect r="-370"/>
                </a:stretch>
              </a:blipFill>
              <a:ln>
                <a:noFill/>
              </a:ln>
            </p:spPr>
            <p:txBody>
              <a:bodyPr/>
              <a:lstStyle/>
              <a:p>
                <a:r>
                  <a:rPr lang="en-IN">
                    <a:noFill/>
                  </a:rPr>
                  <a:t> </a:t>
                </a:r>
              </a:p>
            </p:txBody>
          </p:sp>
        </mc:Fallback>
      </mc:AlternateContent>
      <p:sp>
        <p:nvSpPr>
          <p:cNvPr id="121" name="Google Shape;121;p5"/>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Google Shape;126;p6">
            <a:extLst>
              <a:ext uri="{FF2B5EF4-FFF2-40B4-BE49-F238E27FC236}">
                <a16:creationId xmlns:a16="http://schemas.microsoft.com/office/drawing/2014/main" id="{8CA4F7BA-9EDE-5C4D-C424-F6BA532C47D4}"/>
              </a:ext>
            </a:extLst>
          </p:cNvPr>
          <p:cNvSpPr txBox="1">
            <a:spLocks/>
          </p:cNvSpPr>
          <p:nvPr/>
        </p:nvSpPr>
        <p:spPr>
          <a:xfrm>
            <a:off x="457200" y="101590"/>
            <a:ext cx="8229600" cy="1143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sz="4000" b="1" dirty="0"/>
              <a:t>Literature Survey</a:t>
            </a:r>
          </a:p>
        </p:txBody>
      </p:sp>
      <mc:AlternateContent xmlns:mc="http://schemas.openxmlformats.org/markup-compatibility/2006" xmlns:a14="http://schemas.microsoft.com/office/drawing/2010/main">
        <mc:Choice Requires="a14">
          <p:graphicFrame>
            <p:nvGraphicFramePr>
              <p:cNvPr id="58" name="Table 57">
                <a:extLst>
                  <a:ext uri="{FF2B5EF4-FFF2-40B4-BE49-F238E27FC236}">
                    <a16:creationId xmlns:a16="http://schemas.microsoft.com/office/drawing/2014/main" id="{87745E7E-4E9A-C7E7-47C2-755C698AB75C}"/>
                  </a:ext>
                </a:extLst>
              </p:cNvPr>
              <p:cNvGraphicFramePr>
                <a:graphicFrameLocks noGrp="1"/>
              </p:cNvGraphicFramePr>
              <p:nvPr>
                <p:extLst>
                  <p:ext uri="{D42A27DB-BD31-4B8C-83A1-F6EECF244321}">
                    <p14:modId xmlns:p14="http://schemas.microsoft.com/office/powerpoint/2010/main" val="1640030475"/>
                  </p:ext>
                </p:extLst>
              </p:nvPr>
            </p:nvGraphicFramePr>
            <p:xfrm>
              <a:off x="457200" y="1113023"/>
              <a:ext cx="8229600" cy="5005182"/>
            </p:xfrm>
            <a:graphic>
              <a:graphicData uri="http://schemas.openxmlformats.org/drawingml/2006/table">
                <a:tbl>
                  <a:tblPr>
                    <a:tableStyleId>{F9BC6C1E-BED5-463D-9D9D-55BB47110D15}</a:tableStyleId>
                  </a:tblPr>
                  <a:tblGrid>
                    <a:gridCol w="575187">
                      <a:extLst>
                        <a:ext uri="{9D8B030D-6E8A-4147-A177-3AD203B41FA5}">
                          <a16:colId xmlns:a16="http://schemas.microsoft.com/office/drawing/2014/main" val="107953346"/>
                        </a:ext>
                      </a:extLst>
                    </a:gridCol>
                    <a:gridCol w="1573161">
                      <a:extLst>
                        <a:ext uri="{9D8B030D-6E8A-4147-A177-3AD203B41FA5}">
                          <a16:colId xmlns:a16="http://schemas.microsoft.com/office/drawing/2014/main" val="2534062063"/>
                        </a:ext>
                      </a:extLst>
                    </a:gridCol>
                    <a:gridCol w="1170039">
                      <a:extLst>
                        <a:ext uri="{9D8B030D-6E8A-4147-A177-3AD203B41FA5}">
                          <a16:colId xmlns:a16="http://schemas.microsoft.com/office/drawing/2014/main" val="4093307656"/>
                        </a:ext>
                      </a:extLst>
                    </a:gridCol>
                    <a:gridCol w="1435510">
                      <a:extLst>
                        <a:ext uri="{9D8B030D-6E8A-4147-A177-3AD203B41FA5}">
                          <a16:colId xmlns:a16="http://schemas.microsoft.com/office/drawing/2014/main" val="2236274115"/>
                        </a:ext>
                      </a:extLst>
                    </a:gridCol>
                    <a:gridCol w="1337187">
                      <a:extLst>
                        <a:ext uri="{9D8B030D-6E8A-4147-A177-3AD203B41FA5}">
                          <a16:colId xmlns:a16="http://schemas.microsoft.com/office/drawing/2014/main" val="3763090542"/>
                        </a:ext>
                      </a:extLst>
                    </a:gridCol>
                    <a:gridCol w="2138516">
                      <a:extLst>
                        <a:ext uri="{9D8B030D-6E8A-4147-A177-3AD203B41FA5}">
                          <a16:colId xmlns:a16="http://schemas.microsoft.com/office/drawing/2014/main" val="490375886"/>
                        </a:ext>
                      </a:extLst>
                    </a:gridCol>
                  </a:tblGrid>
                  <a:tr h="159427">
                    <a:tc>
                      <a:txBody>
                        <a:bodyPr/>
                        <a:lstStyle/>
                        <a:p>
                          <a:pPr algn="ctr">
                            <a:buNone/>
                          </a:pPr>
                          <a:r>
                            <a:rPr lang="en-IN" sz="900"/>
                            <a:t>#</a:t>
                          </a:r>
                        </a:p>
                      </a:txBody>
                      <a:tcPr marL="23451" marR="23451" marT="11725" marB="11725" anchor="ctr"/>
                    </a:tc>
                    <a:tc>
                      <a:txBody>
                        <a:bodyPr/>
                        <a:lstStyle/>
                        <a:p>
                          <a:pPr algn="ctr">
                            <a:buNone/>
                          </a:pPr>
                          <a:r>
                            <a:rPr lang="en-IN" sz="900"/>
                            <a:t>Paper / Author</a:t>
                          </a:r>
                        </a:p>
                      </a:txBody>
                      <a:tcPr marL="23451" marR="23451" marT="11725" marB="11725" anchor="ctr"/>
                    </a:tc>
                    <a:tc>
                      <a:txBody>
                        <a:bodyPr/>
                        <a:lstStyle/>
                        <a:p>
                          <a:pPr algn="ctr">
                            <a:buNone/>
                          </a:pPr>
                          <a:r>
                            <a:rPr lang="en-IN" sz="900"/>
                            <a:t>Year</a:t>
                          </a:r>
                        </a:p>
                      </a:txBody>
                      <a:tcPr marL="23451" marR="23451" marT="11725" marB="11725" anchor="ctr"/>
                    </a:tc>
                    <a:tc>
                      <a:txBody>
                        <a:bodyPr/>
                        <a:lstStyle/>
                        <a:p>
                          <a:pPr algn="ctr">
                            <a:buNone/>
                          </a:pPr>
                          <a:r>
                            <a:rPr lang="en-IN" sz="900"/>
                            <a:t>Methodology</a:t>
                          </a:r>
                        </a:p>
                      </a:txBody>
                      <a:tcPr marL="23451" marR="23451" marT="11725" marB="11725" anchor="ctr"/>
                    </a:tc>
                    <a:tc>
                      <a:txBody>
                        <a:bodyPr/>
                        <a:lstStyle/>
                        <a:p>
                          <a:pPr algn="ctr">
                            <a:buNone/>
                          </a:pPr>
                          <a:r>
                            <a:rPr lang="en-IN" sz="900"/>
                            <a:t>Evaluation Metrics</a:t>
                          </a:r>
                        </a:p>
                      </a:txBody>
                      <a:tcPr marL="23451" marR="23451" marT="11725" marB="11725" anchor="ctr"/>
                    </a:tc>
                    <a:tc>
                      <a:txBody>
                        <a:bodyPr/>
                        <a:lstStyle/>
                        <a:p>
                          <a:pPr algn="ctr">
                            <a:buNone/>
                          </a:pPr>
                          <a:r>
                            <a:rPr lang="en-IN" sz="900"/>
                            <a:t>Key Remarks &amp; Limitations</a:t>
                          </a:r>
                        </a:p>
                      </a:txBody>
                      <a:tcPr marL="23451" marR="23451" marT="11725" marB="11725" anchor="ctr"/>
                    </a:tc>
                    <a:extLst>
                      <a:ext uri="{0D108BD9-81ED-4DB2-BD59-A6C34878D82A}">
                        <a16:rowId xmlns:a16="http://schemas.microsoft.com/office/drawing/2014/main" val="262113860"/>
                      </a:ext>
                    </a:extLst>
                  </a:tr>
                  <a:tr h="496358">
                    <a:tc>
                      <a:txBody>
                        <a:bodyPr/>
                        <a:lstStyle/>
                        <a:p>
                          <a:pPr algn="ctr">
                            <a:buNone/>
                          </a:pPr>
                          <a:r>
                            <a:rPr lang="en-IN" sz="900" dirty="0"/>
                            <a:t>1</a:t>
                          </a:r>
                        </a:p>
                      </a:txBody>
                      <a:tcPr marL="23451" marR="23451" marT="11725" marB="11725" anchor="ctr"/>
                    </a:tc>
                    <a:tc>
                      <a:txBody>
                        <a:bodyPr/>
                        <a:lstStyle/>
                        <a:p>
                          <a:pPr algn="ctr">
                            <a:buNone/>
                          </a:pPr>
                          <a:r>
                            <a:rPr lang="en-IN" sz="900"/>
                            <a:t>Moon et al. (Water)</a:t>
                          </a:r>
                        </a:p>
                      </a:txBody>
                      <a:tcPr marL="23451" marR="23451" marT="11725" marB="11725" anchor="ctr"/>
                    </a:tc>
                    <a:tc>
                      <a:txBody>
                        <a:bodyPr/>
                        <a:lstStyle/>
                        <a:p>
                          <a:pPr algn="ctr">
                            <a:buNone/>
                          </a:pPr>
                          <a:r>
                            <a:rPr lang="en-IN" sz="900"/>
                            <a:t>2022</a:t>
                          </a:r>
                        </a:p>
                      </a:txBody>
                      <a:tcPr marL="23451" marR="23451" marT="11725" marB="11725" anchor="ctr"/>
                    </a:tc>
                    <a:tc>
                      <a:txBody>
                        <a:bodyPr/>
                        <a:lstStyle/>
                        <a:p>
                          <a:pPr algn="ctr">
                            <a:buNone/>
                          </a:pPr>
                          <a:r>
                            <a:rPr lang="en-IN" sz="900"/>
                            <a:t>RF, Gradient Boosting, AdaBoost regressors</a:t>
                          </a:r>
                        </a:p>
                      </a:txBody>
                      <a:tcPr marL="23451" marR="23451" marT="11725" marB="11725" anchor="ctr"/>
                    </a:tc>
                    <a:tc>
                      <a:txBody>
                        <a:bodyPr/>
                        <a:lstStyle/>
                        <a:p>
                          <a:pPr algn="ctr">
                            <a:buNone/>
                          </a:pPr>
                          <a14:m>
                            <m:oMath xmlns:m="http://schemas.openxmlformats.org/officeDocument/2006/math">
                              <m:sSup>
                                <m:sSupPr>
                                  <m:ctrlPr>
                                    <a:rPr lang="en-IN" sz="900">
                                      <a:latin typeface="Cambria Math" panose="02040503050406030204" pitchFamily="18" charset="0"/>
                                    </a:rPr>
                                  </m:ctrlPr>
                                </m:sSupPr>
                                <m:e>
                                  <m:r>
                                    <a:rPr lang="en-IN" sz="900">
                                      <a:latin typeface="Cambria Math" panose="02040503050406030204" pitchFamily="18" charset="0"/>
                                    </a:rPr>
                                    <m:t>𝑅</m:t>
                                  </m:r>
                                </m:e>
                                <m:sup>
                                  <m:r>
                                    <a:rPr lang="en-IN" sz="900">
                                      <a:latin typeface="Cambria Math" panose="02040503050406030204" pitchFamily="18" charset="0"/>
                                    </a:rPr>
                                    <m:t>2</m:t>
                                  </m:r>
                                </m:sup>
                              </m:sSup>
                            </m:oMath>
                          </a14:m>
                          <a:r>
                            <a:rPr lang="en-IN" sz="900"/>
                            <a:t>, RMSE, MAE, CV(RMSE)</a:t>
                          </a:r>
                        </a:p>
                      </a:txBody>
                      <a:tcPr marL="23451" marR="23451" marT="11725" marB="11725" anchor="ctr"/>
                    </a:tc>
                    <a:tc>
                      <a:txBody>
                        <a:bodyPr/>
                        <a:lstStyle/>
                        <a:p>
                          <a:pPr algn="ctr">
                            <a:buNone/>
                          </a:pPr>
                          <a:r>
                            <a:rPr lang="en-IN" sz="900"/>
                            <a:t>AdaBoost best (</a:t>
                          </a:r>
                          <a14:m>
                            <m:oMath xmlns:m="http://schemas.openxmlformats.org/officeDocument/2006/math">
                              <m:sSup>
                                <m:sSupPr>
                                  <m:ctrlPr>
                                    <a:rPr lang="en-IN" sz="900">
                                      <a:latin typeface="Cambria Math" panose="02040503050406030204" pitchFamily="18" charset="0"/>
                                    </a:rPr>
                                  </m:ctrlPr>
                                </m:sSupPr>
                                <m:e>
                                  <m:r>
                                    <a:rPr lang="en-IN" sz="900">
                                      <a:latin typeface="Cambria Math" panose="02040503050406030204" pitchFamily="18" charset="0"/>
                                    </a:rPr>
                                    <m:t>𝑅</m:t>
                                  </m:r>
                                </m:e>
                                <m:sup>
                                  <m:r>
                                    <a:rPr lang="en-IN" sz="900">
                                      <a:latin typeface="Cambria Math" panose="02040503050406030204" pitchFamily="18" charset="0"/>
                                    </a:rPr>
                                    <m:t>2</m:t>
                                  </m:r>
                                </m:sup>
                              </m:sSup>
                              <m:r>
                                <a:rPr lang="en-IN" sz="900">
                                  <a:latin typeface="Cambria Math" panose="02040503050406030204" pitchFamily="18" charset="0"/>
                                </a:rPr>
                                <m:t>=0.912</m:t>
                              </m:r>
                            </m:oMath>
                          </a14:m>
                          <a:r>
                            <a:rPr lang="en-IN" sz="900"/>
                            <a:t>); static estimation with no future forecast horizon.</a:t>
                          </a:r>
                        </a:p>
                      </a:txBody>
                      <a:tcPr marL="23451" marR="23451" marT="11725" marB="11725" anchor="ctr"/>
                    </a:tc>
                    <a:extLst>
                      <a:ext uri="{0D108BD9-81ED-4DB2-BD59-A6C34878D82A}">
                        <a16:rowId xmlns:a16="http://schemas.microsoft.com/office/drawing/2014/main" val="2462021982"/>
                      </a:ext>
                    </a:extLst>
                  </a:tr>
                  <a:tr h="496358">
                    <a:tc>
                      <a:txBody>
                        <a:bodyPr/>
                        <a:lstStyle/>
                        <a:p>
                          <a:pPr algn="ctr">
                            <a:buNone/>
                          </a:pPr>
                          <a:r>
                            <a:rPr lang="en-IN" sz="900" dirty="0"/>
                            <a:t>2</a:t>
                          </a:r>
                        </a:p>
                      </a:txBody>
                      <a:tcPr marL="23451" marR="23451" marT="11725" marB="11725" anchor="ctr"/>
                    </a:tc>
                    <a:tc>
                      <a:txBody>
                        <a:bodyPr/>
                        <a:lstStyle/>
                        <a:p>
                          <a:pPr algn="ctr">
                            <a:buNone/>
                          </a:pPr>
                          <a:r>
                            <a:rPr lang="en-IN" sz="900" dirty="0"/>
                            <a:t>Rocha et al. (Environments)</a:t>
                          </a:r>
                        </a:p>
                      </a:txBody>
                      <a:tcPr marL="23451" marR="23451" marT="11725" marB="11725" anchor="ctr"/>
                    </a:tc>
                    <a:tc>
                      <a:txBody>
                        <a:bodyPr/>
                        <a:lstStyle/>
                        <a:p>
                          <a:pPr algn="ctr">
                            <a:buNone/>
                          </a:pPr>
                          <a:r>
                            <a:rPr lang="en-IN" sz="900"/>
                            <a:t>2023</a:t>
                          </a:r>
                        </a:p>
                      </a:txBody>
                      <a:tcPr marL="23451" marR="23451" marT="11725" marB="11725" anchor="ctr"/>
                    </a:tc>
                    <a:tc>
                      <a:txBody>
                        <a:bodyPr/>
                        <a:lstStyle/>
                        <a:p>
                          <a:pPr algn="ctr">
                            <a:buNone/>
                          </a:pPr>
                          <a:r>
                            <a:rPr lang="en-IN" sz="900"/>
                            <a:t>GNN-SAGE &amp; Transformer vs. XGBoost; SHAP</a:t>
                          </a:r>
                        </a:p>
                      </a:txBody>
                      <a:tcPr marL="23451" marR="23451" marT="11725" marB="11725" anchor="ctr"/>
                    </a:tc>
                    <a:tc>
                      <a:txBody>
                        <a:bodyPr/>
                        <a:lstStyle/>
                        <a:p>
                          <a:pPr algn="ctr">
                            <a:buNone/>
                          </a:pPr>
                          <a:r>
                            <a:rPr lang="en-IN" sz="900"/>
                            <a:t>RMSE, MAE, MAPE, </a:t>
                          </a:r>
                          <a14:m>
                            <m:oMath xmlns:m="http://schemas.openxmlformats.org/officeDocument/2006/math">
                              <m:sSup>
                                <m:sSupPr>
                                  <m:ctrlPr>
                                    <a:rPr lang="en-IN" sz="900">
                                      <a:latin typeface="Cambria Math" panose="02040503050406030204" pitchFamily="18" charset="0"/>
                                    </a:rPr>
                                  </m:ctrlPr>
                                </m:sSupPr>
                                <m:e>
                                  <m:r>
                                    <a:rPr lang="en-IN" sz="900">
                                      <a:latin typeface="Cambria Math" panose="02040503050406030204" pitchFamily="18" charset="0"/>
                                    </a:rPr>
                                    <m:t>𝑅</m:t>
                                  </m:r>
                                </m:e>
                                <m:sup>
                                  <m:r>
                                    <a:rPr lang="en-IN" sz="900">
                                      <a:latin typeface="Cambria Math" panose="02040503050406030204" pitchFamily="18" charset="0"/>
                                    </a:rPr>
                                    <m:t>2</m:t>
                                  </m:r>
                                </m:sup>
                              </m:sSup>
                            </m:oMath>
                          </a14:m>
                          <a:endParaRPr lang="en-IN" sz="900"/>
                        </a:p>
                      </a:txBody>
                      <a:tcPr marL="23451" marR="23451" marT="11725" marB="11725" anchor="ctr"/>
                    </a:tc>
                    <a:tc>
                      <a:txBody>
                        <a:bodyPr/>
                        <a:lstStyle/>
                        <a:p>
                          <a:pPr algn="ctr">
                            <a:buNone/>
                          </a:pPr>
                          <a:r>
                            <a:rPr lang="en-IN" sz="900"/>
                            <a:t>GNN-SAGE RMSE 0.34 mg/L at 6 h; value regression only; no event lead-time evaluation.</a:t>
                          </a:r>
                        </a:p>
                      </a:txBody>
                      <a:tcPr marL="23451" marR="23451" marT="11725" marB="11725" anchor="ctr"/>
                    </a:tc>
                    <a:extLst>
                      <a:ext uri="{0D108BD9-81ED-4DB2-BD59-A6C34878D82A}">
                        <a16:rowId xmlns:a16="http://schemas.microsoft.com/office/drawing/2014/main" val="3153611045"/>
                      </a:ext>
                    </a:extLst>
                  </a:tr>
                  <a:tr h="496358">
                    <a:tc>
                      <a:txBody>
                        <a:bodyPr/>
                        <a:lstStyle/>
                        <a:p>
                          <a:pPr algn="ctr">
                            <a:buNone/>
                          </a:pPr>
                          <a:r>
                            <a:rPr lang="en-IN" sz="900"/>
                            <a:t>3</a:t>
                          </a:r>
                        </a:p>
                      </a:txBody>
                      <a:tcPr marL="23451" marR="23451" marT="11725" marB="11725" anchor="ctr"/>
                    </a:tc>
                    <a:tc>
                      <a:txBody>
                        <a:bodyPr/>
                        <a:lstStyle/>
                        <a:p>
                          <a:pPr algn="ctr">
                            <a:buNone/>
                          </a:pPr>
                          <a:r>
                            <a:rPr lang="en-IN" sz="900" dirty="0"/>
                            <a:t>Pant et al. (Sci. Reports)</a:t>
                          </a:r>
                        </a:p>
                      </a:txBody>
                      <a:tcPr marL="23451" marR="23451" marT="11725" marB="11725" anchor="ctr"/>
                    </a:tc>
                    <a:tc>
                      <a:txBody>
                        <a:bodyPr/>
                        <a:lstStyle/>
                        <a:p>
                          <a:pPr algn="ctr">
                            <a:buNone/>
                          </a:pPr>
                          <a:r>
                            <a:rPr lang="en-IN" sz="900"/>
                            <a:t>2024</a:t>
                          </a:r>
                        </a:p>
                      </a:txBody>
                      <a:tcPr marL="23451" marR="23451" marT="11725" marB="11725" anchor="ctr"/>
                    </a:tc>
                    <a:tc>
                      <a:txBody>
                        <a:bodyPr/>
                        <a:lstStyle/>
                        <a:p>
                          <a:pPr algn="ctr">
                            <a:buNone/>
                          </a:pPr>
                          <a:r>
                            <a:rPr lang="en-IN" sz="900"/>
                            <a:t>CEEMDAN + AdaBoost-BiLSTM + LSTM</a:t>
                          </a:r>
                        </a:p>
                      </a:txBody>
                      <a:tcPr marL="23451" marR="23451" marT="11725" marB="11725" anchor="ctr"/>
                    </a:tc>
                    <a:tc>
                      <a:txBody>
                        <a:bodyPr/>
                        <a:lstStyle/>
                        <a:p>
                          <a:pPr algn="ctr">
                            <a:buNone/>
                          </a:pPr>
                          <a:r>
                            <a:rPr lang="en-IN" sz="900"/>
                            <a:t>RMSE, MAE, MAPE, DM test</a:t>
                          </a:r>
                        </a:p>
                      </a:txBody>
                      <a:tcPr marL="23451" marR="23451" marT="11725" marB="11725" anchor="ctr"/>
                    </a:tc>
                    <a:tc>
                      <a:txBody>
                        <a:bodyPr/>
                        <a:lstStyle/>
                        <a:p>
                          <a:pPr algn="ctr">
                            <a:buNone/>
                          </a:pPr>
                          <a:r>
                            <a:rPr lang="en-IN" sz="900"/>
                            <a:t>River Ganga; ~25% RMSE reduction at 1–3 h; limited to short multi-step regression.</a:t>
                          </a:r>
                        </a:p>
                      </a:txBody>
                      <a:tcPr marL="23451" marR="23451" marT="11725" marB="11725" anchor="ctr"/>
                    </a:tc>
                    <a:extLst>
                      <a:ext uri="{0D108BD9-81ED-4DB2-BD59-A6C34878D82A}">
                        <a16:rowId xmlns:a16="http://schemas.microsoft.com/office/drawing/2014/main" val="3413896164"/>
                      </a:ext>
                    </a:extLst>
                  </a:tr>
                  <a:tr h="496358">
                    <a:tc>
                      <a:txBody>
                        <a:bodyPr/>
                        <a:lstStyle/>
                        <a:p>
                          <a:pPr algn="ctr">
                            <a:buNone/>
                          </a:pPr>
                          <a:r>
                            <a:rPr lang="en-IN" sz="900" dirty="0"/>
                            <a:t>4</a:t>
                          </a:r>
                        </a:p>
                      </a:txBody>
                      <a:tcPr marL="23451" marR="23451" marT="11725" marB="11725" anchor="ctr"/>
                    </a:tc>
                    <a:tc>
                      <a:txBody>
                        <a:bodyPr/>
                        <a:lstStyle/>
                        <a:p>
                          <a:pPr algn="ctr">
                            <a:buNone/>
                          </a:pPr>
                          <a:r>
                            <a:rPr lang="en-IN" sz="900"/>
                            <a:t>Granata et al. (RSC)</a:t>
                          </a:r>
                        </a:p>
                      </a:txBody>
                      <a:tcPr marL="23451" marR="23451" marT="11725" marB="11725" anchor="ctr"/>
                    </a:tc>
                    <a:tc>
                      <a:txBody>
                        <a:bodyPr/>
                        <a:lstStyle/>
                        <a:p>
                          <a:pPr algn="ctr">
                            <a:buNone/>
                          </a:pPr>
                          <a:r>
                            <a:rPr lang="en-IN" sz="900" dirty="0"/>
                            <a:t>2024</a:t>
                          </a:r>
                        </a:p>
                      </a:txBody>
                      <a:tcPr marL="23451" marR="23451" marT="11725" marB="11725" anchor="ctr"/>
                    </a:tc>
                    <a:tc>
                      <a:txBody>
                        <a:bodyPr/>
                        <a:lstStyle/>
                        <a:p>
                          <a:pPr algn="ctr">
                            <a:buNone/>
                          </a:pPr>
                          <a:r>
                            <a:rPr lang="en-IN" sz="900" dirty="0"/>
                            <a:t>Additive regression with RBF; stacked MLP-RF</a:t>
                          </a:r>
                        </a:p>
                      </a:txBody>
                      <a:tcPr marL="23451" marR="23451" marT="11725" marB="11725" anchor="ctr"/>
                    </a:tc>
                    <a:tc>
                      <a:txBody>
                        <a:bodyPr/>
                        <a:lstStyle/>
                        <a:p>
                          <a:pPr algn="ctr">
                            <a:buNone/>
                          </a:pPr>
                          <a14:m>
                            <m:oMath xmlns:m="http://schemas.openxmlformats.org/officeDocument/2006/math">
                              <m:sSup>
                                <m:sSupPr>
                                  <m:ctrlPr>
                                    <a:rPr lang="en-IN" sz="900">
                                      <a:latin typeface="Cambria Math" panose="02040503050406030204" pitchFamily="18" charset="0"/>
                                    </a:rPr>
                                  </m:ctrlPr>
                                </m:sSupPr>
                                <m:e>
                                  <m:r>
                                    <a:rPr lang="en-IN" sz="900">
                                      <a:latin typeface="Cambria Math" panose="02040503050406030204" pitchFamily="18" charset="0"/>
                                    </a:rPr>
                                    <m:t>𝑅</m:t>
                                  </m:r>
                                </m:e>
                                <m:sup>
                                  <m:r>
                                    <a:rPr lang="en-IN" sz="900">
                                      <a:latin typeface="Cambria Math" panose="02040503050406030204" pitchFamily="18" charset="0"/>
                                    </a:rPr>
                                    <m:t>2</m:t>
                                  </m:r>
                                </m:sup>
                              </m:sSup>
                            </m:oMath>
                          </a14:m>
                          <a:r>
                            <a:rPr lang="en-IN" sz="900"/>
                            <a:t>, MAE, MAPE, RMSE</a:t>
                          </a:r>
                        </a:p>
                      </a:txBody>
                      <a:tcPr marL="23451" marR="23451" marT="11725" marB="11725" anchor="ctr"/>
                    </a:tc>
                    <a:tc>
                      <a:txBody>
                        <a:bodyPr/>
                        <a:lstStyle/>
                        <a:p>
                          <a:pPr algn="ctr">
                            <a:buNone/>
                          </a:pPr>
                          <a:r>
                            <a:rPr lang="en-IN" sz="900"/>
                            <a:t>Mississippi River; 3-day RMSE 0.28 mg/L; value forecasting without anomaly warning logic.</a:t>
                          </a:r>
                        </a:p>
                      </a:txBody>
                      <a:tcPr marL="23451" marR="23451" marT="11725" marB="11725" anchor="ctr"/>
                    </a:tc>
                    <a:extLst>
                      <a:ext uri="{0D108BD9-81ED-4DB2-BD59-A6C34878D82A}">
                        <a16:rowId xmlns:a16="http://schemas.microsoft.com/office/drawing/2014/main" val="1107784622"/>
                      </a:ext>
                    </a:extLst>
                  </a:tr>
                  <a:tr h="377355">
                    <a:tc>
                      <a:txBody>
                        <a:bodyPr/>
                        <a:lstStyle/>
                        <a:p>
                          <a:pPr algn="ctr">
                            <a:buNone/>
                          </a:pPr>
                          <a:r>
                            <a:rPr lang="en-IN" sz="900"/>
                            <a:t>5</a:t>
                          </a:r>
                        </a:p>
                      </a:txBody>
                      <a:tcPr marL="23451" marR="23451" marT="11725" marB="11725" anchor="ctr"/>
                    </a:tc>
                    <a:tc>
                      <a:txBody>
                        <a:bodyPr/>
                        <a:lstStyle/>
                        <a:p>
                          <a:pPr algn="ctr">
                            <a:buNone/>
                          </a:pPr>
                          <a:r>
                            <a:rPr lang="en-IN" sz="900"/>
                            <a:t>Cerqueira et al. (Front. Aquac.)</a:t>
                          </a:r>
                        </a:p>
                      </a:txBody>
                      <a:tcPr marL="23451" marR="23451" marT="11725" marB="11725" anchor="ctr"/>
                    </a:tc>
                    <a:tc>
                      <a:txBody>
                        <a:bodyPr/>
                        <a:lstStyle/>
                        <a:p>
                          <a:pPr algn="ctr">
                            <a:buNone/>
                          </a:pPr>
                          <a:r>
                            <a:rPr lang="en-IN" sz="900"/>
                            <a:t>2024</a:t>
                          </a:r>
                        </a:p>
                      </a:txBody>
                      <a:tcPr marL="23451" marR="23451" marT="11725" marB="11725" anchor="ctr"/>
                    </a:tc>
                    <a:tc>
                      <a:txBody>
                        <a:bodyPr/>
                        <a:lstStyle/>
                        <a:p>
                          <a:pPr algn="ctr">
                            <a:buNone/>
                          </a:pPr>
                          <a:r>
                            <a:rPr lang="en-IN" sz="900"/>
                            <a:t>Global autoregressive LightGBM (1–24 h)</a:t>
                          </a:r>
                        </a:p>
                      </a:txBody>
                      <a:tcPr marL="23451" marR="23451" marT="11725" marB="11725" anchor="ctr"/>
                    </a:tc>
                    <a:tc>
                      <a:txBody>
                        <a:bodyPr/>
                        <a:lstStyle/>
                        <a:p>
                          <a:pPr algn="ctr">
                            <a:buNone/>
                          </a:pPr>
                          <a:r>
                            <a:rPr lang="en-IN" sz="900"/>
                            <a:t>Event recall, FAR, Lead time</a:t>
                          </a:r>
                        </a:p>
                      </a:txBody>
                      <a:tcPr marL="23451" marR="23451" marT="11725" marB="11725" anchor="ctr"/>
                    </a:tc>
                    <a:tc>
                      <a:txBody>
                        <a:bodyPr/>
                        <a:lstStyle/>
                        <a:p>
                          <a:pPr algn="ctr">
                            <a:buNone/>
                          </a:pPr>
                          <a:r>
                            <a:rPr lang="en-IN" sz="900"/>
                            <a:t>Event recall 60–85% with 5–8 h anticipation; ocean salmon farms only.</a:t>
                          </a:r>
                        </a:p>
                      </a:txBody>
                      <a:tcPr marL="23451" marR="23451" marT="11725" marB="11725" anchor="ctr"/>
                    </a:tc>
                    <a:extLst>
                      <a:ext uri="{0D108BD9-81ED-4DB2-BD59-A6C34878D82A}">
                        <a16:rowId xmlns:a16="http://schemas.microsoft.com/office/drawing/2014/main" val="248709213"/>
                      </a:ext>
                    </a:extLst>
                  </a:tr>
                  <a:tr h="496358">
                    <a:tc>
                      <a:txBody>
                        <a:bodyPr/>
                        <a:lstStyle/>
                        <a:p>
                          <a:pPr algn="ctr">
                            <a:buNone/>
                          </a:pPr>
                          <a:r>
                            <a:rPr lang="en-IN" sz="900"/>
                            <a:t>6</a:t>
                          </a:r>
                        </a:p>
                      </a:txBody>
                      <a:tcPr marL="23451" marR="23451" marT="11725" marB="11725" anchor="ctr"/>
                    </a:tc>
                    <a:tc>
                      <a:txBody>
                        <a:bodyPr/>
                        <a:lstStyle/>
                        <a:p>
                          <a:pPr algn="ctr">
                            <a:buNone/>
                          </a:pPr>
                          <a:r>
                            <a:rPr lang="en-IN" sz="900"/>
                            <a:t>Simonetti et al. (STOTEN)</a:t>
                          </a:r>
                        </a:p>
                      </a:txBody>
                      <a:tcPr marL="23451" marR="23451" marT="11725" marB="11725" anchor="ctr"/>
                    </a:tc>
                    <a:tc>
                      <a:txBody>
                        <a:bodyPr/>
                        <a:lstStyle/>
                        <a:p>
                          <a:pPr algn="ctr">
                            <a:buNone/>
                          </a:pPr>
                          <a:r>
                            <a:rPr lang="en-IN" sz="900"/>
                            <a:t>2024</a:t>
                          </a:r>
                        </a:p>
                      </a:txBody>
                      <a:tcPr marL="23451" marR="23451" marT="11725" marB="11725" anchor="ctr"/>
                    </a:tc>
                    <a:tc>
                      <a:txBody>
                        <a:bodyPr/>
                        <a:lstStyle/>
                        <a:p>
                          <a:pPr algn="ctr">
                            <a:buNone/>
                          </a:pPr>
                          <a:r>
                            <a:rPr lang="en-IN" sz="900" dirty="0"/>
                            <a:t>Hydrodynamic model coupled with RF</a:t>
                          </a:r>
                        </a:p>
                      </a:txBody>
                      <a:tcPr marL="23451" marR="23451" marT="11725" marB="11725" anchor="ctr"/>
                    </a:tc>
                    <a:tc>
                      <a:txBody>
                        <a:bodyPr/>
                        <a:lstStyle/>
                        <a:p>
                          <a:pPr algn="ctr">
                            <a:buNone/>
                          </a:pPr>
                          <a:r>
                            <a:rPr lang="en-IN" sz="900"/>
                            <a:t>Accuracy, Severe-hypoxia score</a:t>
                          </a:r>
                        </a:p>
                      </a:txBody>
                      <a:tcPr marL="23451" marR="23451" marT="11725" marB="11725" anchor="ctr"/>
                    </a:tc>
                    <a:tc>
                      <a:txBody>
                        <a:bodyPr/>
                        <a:lstStyle/>
                        <a:p>
                          <a:pPr algn="ctr">
                            <a:buNone/>
                          </a:pPr>
                          <a:r>
                            <a:rPr lang="en-IN" sz="900" dirty="0"/>
                            <a:t>Coastal lagoon; 91% accuracy; single site; accuracy metric distorted by imbalance.</a:t>
                          </a:r>
                        </a:p>
                      </a:txBody>
                      <a:tcPr marL="23451" marR="23451" marT="11725" marB="11725" anchor="ctr"/>
                    </a:tc>
                    <a:extLst>
                      <a:ext uri="{0D108BD9-81ED-4DB2-BD59-A6C34878D82A}">
                        <a16:rowId xmlns:a16="http://schemas.microsoft.com/office/drawing/2014/main" val="4204709301"/>
                      </a:ext>
                    </a:extLst>
                  </a:tr>
                  <a:tr h="496358">
                    <a:tc>
                      <a:txBody>
                        <a:bodyPr/>
                        <a:lstStyle/>
                        <a:p>
                          <a:pPr algn="ctr">
                            <a:buNone/>
                          </a:pPr>
                          <a:r>
                            <a:rPr lang="en-IN" sz="900"/>
                            <a:t>7</a:t>
                          </a:r>
                        </a:p>
                      </a:txBody>
                      <a:tcPr marL="23451" marR="23451" marT="11725" marB="11725" anchor="ctr"/>
                    </a:tc>
                    <a:tc>
                      <a:txBody>
                        <a:bodyPr/>
                        <a:lstStyle/>
                        <a:p>
                          <a:pPr algn="ctr">
                            <a:buNone/>
                          </a:pPr>
                          <a:r>
                            <a:rPr lang="en-IN" sz="900"/>
                            <a:t>Zhao &amp; Chen (PLOS ONE)</a:t>
                          </a:r>
                        </a:p>
                      </a:txBody>
                      <a:tcPr marL="23451" marR="23451" marT="11725" marB="11725" anchor="ctr"/>
                    </a:tc>
                    <a:tc>
                      <a:txBody>
                        <a:bodyPr/>
                        <a:lstStyle/>
                        <a:p>
                          <a:pPr algn="ctr">
                            <a:buNone/>
                          </a:pPr>
                          <a:r>
                            <a:rPr lang="en-IN" sz="900"/>
                            <a:t>2025</a:t>
                          </a:r>
                        </a:p>
                      </a:txBody>
                      <a:tcPr marL="23451" marR="23451" marT="11725" marB="11725" anchor="ctr"/>
                    </a:tc>
                    <a:tc>
                      <a:txBody>
                        <a:bodyPr/>
                        <a:lstStyle/>
                        <a:p>
                          <a:pPr algn="ctr">
                            <a:buNone/>
                          </a:pPr>
                          <a:r>
                            <a:rPr lang="en-IN" sz="900"/>
                            <a:t>DWT denoising, KPCA, GWO-optimized XGBoost</a:t>
                          </a:r>
                        </a:p>
                      </a:txBody>
                      <a:tcPr marL="23451" marR="23451" marT="11725" marB="11725" anchor="ctr"/>
                    </a:tc>
                    <a:tc>
                      <a:txBody>
                        <a:bodyPr/>
                        <a:lstStyle/>
                        <a:p>
                          <a:pPr algn="ctr">
                            <a:buNone/>
                          </a:pPr>
                          <a:r>
                            <a:rPr lang="en-IN" sz="900" dirty="0"/>
                            <a:t>MAE, MSE, MAPE, NSE, KGE</a:t>
                          </a:r>
                        </a:p>
                      </a:txBody>
                      <a:tcPr marL="23451" marR="23451" marT="11725" marB="11725" anchor="ctr"/>
                    </a:tc>
                    <a:tc>
                      <a:txBody>
                        <a:bodyPr/>
                        <a:lstStyle/>
                        <a:p>
                          <a:pPr algn="ctr">
                            <a:buNone/>
                          </a:pPr>
                          <a:r>
                            <a:rPr lang="en-IN" sz="900" dirty="0"/>
                            <a:t>Multi-source meteorological inputs improve regression (NSE 0.78–0.90); no early warning test.</a:t>
                          </a:r>
                        </a:p>
                      </a:txBody>
                      <a:tcPr marL="23451" marR="23451" marT="11725" marB="11725" anchor="ctr"/>
                    </a:tc>
                    <a:extLst>
                      <a:ext uri="{0D108BD9-81ED-4DB2-BD59-A6C34878D82A}">
                        <a16:rowId xmlns:a16="http://schemas.microsoft.com/office/drawing/2014/main" val="3588063779"/>
                      </a:ext>
                    </a:extLst>
                  </a:tr>
                  <a:tr h="377355">
                    <a:tc>
                      <a:txBody>
                        <a:bodyPr/>
                        <a:lstStyle/>
                        <a:p>
                          <a:pPr algn="ctr">
                            <a:buNone/>
                          </a:pPr>
                          <a:r>
                            <a:rPr lang="en-IN" sz="900"/>
                            <a:t>8</a:t>
                          </a:r>
                        </a:p>
                      </a:txBody>
                      <a:tcPr marL="23451" marR="23451" marT="11725" marB="11725" anchor="ctr"/>
                    </a:tc>
                    <a:tc>
                      <a:txBody>
                        <a:bodyPr/>
                        <a:lstStyle/>
                        <a:p>
                          <a:pPr algn="ctr">
                            <a:buNone/>
                          </a:pPr>
                          <a:r>
                            <a:rPr lang="en-IN" sz="900"/>
                            <a:t>Merabet et al. (Earth Sci. Inf.)</a:t>
                          </a:r>
                        </a:p>
                      </a:txBody>
                      <a:tcPr marL="23451" marR="23451" marT="11725" marB="11725" anchor="ctr"/>
                    </a:tc>
                    <a:tc>
                      <a:txBody>
                        <a:bodyPr/>
                        <a:lstStyle/>
                        <a:p>
                          <a:pPr algn="ctr">
                            <a:buNone/>
                          </a:pPr>
                          <a:r>
                            <a:rPr lang="en-IN" sz="900"/>
                            <a:t>2025</a:t>
                          </a:r>
                        </a:p>
                      </a:txBody>
                      <a:tcPr marL="23451" marR="23451" marT="11725" marB="11725" anchor="ctr"/>
                    </a:tc>
                    <a:tc>
                      <a:txBody>
                        <a:bodyPr/>
                        <a:lstStyle/>
                        <a:p>
                          <a:pPr algn="ctr">
                            <a:buNone/>
                          </a:pPr>
                          <a:r>
                            <a:rPr lang="en-IN" sz="900"/>
                            <a:t>CatBoost, LightGBM, NGBoost, XGBoost; SHAP</a:t>
                          </a:r>
                        </a:p>
                      </a:txBody>
                      <a:tcPr marL="23451" marR="23451" marT="11725" marB="11725" anchor="ctr"/>
                    </a:tc>
                    <a:tc>
                      <a:txBody>
                        <a:bodyPr/>
                        <a:lstStyle/>
                        <a:p>
                          <a:pPr algn="ctr">
                            <a:buNone/>
                          </a:pPr>
                          <a:r>
                            <a:rPr lang="en-IN" sz="900" dirty="0"/>
                            <a:t>RMSE, MAE, </a:t>
                          </a:r>
                          <a14:m>
                            <m:oMath xmlns:m="http://schemas.openxmlformats.org/officeDocument/2006/math">
                              <m:r>
                                <a:rPr lang="en-IN" sz="900">
                                  <a:latin typeface="Cambria Math" panose="02040503050406030204" pitchFamily="18" charset="0"/>
                                </a:rPr>
                                <m:t>𝑅</m:t>
                              </m:r>
                            </m:oMath>
                          </a14:m>
                          <a:r>
                            <a:rPr lang="en-IN" sz="900" dirty="0"/>
                            <a:t>, NSE</a:t>
                          </a:r>
                        </a:p>
                      </a:txBody>
                      <a:tcPr marL="23451" marR="23451" marT="11725" marB="11725" anchor="ctr"/>
                    </a:tc>
                    <a:tc>
                      <a:txBody>
                        <a:bodyPr/>
                        <a:lstStyle/>
                        <a:p>
                          <a:pPr algn="ctr">
                            <a:buNone/>
                          </a:pPr>
                          <a:r>
                            <a:rPr lang="en-IN" sz="900" dirty="0"/>
                            <a:t>DO highly predictable (NSE 0.961); global/local SHAP analysis; regression focus.</a:t>
                          </a:r>
                        </a:p>
                      </a:txBody>
                      <a:tcPr marL="23451" marR="23451" marT="11725" marB="11725" anchor="ctr"/>
                    </a:tc>
                    <a:extLst>
                      <a:ext uri="{0D108BD9-81ED-4DB2-BD59-A6C34878D82A}">
                        <a16:rowId xmlns:a16="http://schemas.microsoft.com/office/drawing/2014/main" val="3014212158"/>
                      </a:ext>
                    </a:extLst>
                  </a:tr>
                  <a:tr h="615356">
                    <a:tc>
                      <a:txBody>
                        <a:bodyPr/>
                        <a:lstStyle/>
                        <a:p>
                          <a:pPr algn="ctr">
                            <a:buNone/>
                          </a:pPr>
                          <a:r>
                            <a:rPr lang="en-IN" sz="900"/>
                            <a:t>9</a:t>
                          </a:r>
                        </a:p>
                      </a:txBody>
                      <a:tcPr marL="23451" marR="23451" marT="11725" marB="11725" anchor="ctr"/>
                    </a:tc>
                    <a:tc>
                      <a:txBody>
                        <a:bodyPr/>
                        <a:lstStyle/>
                        <a:p>
                          <a:pPr algn="ctr">
                            <a:buNone/>
                          </a:pPr>
                          <a:r>
                            <a:rPr lang="en-IN" sz="900"/>
                            <a:t>Choudhary et al. (Sci. Reports)</a:t>
                          </a:r>
                        </a:p>
                      </a:txBody>
                      <a:tcPr marL="23451" marR="23451" marT="11725" marB="11725" anchor="ctr"/>
                    </a:tc>
                    <a:tc>
                      <a:txBody>
                        <a:bodyPr/>
                        <a:lstStyle/>
                        <a:p>
                          <a:pPr algn="ctr">
                            <a:buNone/>
                          </a:pPr>
                          <a:r>
                            <a:rPr lang="en-IN" sz="900"/>
                            <a:t>2025</a:t>
                          </a:r>
                        </a:p>
                      </a:txBody>
                      <a:tcPr marL="23451" marR="23451" marT="11725" marB="11725" anchor="ctr"/>
                    </a:tc>
                    <a:tc>
                      <a:txBody>
                        <a:bodyPr/>
                        <a:lstStyle/>
                        <a:p>
                          <a:pPr algn="ctr">
                            <a:buNone/>
                          </a:pPr>
                          <a:r>
                            <a:rPr lang="en-IN" sz="900"/>
                            <a:t>Stacking of 6 tree ensembles with linear meta-learner</a:t>
                          </a:r>
                        </a:p>
                      </a:txBody>
                      <a:tcPr marL="23451" marR="23451" marT="11725" marB="11725" anchor="ctr"/>
                    </a:tc>
                    <a:tc>
                      <a:txBody>
                        <a:bodyPr/>
                        <a:lstStyle/>
                        <a:p>
                          <a:pPr algn="ctr">
                            <a:buNone/>
                          </a:pPr>
                          <a14:m>
                            <m:oMath xmlns:m="http://schemas.openxmlformats.org/officeDocument/2006/math">
                              <m:sSup>
                                <m:sSupPr>
                                  <m:ctrlPr>
                                    <a:rPr lang="en-IN" sz="900">
                                      <a:latin typeface="Cambria Math" panose="02040503050406030204" pitchFamily="18" charset="0"/>
                                    </a:rPr>
                                  </m:ctrlPr>
                                </m:sSupPr>
                                <m:e>
                                  <m:r>
                                    <a:rPr lang="en-IN" sz="900">
                                      <a:latin typeface="Cambria Math" panose="02040503050406030204" pitchFamily="18" charset="0"/>
                                    </a:rPr>
                                    <m:t>𝑅</m:t>
                                  </m:r>
                                </m:e>
                                <m:sup>
                                  <m:r>
                                    <a:rPr lang="en-IN" sz="900">
                                      <a:latin typeface="Cambria Math" panose="02040503050406030204" pitchFamily="18" charset="0"/>
                                    </a:rPr>
                                    <m:t>2</m:t>
                                  </m:r>
                                </m:sup>
                              </m:sSup>
                            </m:oMath>
                          </a14:m>
                          <a:r>
                            <a:rPr lang="en-IN" sz="900"/>
                            <a:t>, Adj. </a:t>
                          </a:r>
                          <a14:m>
                            <m:oMath xmlns:m="http://schemas.openxmlformats.org/officeDocument/2006/math">
                              <m:sSup>
                                <m:sSupPr>
                                  <m:ctrlPr>
                                    <a:rPr lang="en-IN" sz="900">
                                      <a:latin typeface="Cambria Math" panose="02040503050406030204" pitchFamily="18" charset="0"/>
                                    </a:rPr>
                                  </m:ctrlPr>
                                </m:sSupPr>
                                <m:e>
                                  <m:r>
                                    <a:rPr lang="en-IN" sz="900">
                                      <a:latin typeface="Cambria Math" panose="02040503050406030204" pitchFamily="18" charset="0"/>
                                    </a:rPr>
                                    <m:t>𝑅</m:t>
                                  </m:r>
                                </m:e>
                                <m:sup>
                                  <m:r>
                                    <a:rPr lang="en-IN" sz="900">
                                      <a:latin typeface="Cambria Math" panose="02040503050406030204" pitchFamily="18" charset="0"/>
                                    </a:rPr>
                                    <m:t>2</m:t>
                                  </m:r>
                                </m:sup>
                              </m:sSup>
                            </m:oMath>
                          </a14:m>
                          <a:r>
                            <a:rPr lang="en-IN" sz="900"/>
                            <a:t>, MAE, RMSE</a:t>
                          </a:r>
                        </a:p>
                      </a:txBody>
                      <a:tcPr marL="23451" marR="23451" marT="11725" marB="11725" anchor="ctr"/>
                    </a:tc>
                    <a:tc>
                      <a:txBody>
                        <a:bodyPr/>
                        <a:lstStyle/>
                        <a:p>
                          <a:pPr algn="ctr">
                            <a:buNone/>
                          </a:pPr>
                          <a14:m>
                            <m:oMath xmlns:m="http://schemas.openxmlformats.org/officeDocument/2006/math">
                              <m:sSup>
                                <m:sSupPr>
                                  <m:ctrlPr>
                                    <a:rPr lang="en-IN" sz="900">
                                      <a:latin typeface="Cambria Math" panose="02040503050406030204" pitchFamily="18" charset="0"/>
                                    </a:rPr>
                                  </m:ctrlPr>
                                </m:sSupPr>
                                <m:e>
                                  <m:r>
                                    <a:rPr lang="en-IN" sz="900">
                                      <a:latin typeface="Cambria Math" panose="02040503050406030204" pitchFamily="18" charset="0"/>
                                    </a:rPr>
                                    <m:t>𝑅</m:t>
                                  </m:r>
                                </m:e>
                                <m:sup>
                                  <m:r>
                                    <a:rPr lang="en-IN" sz="900">
                                      <a:latin typeface="Cambria Math" panose="02040503050406030204" pitchFamily="18" charset="0"/>
                                    </a:rPr>
                                    <m:t>2</m:t>
                                  </m:r>
                                </m:sup>
                              </m:sSup>
                              <m:r>
                                <a:rPr lang="en-IN" sz="900">
                                  <a:latin typeface="Cambria Math" panose="02040503050406030204" pitchFamily="18" charset="0"/>
                                </a:rPr>
                                <m:t>=0.995</m:t>
                              </m:r>
                            </m:oMath>
                          </a14:m>
                          <a:r>
                            <a:rPr lang="en-IN" sz="900" dirty="0"/>
                            <a:t>for water quality index; static calculation without temporal forecast capability.</a:t>
                          </a:r>
                        </a:p>
                      </a:txBody>
                      <a:tcPr marL="23451" marR="23451" marT="11725" marB="11725" anchor="ctr"/>
                    </a:tc>
                    <a:extLst>
                      <a:ext uri="{0D108BD9-81ED-4DB2-BD59-A6C34878D82A}">
                        <a16:rowId xmlns:a16="http://schemas.microsoft.com/office/drawing/2014/main" val="3088878448"/>
                      </a:ext>
                    </a:extLst>
                  </a:tr>
                  <a:tr h="496358">
                    <a:tc>
                      <a:txBody>
                        <a:bodyPr/>
                        <a:lstStyle/>
                        <a:p>
                          <a:pPr algn="ctr">
                            <a:buNone/>
                          </a:pPr>
                          <a:r>
                            <a:rPr lang="en-IN" sz="900" dirty="0"/>
                            <a:t>10</a:t>
                          </a:r>
                        </a:p>
                      </a:txBody>
                      <a:tcPr marL="23451" marR="23451" marT="11725" marB="11725" anchor="ctr"/>
                    </a:tc>
                    <a:tc>
                      <a:txBody>
                        <a:bodyPr/>
                        <a:lstStyle/>
                        <a:p>
                          <a:pPr algn="ctr">
                            <a:buNone/>
                          </a:pPr>
                          <a:r>
                            <a:rPr lang="en-IN" sz="900"/>
                            <a:t>Benchmark Base Paper (J. Hydrology)</a:t>
                          </a:r>
                        </a:p>
                      </a:txBody>
                      <a:tcPr marL="23451" marR="23451" marT="11725" marB="11725" anchor="ctr"/>
                    </a:tc>
                    <a:tc>
                      <a:txBody>
                        <a:bodyPr/>
                        <a:lstStyle/>
                        <a:p>
                          <a:pPr algn="ctr">
                            <a:buNone/>
                          </a:pPr>
                          <a:r>
                            <a:rPr lang="en-IN" sz="900"/>
                            <a:t>2026</a:t>
                          </a:r>
                        </a:p>
                      </a:txBody>
                      <a:tcPr marL="23451" marR="23451" marT="11725" marB="11725" anchor="ctr"/>
                    </a:tc>
                    <a:tc>
                      <a:txBody>
                        <a:bodyPr/>
                        <a:lstStyle/>
                        <a:p>
                          <a:pPr algn="ctr">
                            <a:buNone/>
                          </a:pPr>
                          <a:r>
                            <a:rPr lang="en-IN" sz="900" dirty="0"/>
                            <a:t>LSTM + Transformer + MLP gated fusion</a:t>
                          </a:r>
                        </a:p>
                      </a:txBody>
                      <a:tcPr marL="23451" marR="23451" marT="11725" marB="11725" anchor="ctr"/>
                    </a:tc>
                    <a:tc>
                      <a:txBody>
                        <a:bodyPr/>
                        <a:lstStyle/>
                        <a:p>
                          <a:pPr algn="ctr">
                            <a:buNone/>
                          </a:pPr>
                          <a:r>
                            <a:rPr lang="en-IN" sz="900"/>
                            <a:t>NSE, RMSE, MAE, interval coverage</a:t>
                          </a:r>
                        </a:p>
                      </a:txBody>
                      <a:tcPr marL="23451" marR="23451" marT="11725" marB="11725" anchor="ctr"/>
                    </a:tc>
                    <a:tc>
                      <a:txBody>
                        <a:bodyPr/>
                        <a:lstStyle/>
                        <a:p>
                          <a:pPr algn="ctr">
                            <a:buNone/>
                          </a:pPr>
                          <a:r>
                            <a:rPr lang="en-IN" sz="900" dirty="0"/>
                            <a:t>Gated multimodal fusion for value forecasting; risk of temporal leakage via block splits.</a:t>
                          </a:r>
                        </a:p>
                      </a:txBody>
                      <a:tcPr marL="23451" marR="23451" marT="11725" marB="11725" anchor="ctr"/>
                    </a:tc>
                    <a:extLst>
                      <a:ext uri="{0D108BD9-81ED-4DB2-BD59-A6C34878D82A}">
                        <a16:rowId xmlns:a16="http://schemas.microsoft.com/office/drawing/2014/main" val="1028422351"/>
                      </a:ext>
                    </a:extLst>
                  </a:tr>
                </a:tbl>
              </a:graphicData>
            </a:graphic>
          </p:graphicFrame>
        </mc:Choice>
        <mc:Fallback xmlns="">
          <p:graphicFrame>
            <p:nvGraphicFramePr>
              <p:cNvPr id="58" name="Table 57">
                <a:extLst>
                  <a:ext uri="{FF2B5EF4-FFF2-40B4-BE49-F238E27FC236}">
                    <a16:creationId xmlns:a16="http://schemas.microsoft.com/office/drawing/2014/main" id="{87745E7E-4E9A-C7E7-47C2-755C698AB75C}"/>
                  </a:ext>
                </a:extLst>
              </p:cNvPr>
              <p:cNvGraphicFramePr>
                <a:graphicFrameLocks noGrp="1"/>
              </p:cNvGraphicFramePr>
              <p:nvPr>
                <p:extLst>
                  <p:ext uri="{D42A27DB-BD31-4B8C-83A1-F6EECF244321}">
                    <p14:modId xmlns:p14="http://schemas.microsoft.com/office/powerpoint/2010/main" val="1640030475"/>
                  </p:ext>
                </p:extLst>
              </p:nvPr>
            </p:nvGraphicFramePr>
            <p:xfrm>
              <a:off x="457200" y="1113023"/>
              <a:ext cx="8229600" cy="5005182"/>
            </p:xfrm>
            <a:graphic>
              <a:graphicData uri="http://schemas.openxmlformats.org/drawingml/2006/table">
                <a:tbl>
                  <a:tblPr>
                    <a:tableStyleId>{F9BC6C1E-BED5-463D-9D9D-55BB47110D15}</a:tableStyleId>
                  </a:tblPr>
                  <a:tblGrid>
                    <a:gridCol w="575187">
                      <a:extLst>
                        <a:ext uri="{9D8B030D-6E8A-4147-A177-3AD203B41FA5}">
                          <a16:colId xmlns:a16="http://schemas.microsoft.com/office/drawing/2014/main" val="107953346"/>
                        </a:ext>
                      </a:extLst>
                    </a:gridCol>
                    <a:gridCol w="1573161">
                      <a:extLst>
                        <a:ext uri="{9D8B030D-6E8A-4147-A177-3AD203B41FA5}">
                          <a16:colId xmlns:a16="http://schemas.microsoft.com/office/drawing/2014/main" val="2534062063"/>
                        </a:ext>
                      </a:extLst>
                    </a:gridCol>
                    <a:gridCol w="1170039">
                      <a:extLst>
                        <a:ext uri="{9D8B030D-6E8A-4147-A177-3AD203B41FA5}">
                          <a16:colId xmlns:a16="http://schemas.microsoft.com/office/drawing/2014/main" val="4093307656"/>
                        </a:ext>
                      </a:extLst>
                    </a:gridCol>
                    <a:gridCol w="1435510">
                      <a:extLst>
                        <a:ext uri="{9D8B030D-6E8A-4147-A177-3AD203B41FA5}">
                          <a16:colId xmlns:a16="http://schemas.microsoft.com/office/drawing/2014/main" val="2236274115"/>
                        </a:ext>
                      </a:extLst>
                    </a:gridCol>
                    <a:gridCol w="1337187">
                      <a:extLst>
                        <a:ext uri="{9D8B030D-6E8A-4147-A177-3AD203B41FA5}">
                          <a16:colId xmlns:a16="http://schemas.microsoft.com/office/drawing/2014/main" val="3763090542"/>
                        </a:ext>
                      </a:extLst>
                    </a:gridCol>
                    <a:gridCol w="2138516">
                      <a:extLst>
                        <a:ext uri="{9D8B030D-6E8A-4147-A177-3AD203B41FA5}">
                          <a16:colId xmlns:a16="http://schemas.microsoft.com/office/drawing/2014/main" val="490375886"/>
                        </a:ext>
                      </a:extLst>
                    </a:gridCol>
                  </a:tblGrid>
                  <a:tr h="160610">
                    <a:tc>
                      <a:txBody>
                        <a:bodyPr/>
                        <a:lstStyle/>
                        <a:p>
                          <a:pPr algn="ctr">
                            <a:buNone/>
                          </a:pPr>
                          <a:r>
                            <a:rPr lang="en-IN" sz="900"/>
                            <a:t>#</a:t>
                          </a:r>
                        </a:p>
                      </a:txBody>
                      <a:tcPr marL="23451" marR="23451" marT="11725" marB="11725" anchor="ctr"/>
                    </a:tc>
                    <a:tc>
                      <a:txBody>
                        <a:bodyPr/>
                        <a:lstStyle/>
                        <a:p>
                          <a:pPr algn="ctr">
                            <a:buNone/>
                          </a:pPr>
                          <a:r>
                            <a:rPr lang="en-IN" sz="900"/>
                            <a:t>Paper / Author</a:t>
                          </a:r>
                        </a:p>
                      </a:txBody>
                      <a:tcPr marL="23451" marR="23451" marT="11725" marB="11725" anchor="ctr"/>
                    </a:tc>
                    <a:tc>
                      <a:txBody>
                        <a:bodyPr/>
                        <a:lstStyle/>
                        <a:p>
                          <a:pPr algn="ctr">
                            <a:buNone/>
                          </a:pPr>
                          <a:r>
                            <a:rPr lang="en-IN" sz="900"/>
                            <a:t>Year</a:t>
                          </a:r>
                        </a:p>
                      </a:txBody>
                      <a:tcPr marL="23451" marR="23451" marT="11725" marB="11725" anchor="ctr"/>
                    </a:tc>
                    <a:tc>
                      <a:txBody>
                        <a:bodyPr/>
                        <a:lstStyle/>
                        <a:p>
                          <a:pPr algn="ctr">
                            <a:buNone/>
                          </a:pPr>
                          <a:r>
                            <a:rPr lang="en-IN" sz="900"/>
                            <a:t>Methodology</a:t>
                          </a:r>
                        </a:p>
                      </a:txBody>
                      <a:tcPr marL="23451" marR="23451" marT="11725" marB="11725" anchor="ctr"/>
                    </a:tc>
                    <a:tc>
                      <a:txBody>
                        <a:bodyPr/>
                        <a:lstStyle/>
                        <a:p>
                          <a:pPr algn="ctr">
                            <a:buNone/>
                          </a:pPr>
                          <a:r>
                            <a:rPr lang="en-IN" sz="900"/>
                            <a:t>Evaluation Metrics</a:t>
                          </a:r>
                        </a:p>
                      </a:txBody>
                      <a:tcPr marL="23451" marR="23451" marT="11725" marB="11725" anchor="ctr"/>
                    </a:tc>
                    <a:tc>
                      <a:txBody>
                        <a:bodyPr/>
                        <a:lstStyle/>
                        <a:p>
                          <a:pPr algn="ctr">
                            <a:buNone/>
                          </a:pPr>
                          <a:r>
                            <a:rPr lang="en-IN" sz="900"/>
                            <a:t>Key Remarks &amp; Limitations</a:t>
                          </a:r>
                        </a:p>
                      </a:txBody>
                      <a:tcPr marL="23451" marR="23451" marT="11725" marB="11725" anchor="ctr"/>
                    </a:tc>
                    <a:extLst>
                      <a:ext uri="{0D108BD9-81ED-4DB2-BD59-A6C34878D82A}">
                        <a16:rowId xmlns:a16="http://schemas.microsoft.com/office/drawing/2014/main" val="262113860"/>
                      </a:ext>
                    </a:extLst>
                  </a:tr>
                  <a:tr h="496358">
                    <a:tc>
                      <a:txBody>
                        <a:bodyPr/>
                        <a:lstStyle/>
                        <a:p>
                          <a:pPr algn="ctr">
                            <a:buNone/>
                          </a:pPr>
                          <a:r>
                            <a:rPr lang="en-IN" sz="900" dirty="0"/>
                            <a:t>1</a:t>
                          </a:r>
                        </a:p>
                      </a:txBody>
                      <a:tcPr marL="23451" marR="23451" marT="11725" marB="11725" anchor="ctr"/>
                    </a:tc>
                    <a:tc>
                      <a:txBody>
                        <a:bodyPr/>
                        <a:lstStyle/>
                        <a:p>
                          <a:pPr algn="ctr">
                            <a:buNone/>
                          </a:pPr>
                          <a:r>
                            <a:rPr lang="en-IN" sz="900"/>
                            <a:t>Moon et al. (Water)</a:t>
                          </a:r>
                        </a:p>
                      </a:txBody>
                      <a:tcPr marL="23451" marR="23451" marT="11725" marB="11725" anchor="ctr"/>
                    </a:tc>
                    <a:tc>
                      <a:txBody>
                        <a:bodyPr/>
                        <a:lstStyle/>
                        <a:p>
                          <a:pPr algn="ctr">
                            <a:buNone/>
                          </a:pPr>
                          <a:r>
                            <a:rPr lang="en-IN" sz="900"/>
                            <a:t>2022</a:t>
                          </a:r>
                        </a:p>
                      </a:txBody>
                      <a:tcPr marL="23451" marR="23451" marT="11725" marB="11725" anchor="ctr"/>
                    </a:tc>
                    <a:tc>
                      <a:txBody>
                        <a:bodyPr/>
                        <a:lstStyle/>
                        <a:p>
                          <a:pPr algn="ctr">
                            <a:buNone/>
                          </a:pPr>
                          <a:r>
                            <a:rPr lang="en-IN" sz="900"/>
                            <a:t>RF, Gradient Boosting, AdaBoost regressors</a:t>
                          </a:r>
                        </a:p>
                      </a:txBody>
                      <a:tcPr marL="23451" marR="23451" marT="11725" marB="11725" anchor="ctr"/>
                    </a:tc>
                    <a:tc>
                      <a:txBody>
                        <a:bodyPr/>
                        <a:lstStyle/>
                        <a:p>
                          <a:endParaRPr lang="en-US"/>
                        </a:p>
                      </a:txBody>
                      <a:tcPr marL="23451" marR="23451" marT="11725" marB="11725" anchor="ctr">
                        <a:blipFill>
                          <a:blip r:embed="rId2"/>
                          <a:stretch>
                            <a:fillRect l="-357078" t="-36585" r="-161644" b="-876829"/>
                          </a:stretch>
                        </a:blipFill>
                      </a:tcPr>
                    </a:tc>
                    <a:tc>
                      <a:txBody>
                        <a:bodyPr/>
                        <a:lstStyle/>
                        <a:p>
                          <a:endParaRPr lang="en-US"/>
                        </a:p>
                      </a:txBody>
                      <a:tcPr marL="23451" marR="23451" marT="11725" marB="11725" anchor="ctr">
                        <a:blipFill>
                          <a:blip r:embed="rId2"/>
                          <a:stretch>
                            <a:fillRect l="-285185" t="-36585" r="-855" b="-876829"/>
                          </a:stretch>
                        </a:blipFill>
                      </a:tcPr>
                    </a:tc>
                    <a:extLst>
                      <a:ext uri="{0D108BD9-81ED-4DB2-BD59-A6C34878D82A}">
                        <a16:rowId xmlns:a16="http://schemas.microsoft.com/office/drawing/2014/main" val="2462021982"/>
                      </a:ext>
                    </a:extLst>
                  </a:tr>
                  <a:tr h="496358">
                    <a:tc>
                      <a:txBody>
                        <a:bodyPr/>
                        <a:lstStyle/>
                        <a:p>
                          <a:pPr algn="ctr">
                            <a:buNone/>
                          </a:pPr>
                          <a:r>
                            <a:rPr lang="en-IN" sz="900" dirty="0"/>
                            <a:t>2</a:t>
                          </a:r>
                        </a:p>
                      </a:txBody>
                      <a:tcPr marL="23451" marR="23451" marT="11725" marB="11725" anchor="ctr"/>
                    </a:tc>
                    <a:tc>
                      <a:txBody>
                        <a:bodyPr/>
                        <a:lstStyle/>
                        <a:p>
                          <a:pPr algn="ctr">
                            <a:buNone/>
                          </a:pPr>
                          <a:r>
                            <a:rPr lang="en-IN" sz="900" dirty="0"/>
                            <a:t>Rocha et al. (Environments)</a:t>
                          </a:r>
                        </a:p>
                      </a:txBody>
                      <a:tcPr marL="23451" marR="23451" marT="11725" marB="11725" anchor="ctr"/>
                    </a:tc>
                    <a:tc>
                      <a:txBody>
                        <a:bodyPr/>
                        <a:lstStyle/>
                        <a:p>
                          <a:pPr algn="ctr">
                            <a:buNone/>
                          </a:pPr>
                          <a:r>
                            <a:rPr lang="en-IN" sz="900"/>
                            <a:t>2023</a:t>
                          </a:r>
                        </a:p>
                      </a:txBody>
                      <a:tcPr marL="23451" marR="23451" marT="11725" marB="11725" anchor="ctr"/>
                    </a:tc>
                    <a:tc>
                      <a:txBody>
                        <a:bodyPr/>
                        <a:lstStyle/>
                        <a:p>
                          <a:pPr algn="ctr">
                            <a:buNone/>
                          </a:pPr>
                          <a:r>
                            <a:rPr lang="en-IN" sz="900"/>
                            <a:t>GNN-SAGE &amp; Transformer vs. XGBoost; SHAP</a:t>
                          </a:r>
                        </a:p>
                      </a:txBody>
                      <a:tcPr marL="23451" marR="23451" marT="11725" marB="11725" anchor="ctr"/>
                    </a:tc>
                    <a:tc>
                      <a:txBody>
                        <a:bodyPr/>
                        <a:lstStyle/>
                        <a:p>
                          <a:endParaRPr lang="en-US"/>
                        </a:p>
                      </a:txBody>
                      <a:tcPr marL="23451" marR="23451" marT="11725" marB="11725" anchor="ctr">
                        <a:blipFill>
                          <a:blip r:embed="rId2"/>
                          <a:stretch>
                            <a:fillRect l="-357078" t="-138272" r="-161644" b="-787654"/>
                          </a:stretch>
                        </a:blipFill>
                      </a:tcPr>
                    </a:tc>
                    <a:tc>
                      <a:txBody>
                        <a:bodyPr/>
                        <a:lstStyle/>
                        <a:p>
                          <a:pPr algn="ctr">
                            <a:buNone/>
                          </a:pPr>
                          <a:r>
                            <a:rPr lang="en-IN" sz="900"/>
                            <a:t>GNN-SAGE RMSE 0.34 mg/L at 6 h; value regression only; no event lead-time evaluation.</a:t>
                          </a:r>
                        </a:p>
                      </a:txBody>
                      <a:tcPr marL="23451" marR="23451" marT="11725" marB="11725" anchor="ctr"/>
                    </a:tc>
                    <a:extLst>
                      <a:ext uri="{0D108BD9-81ED-4DB2-BD59-A6C34878D82A}">
                        <a16:rowId xmlns:a16="http://schemas.microsoft.com/office/drawing/2014/main" val="3153611045"/>
                      </a:ext>
                    </a:extLst>
                  </a:tr>
                  <a:tr h="496358">
                    <a:tc>
                      <a:txBody>
                        <a:bodyPr/>
                        <a:lstStyle/>
                        <a:p>
                          <a:pPr algn="ctr">
                            <a:buNone/>
                          </a:pPr>
                          <a:r>
                            <a:rPr lang="en-IN" sz="900"/>
                            <a:t>3</a:t>
                          </a:r>
                        </a:p>
                      </a:txBody>
                      <a:tcPr marL="23451" marR="23451" marT="11725" marB="11725" anchor="ctr"/>
                    </a:tc>
                    <a:tc>
                      <a:txBody>
                        <a:bodyPr/>
                        <a:lstStyle/>
                        <a:p>
                          <a:pPr algn="ctr">
                            <a:buNone/>
                          </a:pPr>
                          <a:r>
                            <a:rPr lang="en-IN" sz="900" dirty="0"/>
                            <a:t>Pant et al. (Sci. Reports)</a:t>
                          </a:r>
                        </a:p>
                      </a:txBody>
                      <a:tcPr marL="23451" marR="23451" marT="11725" marB="11725" anchor="ctr"/>
                    </a:tc>
                    <a:tc>
                      <a:txBody>
                        <a:bodyPr/>
                        <a:lstStyle/>
                        <a:p>
                          <a:pPr algn="ctr">
                            <a:buNone/>
                          </a:pPr>
                          <a:r>
                            <a:rPr lang="en-IN" sz="900"/>
                            <a:t>2024</a:t>
                          </a:r>
                        </a:p>
                      </a:txBody>
                      <a:tcPr marL="23451" marR="23451" marT="11725" marB="11725" anchor="ctr"/>
                    </a:tc>
                    <a:tc>
                      <a:txBody>
                        <a:bodyPr/>
                        <a:lstStyle/>
                        <a:p>
                          <a:pPr algn="ctr">
                            <a:buNone/>
                          </a:pPr>
                          <a:r>
                            <a:rPr lang="en-IN" sz="900"/>
                            <a:t>CEEMDAN + AdaBoost-BiLSTM + LSTM</a:t>
                          </a:r>
                        </a:p>
                      </a:txBody>
                      <a:tcPr marL="23451" marR="23451" marT="11725" marB="11725" anchor="ctr"/>
                    </a:tc>
                    <a:tc>
                      <a:txBody>
                        <a:bodyPr/>
                        <a:lstStyle/>
                        <a:p>
                          <a:pPr algn="ctr">
                            <a:buNone/>
                          </a:pPr>
                          <a:r>
                            <a:rPr lang="en-IN" sz="900"/>
                            <a:t>RMSE, MAE, MAPE, DM test</a:t>
                          </a:r>
                        </a:p>
                      </a:txBody>
                      <a:tcPr marL="23451" marR="23451" marT="11725" marB="11725" anchor="ctr"/>
                    </a:tc>
                    <a:tc>
                      <a:txBody>
                        <a:bodyPr/>
                        <a:lstStyle/>
                        <a:p>
                          <a:pPr algn="ctr">
                            <a:buNone/>
                          </a:pPr>
                          <a:r>
                            <a:rPr lang="en-IN" sz="900"/>
                            <a:t>River Ganga; ~25% RMSE reduction at 1–3 h; limited to short multi-step regression.</a:t>
                          </a:r>
                        </a:p>
                      </a:txBody>
                      <a:tcPr marL="23451" marR="23451" marT="11725" marB="11725" anchor="ctr"/>
                    </a:tc>
                    <a:extLst>
                      <a:ext uri="{0D108BD9-81ED-4DB2-BD59-A6C34878D82A}">
                        <a16:rowId xmlns:a16="http://schemas.microsoft.com/office/drawing/2014/main" val="3413896164"/>
                      </a:ext>
                    </a:extLst>
                  </a:tr>
                  <a:tr h="496358">
                    <a:tc>
                      <a:txBody>
                        <a:bodyPr/>
                        <a:lstStyle/>
                        <a:p>
                          <a:pPr algn="ctr">
                            <a:buNone/>
                          </a:pPr>
                          <a:r>
                            <a:rPr lang="en-IN" sz="900" dirty="0"/>
                            <a:t>4</a:t>
                          </a:r>
                        </a:p>
                      </a:txBody>
                      <a:tcPr marL="23451" marR="23451" marT="11725" marB="11725" anchor="ctr"/>
                    </a:tc>
                    <a:tc>
                      <a:txBody>
                        <a:bodyPr/>
                        <a:lstStyle/>
                        <a:p>
                          <a:pPr algn="ctr">
                            <a:buNone/>
                          </a:pPr>
                          <a:r>
                            <a:rPr lang="en-IN" sz="900"/>
                            <a:t>Granata et al. (RSC)</a:t>
                          </a:r>
                        </a:p>
                      </a:txBody>
                      <a:tcPr marL="23451" marR="23451" marT="11725" marB="11725" anchor="ctr"/>
                    </a:tc>
                    <a:tc>
                      <a:txBody>
                        <a:bodyPr/>
                        <a:lstStyle/>
                        <a:p>
                          <a:pPr algn="ctr">
                            <a:buNone/>
                          </a:pPr>
                          <a:r>
                            <a:rPr lang="en-IN" sz="900" dirty="0"/>
                            <a:t>2024</a:t>
                          </a:r>
                        </a:p>
                      </a:txBody>
                      <a:tcPr marL="23451" marR="23451" marT="11725" marB="11725" anchor="ctr"/>
                    </a:tc>
                    <a:tc>
                      <a:txBody>
                        <a:bodyPr/>
                        <a:lstStyle/>
                        <a:p>
                          <a:pPr algn="ctr">
                            <a:buNone/>
                          </a:pPr>
                          <a:r>
                            <a:rPr lang="en-IN" sz="900" dirty="0"/>
                            <a:t>Additive regression with RBF; stacked MLP-RF</a:t>
                          </a:r>
                        </a:p>
                      </a:txBody>
                      <a:tcPr marL="23451" marR="23451" marT="11725" marB="11725" anchor="ctr"/>
                    </a:tc>
                    <a:tc>
                      <a:txBody>
                        <a:bodyPr/>
                        <a:lstStyle/>
                        <a:p>
                          <a:endParaRPr lang="en-US"/>
                        </a:p>
                      </a:txBody>
                      <a:tcPr marL="23451" marR="23451" marT="11725" marB="11725" anchor="ctr">
                        <a:blipFill>
                          <a:blip r:embed="rId2"/>
                          <a:stretch>
                            <a:fillRect l="-357078" t="-339506" r="-161644" b="-586420"/>
                          </a:stretch>
                        </a:blipFill>
                      </a:tcPr>
                    </a:tc>
                    <a:tc>
                      <a:txBody>
                        <a:bodyPr/>
                        <a:lstStyle/>
                        <a:p>
                          <a:pPr algn="ctr">
                            <a:buNone/>
                          </a:pPr>
                          <a:r>
                            <a:rPr lang="en-IN" sz="900"/>
                            <a:t>Mississippi River; 3-day RMSE 0.28 mg/L; value forecasting without anomaly warning logic.</a:t>
                          </a:r>
                        </a:p>
                      </a:txBody>
                      <a:tcPr marL="23451" marR="23451" marT="11725" marB="11725" anchor="ctr"/>
                    </a:tc>
                    <a:extLst>
                      <a:ext uri="{0D108BD9-81ED-4DB2-BD59-A6C34878D82A}">
                        <a16:rowId xmlns:a16="http://schemas.microsoft.com/office/drawing/2014/main" val="1107784622"/>
                      </a:ext>
                    </a:extLst>
                  </a:tr>
                  <a:tr h="377355">
                    <a:tc>
                      <a:txBody>
                        <a:bodyPr/>
                        <a:lstStyle/>
                        <a:p>
                          <a:pPr algn="ctr">
                            <a:buNone/>
                          </a:pPr>
                          <a:r>
                            <a:rPr lang="en-IN" sz="900"/>
                            <a:t>5</a:t>
                          </a:r>
                        </a:p>
                      </a:txBody>
                      <a:tcPr marL="23451" marR="23451" marT="11725" marB="11725" anchor="ctr"/>
                    </a:tc>
                    <a:tc>
                      <a:txBody>
                        <a:bodyPr/>
                        <a:lstStyle/>
                        <a:p>
                          <a:pPr algn="ctr">
                            <a:buNone/>
                          </a:pPr>
                          <a:r>
                            <a:rPr lang="en-IN" sz="900"/>
                            <a:t>Cerqueira et al. (Front. Aquac.)</a:t>
                          </a:r>
                        </a:p>
                      </a:txBody>
                      <a:tcPr marL="23451" marR="23451" marT="11725" marB="11725" anchor="ctr"/>
                    </a:tc>
                    <a:tc>
                      <a:txBody>
                        <a:bodyPr/>
                        <a:lstStyle/>
                        <a:p>
                          <a:pPr algn="ctr">
                            <a:buNone/>
                          </a:pPr>
                          <a:r>
                            <a:rPr lang="en-IN" sz="900"/>
                            <a:t>2024</a:t>
                          </a:r>
                        </a:p>
                      </a:txBody>
                      <a:tcPr marL="23451" marR="23451" marT="11725" marB="11725" anchor="ctr"/>
                    </a:tc>
                    <a:tc>
                      <a:txBody>
                        <a:bodyPr/>
                        <a:lstStyle/>
                        <a:p>
                          <a:pPr algn="ctr">
                            <a:buNone/>
                          </a:pPr>
                          <a:r>
                            <a:rPr lang="en-IN" sz="900"/>
                            <a:t>Global autoregressive LightGBM (1–24 h)</a:t>
                          </a:r>
                        </a:p>
                      </a:txBody>
                      <a:tcPr marL="23451" marR="23451" marT="11725" marB="11725" anchor="ctr"/>
                    </a:tc>
                    <a:tc>
                      <a:txBody>
                        <a:bodyPr/>
                        <a:lstStyle/>
                        <a:p>
                          <a:pPr algn="ctr">
                            <a:buNone/>
                          </a:pPr>
                          <a:r>
                            <a:rPr lang="en-IN" sz="900"/>
                            <a:t>Event recall, FAR, Lead time</a:t>
                          </a:r>
                        </a:p>
                      </a:txBody>
                      <a:tcPr marL="23451" marR="23451" marT="11725" marB="11725" anchor="ctr"/>
                    </a:tc>
                    <a:tc>
                      <a:txBody>
                        <a:bodyPr/>
                        <a:lstStyle/>
                        <a:p>
                          <a:pPr algn="ctr">
                            <a:buNone/>
                          </a:pPr>
                          <a:r>
                            <a:rPr lang="en-IN" sz="900"/>
                            <a:t>Event recall 60–85% with 5–8 h anticipation; ocean salmon farms only.</a:t>
                          </a:r>
                        </a:p>
                      </a:txBody>
                      <a:tcPr marL="23451" marR="23451" marT="11725" marB="11725" anchor="ctr"/>
                    </a:tc>
                    <a:extLst>
                      <a:ext uri="{0D108BD9-81ED-4DB2-BD59-A6C34878D82A}">
                        <a16:rowId xmlns:a16="http://schemas.microsoft.com/office/drawing/2014/main" val="248709213"/>
                      </a:ext>
                    </a:extLst>
                  </a:tr>
                  <a:tr h="496358">
                    <a:tc>
                      <a:txBody>
                        <a:bodyPr/>
                        <a:lstStyle/>
                        <a:p>
                          <a:pPr algn="ctr">
                            <a:buNone/>
                          </a:pPr>
                          <a:r>
                            <a:rPr lang="en-IN" sz="900"/>
                            <a:t>6</a:t>
                          </a:r>
                        </a:p>
                      </a:txBody>
                      <a:tcPr marL="23451" marR="23451" marT="11725" marB="11725" anchor="ctr"/>
                    </a:tc>
                    <a:tc>
                      <a:txBody>
                        <a:bodyPr/>
                        <a:lstStyle/>
                        <a:p>
                          <a:pPr algn="ctr">
                            <a:buNone/>
                          </a:pPr>
                          <a:r>
                            <a:rPr lang="en-IN" sz="900"/>
                            <a:t>Simonetti et al. (STOTEN)</a:t>
                          </a:r>
                        </a:p>
                      </a:txBody>
                      <a:tcPr marL="23451" marR="23451" marT="11725" marB="11725" anchor="ctr"/>
                    </a:tc>
                    <a:tc>
                      <a:txBody>
                        <a:bodyPr/>
                        <a:lstStyle/>
                        <a:p>
                          <a:pPr algn="ctr">
                            <a:buNone/>
                          </a:pPr>
                          <a:r>
                            <a:rPr lang="en-IN" sz="900"/>
                            <a:t>2024</a:t>
                          </a:r>
                        </a:p>
                      </a:txBody>
                      <a:tcPr marL="23451" marR="23451" marT="11725" marB="11725" anchor="ctr"/>
                    </a:tc>
                    <a:tc>
                      <a:txBody>
                        <a:bodyPr/>
                        <a:lstStyle/>
                        <a:p>
                          <a:pPr algn="ctr">
                            <a:buNone/>
                          </a:pPr>
                          <a:r>
                            <a:rPr lang="en-IN" sz="900" dirty="0"/>
                            <a:t>Hydrodynamic model coupled with RF</a:t>
                          </a:r>
                        </a:p>
                      </a:txBody>
                      <a:tcPr marL="23451" marR="23451" marT="11725" marB="11725" anchor="ctr"/>
                    </a:tc>
                    <a:tc>
                      <a:txBody>
                        <a:bodyPr/>
                        <a:lstStyle/>
                        <a:p>
                          <a:pPr algn="ctr">
                            <a:buNone/>
                          </a:pPr>
                          <a:r>
                            <a:rPr lang="en-IN" sz="900"/>
                            <a:t>Accuracy, Severe-hypoxia score</a:t>
                          </a:r>
                        </a:p>
                      </a:txBody>
                      <a:tcPr marL="23451" marR="23451" marT="11725" marB="11725" anchor="ctr"/>
                    </a:tc>
                    <a:tc>
                      <a:txBody>
                        <a:bodyPr/>
                        <a:lstStyle/>
                        <a:p>
                          <a:pPr algn="ctr">
                            <a:buNone/>
                          </a:pPr>
                          <a:r>
                            <a:rPr lang="en-IN" sz="900" dirty="0"/>
                            <a:t>Coastal lagoon; 91% accuracy; single site; accuracy metric distorted by imbalance.</a:t>
                          </a:r>
                        </a:p>
                      </a:txBody>
                      <a:tcPr marL="23451" marR="23451" marT="11725" marB="11725" anchor="ctr"/>
                    </a:tc>
                    <a:extLst>
                      <a:ext uri="{0D108BD9-81ED-4DB2-BD59-A6C34878D82A}">
                        <a16:rowId xmlns:a16="http://schemas.microsoft.com/office/drawing/2014/main" val="4204709301"/>
                      </a:ext>
                    </a:extLst>
                  </a:tr>
                  <a:tr h="496358">
                    <a:tc>
                      <a:txBody>
                        <a:bodyPr/>
                        <a:lstStyle/>
                        <a:p>
                          <a:pPr algn="ctr">
                            <a:buNone/>
                          </a:pPr>
                          <a:r>
                            <a:rPr lang="en-IN" sz="900"/>
                            <a:t>7</a:t>
                          </a:r>
                        </a:p>
                      </a:txBody>
                      <a:tcPr marL="23451" marR="23451" marT="11725" marB="11725" anchor="ctr"/>
                    </a:tc>
                    <a:tc>
                      <a:txBody>
                        <a:bodyPr/>
                        <a:lstStyle/>
                        <a:p>
                          <a:pPr algn="ctr">
                            <a:buNone/>
                          </a:pPr>
                          <a:r>
                            <a:rPr lang="en-IN" sz="900"/>
                            <a:t>Zhao &amp; Chen (PLOS ONE)</a:t>
                          </a:r>
                        </a:p>
                      </a:txBody>
                      <a:tcPr marL="23451" marR="23451" marT="11725" marB="11725" anchor="ctr"/>
                    </a:tc>
                    <a:tc>
                      <a:txBody>
                        <a:bodyPr/>
                        <a:lstStyle/>
                        <a:p>
                          <a:pPr algn="ctr">
                            <a:buNone/>
                          </a:pPr>
                          <a:r>
                            <a:rPr lang="en-IN" sz="900"/>
                            <a:t>2025</a:t>
                          </a:r>
                        </a:p>
                      </a:txBody>
                      <a:tcPr marL="23451" marR="23451" marT="11725" marB="11725" anchor="ctr"/>
                    </a:tc>
                    <a:tc>
                      <a:txBody>
                        <a:bodyPr/>
                        <a:lstStyle/>
                        <a:p>
                          <a:pPr algn="ctr">
                            <a:buNone/>
                          </a:pPr>
                          <a:r>
                            <a:rPr lang="en-IN" sz="900"/>
                            <a:t>DWT denoising, KPCA, GWO-optimized XGBoost</a:t>
                          </a:r>
                        </a:p>
                      </a:txBody>
                      <a:tcPr marL="23451" marR="23451" marT="11725" marB="11725" anchor="ctr"/>
                    </a:tc>
                    <a:tc>
                      <a:txBody>
                        <a:bodyPr/>
                        <a:lstStyle/>
                        <a:p>
                          <a:pPr algn="ctr">
                            <a:buNone/>
                          </a:pPr>
                          <a:r>
                            <a:rPr lang="en-IN" sz="900" dirty="0"/>
                            <a:t>MAE, MSE, MAPE, NSE, KGE</a:t>
                          </a:r>
                        </a:p>
                      </a:txBody>
                      <a:tcPr marL="23451" marR="23451" marT="11725" marB="11725" anchor="ctr"/>
                    </a:tc>
                    <a:tc>
                      <a:txBody>
                        <a:bodyPr/>
                        <a:lstStyle/>
                        <a:p>
                          <a:pPr algn="ctr">
                            <a:buNone/>
                          </a:pPr>
                          <a:r>
                            <a:rPr lang="en-IN" sz="900" dirty="0"/>
                            <a:t>Multi-source meteorological inputs improve regression (NSE 0.78–0.90); no early warning test.</a:t>
                          </a:r>
                        </a:p>
                      </a:txBody>
                      <a:tcPr marL="23451" marR="23451" marT="11725" marB="11725" anchor="ctr"/>
                    </a:tc>
                    <a:extLst>
                      <a:ext uri="{0D108BD9-81ED-4DB2-BD59-A6C34878D82A}">
                        <a16:rowId xmlns:a16="http://schemas.microsoft.com/office/drawing/2014/main" val="3588063779"/>
                      </a:ext>
                    </a:extLst>
                  </a:tr>
                  <a:tr h="377355">
                    <a:tc>
                      <a:txBody>
                        <a:bodyPr/>
                        <a:lstStyle/>
                        <a:p>
                          <a:pPr algn="ctr">
                            <a:buNone/>
                          </a:pPr>
                          <a:r>
                            <a:rPr lang="en-IN" sz="900"/>
                            <a:t>8</a:t>
                          </a:r>
                        </a:p>
                      </a:txBody>
                      <a:tcPr marL="23451" marR="23451" marT="11725" marB="11725" anchor="ctr"/>
                    </a:tc>
                    <a:tc>
                      <a:txBody>
                        <a:bodyPr/>
                        <a:lstStyle/>
                        <a:p>
                          <a:pPr algn="ctr">
                            <a:buNone/>
                          </a:pPr>
                          <a:r>
                            <a:rPr lang="en-IN" sz="900"/>
                            <a:t>Merabet et al. (Earth Sci. Inf.)</a:t>
                          </a:r>
                        </a:p>
                      </a:txBody>
                      <a:tcPr marL="23451" marR="23451" marT="11725" marB="11725" anchor="ctr"/>
                    </a:tc>
                    <a:tc>
                      <a:txBody>
                        <a:bodyPr/>
                        <a:lstStyle/>
                        <a:p>
                          <a:pPr algn="ctr">
                            <a:buNone/>
                          </a:pPr>
                          <a:r>
                            <a:rPr lang="en-IN" sz="900"/>
                            <a:t>2025</a:t>
                          </a:r>
                        </a:p>
                      </a:txBody>
                      <a:tcPr marL="23451" marR="23451" marT="11725" marB="11725" anchor="ctr"/>
                    </a:tc>
                    <a:tc>
                      <a:txBody>
                        <a:bodyPr/>
                        <a:lstStyle/>
                        <a:p>
                          <a:pPr algn="ctr">
                            <a:buNone/>
                          </a:pPr>
                          <a:r>
                            <a:rPr lang="en-IN" sz="900"/>
                            <a:t>CatBoost, LightGBM, NGBoost, XGBoost; SHAP</a:t>
                          </a:r>
                        </a:p>
                      </a:txBody>
                      <a:tcPr marL="23451" marR="23451" marT="11725" marB="11725" anchor="ctr"/>
                    </a:tc>
                    <a:tc>
                      <a:txBody>
                        <a:bodyPr/>
                        <a:lstStyle/>
                        <a:p>
                          <a:endParaRPr lang="en-US"/>
                        </a:p>
                      </a:txBody>
                      <a:tcPr marL="23451" marR="23451" marT="11725" marB="11725" anchor="ctr">
                        <a:blipFill>
                          <a:blip r:embed="rId2"/>
                          <a:stretch>
                            <a:fillRect l="-357078" t="-937097" r="-161644" b="-303226"/>
                          </a:stretch>
                        </a:blipFill>
                      </a:tcPr>
                    </a:tc>
                    <a:tc>
                      <a:txBody>
                        <a:bodyPr/>
                        <a:lstStyle/>
                        <a:p>
                          <a:pPr algn="ctr">
                            <a:buNone/>
                          </a:pPr>
                          <a:r>
                            <a:rPr lang="en-IN" sz="900" dirty="0"/>
                            <a:t>DO highly predictable (NSE 0.961); global/local SHAP analysis; regression focus.</a:t>
                          </a:r>
                        </a:p>
                      </a:txBody>
                      <a:tcPr marL="23451" marR="23451" marT="11725" marB="11725" anchor="ctr"/>
                    </a:tc>
                    <a:extLst>
                      <a:ext uri="{0D108BD9-81ED-4DB2-BD59-A6C34878D82A}">
                        <a16:rowId xmlns:a16="http://schemas.microsoft.com/office/drawing/2014/main" val="3014212158"/>
                      </a:ext>
                    </a:extLst>
                  </a:tr>
                  <a:tr h="615356">
                    <a:tc>
                      <a:txBody>
                        <a:bodyPr/>
                        <a:lstStyle/>
                        <a:p>
                          <a:pPr algn="ctr">
                            <a:buNone/>
                          </a:pPr>
                          <a:r>
                            <a:rPr lang="en-IN" sz="900"/>
                            <a:t>9</a:t>
                          </a:r>
                        </a:p>
                      </a:txBody>
                      <a:tcPr marL="23451" marR="23451" marT="11725" marB="11725" anchor="ctr"/>
                    </a:tc>
                    <a:tc>
                      <a:txBody>
                        <a:bodyPr/>
                        <a:lstStyle/>
                        <a:p>
                          <a:pPr algn="ctr">
                            <a:buNone/>
                          </a:pPr>
                          <a:r>
                            <a:rPr lang="en-IN" sz="900"/>
                            <a:t>Choudhary et al. (Sci. Reports)</a:t>
                          </a:r>
                        </a:p>
                      </a:txBody>
                      <a:tcPr marL="23451" marR="23451" marT="11725" marB="11725" anchor="ctr"/>
                    </a:tc>
                    <a:tc>
                      <a:txBody>
                        <a:bodyPr/>
                        <a:lstStyle/>
                        <a:p>
                          <a:pPr algn="ctr">
                            <a:buNone/>
                          </a:pPr>
                          <a:r>
                            <a:rPr lang="en-IN" sz="900"/>
                            <a:t>2025</a:t>
                          </a:r>
                        </a:p>
                      </a:txBody>
                      <a:tcPr marL="23451" marR="23451" marT="11725" marB="11725" anchor="ctr"/>
                    </a:tc>
                    <a:tc>
                      <a:txBody>
                        <a:bodyPr/>
                        <a:lstStyle/>
                        <a:p>
                          <a:pPr algn="ctr">
                            <a:buNone/>
                          </a:pPr>
                          <a:r>
                            <a:rPr lang="en-IN" sz="900"/>
                            <a:t>Stacking of 6 tree ensembles with linear meta-learner</a:t>
                          </a:r>
                        </a:p>
                      </a:txBody>
                      <a:tcPr marL="23451" marR="23451" marT="11725" marB="11725" anchor="ctr"/>
                    </a:tc>
                    <a:tc>
                      <a:txBody>
                        <a:bodyPr/>
                        <a:lstStyle/>
                        <a:p>
                          <a:endParaRPr lang="en-US"/>
                        </a:p>
                      </a:txBody>
                      <a:tcPr marL="23451" marR="23451" marT="11725" marB="11725" anchor="ctr">
                        <a:blipFill>
                          <a:blip r:embed="rId2"/>
                          <a:stretch>
                            <a:fillRect l="-357078" t="-636634" r="-161644" b="-86139"/>
                          </a:stretch>
                        </a:blipFill>
                      </a:tcPr>
                    </a:tc>
                    <a:tc>
                      <a:txBody>
                        <a:bodyPr/>
                        <a:lstStyle/>
                        <a:p>
                          <a:endParaRPr lang="en-US"/>
                        </a:p>
                      </a:txBody>
                      <a:tcPr marL="23451" marR="23451" marT="11725" marB="11725" anchor="ctr">
                        <a:blipFill>
                          <a:blip r:embed="rId2"/>
                          <a:stretch>
                            <a:fillRect l="-285185" t="-636634" r="-855" b="-86139"/>
                          </a:stretch>
                        </a:blipFill>
                      </a:tcPr>
                    </a:tc>
                    <a:extLst>
                      <a:ext uri="{0D108BD9-81ED-4DB2-BD59-A6C34878D82A}">
                        <a16:rowId xmlns:a16="http://schemas.microsoft.com/office/drawing/2014/main" val="3088878448"/>
                      </a:ext>
                    </a:extLst>
                  </a:tr>
                  <a:tr h="496358">
                    <a:tc>
                      <a:txBody>
                        <a:bodyPr/>
                        <a:lstStyle/>
                        <a:p>
                          <a:pPr algn="ctr">
                            <a:buNone/>
                          </a:pPr>
                          <a:r>
                            <a:rPr lang="en-IN" sz="900" dirty="0"/>
                            <a:t>10</a:t>
                          </a:r>
                        </a:p>
                      </a:txBody>
                      <a:tcPr marL="23451" marR="23451" marT="11725" marB="11725" anchor="ctr"/>
                    </a:tc>
                    <a:tc>
                      <a:txBody>
                        <a:bodyPr/>
                        <a:lstStyle/>
                        <a:p>
                          <a:pPr algn="ctr">
                            <a:buNone/>
                          </a:pPr>
                          <a:r>
                            <a:rPr lang="en-IN" sz="900"/>
                            <a:t>Benchmark Base Paper (J. Hydrology)</a:t>
                          </a:r>
                        </a:p>
                      </a:txBody>
                      <a:tcPr marL="23451" marR="23451" marT="11725" marB="11725" anchor="ctr"/>
                    </a:tc>
                    <a:tc>
                      <a:txBody>
                        <a:bodyPr/>
                        <a:lstStyle/>
                        <a:p>
                          <a:pPr algn="ctr">
                            <a:buNone/>
                          </a:pPr>
                          <a:r>
                            <a:rPr lang="en-IN" sz="900"/>
                            <a:t>2026</a:t>
                          </a:r>
                        </a:p>
                      </a:txBody>
                      <a:tcPr marL="23451" marR="23451" marT="11725" marB="11725" anchor="ctr"/>
                    </a:tc>
                    <a:tc>
                      <a:txBody>
                        <a:bodyPr/>
                        <a:lstStyle/>
                        <a:p>
                          <a:pPr algn="ctr">
                            <a:buNone/>
                          </a:pPr>
                          <a:r>
                            <a:rPr lang="en-IN" sz="900" dirty="0"/>
                            <a:t>LSTM + Transformer + MLP gated fusion</a:t>
                          </a:r>
                        </a:p>
                      </a:txBody>
                      <a:tcPr marL="23451" marR="23451" marT="11725" marB="11725" anchor="ctr"/>
                    </a:tc>
                    <a:tc>
                      <a:txBody>
                        <a:bodyPr/>
                        <a:lstStyle/>
                        <a:p>
                          <a:pPr algn="ctr">
                            <a:buNone/>
                          </a:pPr>
                          <a:r>
                            <a:rPr lang="en-IN" sz="900"/>
                            <a:t>NSE, RMSE, MAE, interval coverage</a:t>
                          </a:r>
                        </a:p>
                      </a:txBody>
                      <a:tcPr marL="23451" marR="23451" marT="11725" marB="11725" anchor="ctr"/>
                    </a:tc>
                    <a:tc>
                      <a:txBody>
                        <a:bodyPr/>
                        <a:lstStyle/>
                        <a:p>
                          <a:pPr algn="ctr">
                            <a:buNone/>
                          </a:pPr>
                          <a:r>
                            <a:rPr lang="en-IN" sz="900" dirty="0"/>
                            <a:t>Gated multimodal fusion for value forecasting; risk of temporal leakage via block splits.</a:t>
                          </a:r>
                        </a:p>
                      </a:txBody>
                      <a:tcPr marL="23451" marR="23451" marT="11725" marB="11725" anchor="ctr"/>
                    </a:tc>
                    <a:extLst>
                      <a:ext uri="{0D108BD9-81ED-4DB2-BD59-A6C34878D82A}">
                        <a16:rowId xmlns:a16="http://schemas.microsoft.com/office/drawing/2014/main" val="1028422351"/>
                      </a:ext>
                    </a:extLst>
                  </a:tr>
                </a:tbl>
              </a:graphicData>
            </a:graphic>
          </p:graphicFram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8"/>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IN"/>
              <a:t>Problem Statement</a:t>
            </a:r>
          </a:p>
        </p:txBody>
      </p:sp>
      <p:sp>
        <p:nvSpPr>
          <p:cNvPr id="141" name="Google Shape;141;p8"/>
          <p:cNvSpPr txBox="1">
            <a:spLocks noGrp="1"/>
          </p:cNvSpPr>
          <p:nvPr>
            <p:ph type="body" idx="1"/>
          </p:nvPr>
        </p:nvSpPr>
        <p:spPr>
          <a:xfrm>
            <a:off x="457200" y="1600200"/>
            <a:ext cx="8229600" cy="4525963"/>
          </a:xfrm>
          <a:noFill/>
          <a:ln>
            <a:noFill/>
          </a:ln>
        </p:spPr>
        <p:txBody>
          <a:bodyPr spcFirstLastPara="1" wrap="square" lIns="91425" tIns="45700" rIns="91425" bIns="45700" anchor="t" anchorCtr="0">
            <a:normAutofit/>
          </a:bodyPr>
          <a:lstStyle/>
          <a:p>
            <a:pPr lvl="0"/>
            <a:r>
              <a:rPr lang="en-IN" dirty="0"/>
              <a:t>Operational Blindspot: Standard river water-quality monitoring detects hypoxia only post-occurrence, preventing </a:t>
            </a:r>
            <a:r>
              <a:rPr lang="en-IN" dirty="0" err="1"/>
              <a:t>preemptive</a:t>
            </a:r>
            <a:r>
              <a:rPr lang="en-IN" dirty="0"/>
              <a:t> ecological intervention.</a:t>
            </a:r>
          </a:p>
          <a:p>
            <a:pPr lvl="0"/>
            <a:r>
              <a:rPr lang="en-IN" dirty="0"/>
              <a:t>Shortcomings in Prior Art: </a:t>
            </a:r>
          </a:p>
          <a:p>
            <a:pPr lvl="1"/>
            <a:r>
              <a:rPr lang="en-IN" sz="1600" dirty="0"/>
              <a:t>Task Mismatch: Existing literature focuses predominantly on continuous DO value prediction (minimizing RMSE/MAE) rather than alerting to discrete threshold-crossing event onsets.</a:t>
            </a:r>
          </a:p>
          <a:p>
            <a:pPr lvl="1"/>
            <a:r>
              <a:rPr lang="en-IN" sz="1600" dirty="0"/>
              <a:t>Evaluation Flaws: Common cross-validation or random/block splits introduce temporal data leakage, creating artificially optimistic accuracy.</a:t>
            </a:r>
          </a:p>
          <a:p>
            <a:pPr lvl="1"/>
            <a:r>
              <a:rPr lang="en-IN" sz="1600" dirty="0"/>
              <a:t>Unquantified Multimodality: The assumption that auxiliary atmospheric/weather data improves DO forecasting is rarely verified via rigorous modality ablation.</a:t>
            </a:r>
          </a:p>
        </p:txBody>
      </p:sp>
      <p:sp>
        <p:nvSpPr>
          <p:cNvPr id="142" name="Google Shape;142;p8"/>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IN"/>
              <a:t>Objectives</a:t>
            </a:r>
          </a:p>
        </p:txBody>
      </p:sp>
      <mc:AlternateContent xmlns:mc="http://schemas.openxmlformats.org/markup-compatibility/2006" xmlns:a14="http://schemas.microsoft.com/office/drawing/2010/main">
        <mc:Choice Requires="a14">
          <p:sp>
            <p:nvSpPr>
              <p:cNvPr id="134" name="Google Shape;134;p7"/>
              <p:cNvSpPr txBox="1">
                <a:spLocks noGrp="1"/>
              </p:cNvSpPr>
              <p:nvPr>
                <p:ph type="body" idx="1"/>
              </p:nvPr>
            </p:nvSpPr>
            <p:spPr>
              <a:xfrm>
                <a:off x="457200" y="1600200"/>
                <a:ext cx="8229600" cy="4525963"/>
              </a:xfrm>
              <a:noFill/>
              <a:ln>
                <a:noFill/>
              </a:ln>
            </p:spPr>
            <p:txBody>
              <a:bodyPr spcFirstLastPara="1" wrap="square" lIns="91425" tIns="45700" rIns="91425" bIns="45700" anchor="t" anchorCtr="0">
                <a:noAutofit/>
              </a:bodyPr>
              <a:lstStyle/>
              <a:p>
                <a:pPr lvl="0"/>
                <a:r>
                  <a:rPr lang="en-IN" dirty="0"/>
                  <a:t>Objective 1 — Formal Event Definition: Formulate a clinically sound deterioration criterion (</a:t>
                </a:r>
                <a14:m>
                  <m:oMath xmlns:m="http://schemas.openxmlformats.org/officeDocument/2006/math">
                    <m:r>
                      <m:rPr>
                        <m:nor/>
                      </m:rPr>
                      <a:rPr lang="en-IN" i="0"/>
                      <m:t>DO</m:t>
                    </m:r>
                    <m:r>
                      <a:rPr lang="en-IN">
                        <a:latin typeface="Cambria Math" panose="02040503050406030204" pitchFamily="18" charset="0"/>
                      </a:rPr>
                      <m:t>&lt;5.0</m:t>
                    </m:r>
                    <m:r>
                      <m:rPr>
                        <m:nor/>
                      </m:rPr>
                      <a:rPr lang="en-IN" i="0"/>
                      <m:t> mg/L</m:t>
                    </m:r>
                  </m:oMath>
                </a14:m>
                <a:r>
                  <a:rPr lang="en-IN" dirty="0"/>
                  <a:t>) enforced with a 24-hour healthy precondition (</a:t>
                </a:r>
                <a14:m>
                  <m:oMath xmlns:m="http://schemas.openxmlformats.org/officeDocument/2006/math">
                    <m:r>
                      <m:rPr>
                        <m:nor/>
                      </m:rPr>
                      <a:rPr lang="en-IN" i="0"/>
                      <m:t>DO</m:t>
                    </m:r>
                    <m:r>
                      <a:rPr lang="en-IN">
                        <a:latin typeface="Cambria Math" panose="02040503050406030204" pitchFamily="18" charset="0"/>
                      </a:rPr>
                      <m:t>≥5.0</m:t>
                    </m:r>
                    <m:r>
                      <m:rPr>
                        <m:nor/>
                      </m:rPr>
                      <a:rPr lang="en-IN" i="0"/>
                      <m:t> mg/L</m:t>
                    </m:r>
                  </m:oMath>
                </a14:m>
                <a:r>
                  <a:rPr lang="en-IN" dirty="0"/>
                  <a:t>) to eliminate false alarms during ongoing hypoxic periods.</a:t>
                </a:r>
              </a:p>
              <a:p>
                <a:pPr lvl="0"/>
                <a:r>
                  <a:rPr lang="en-IN" dirty="0"/>
                  <a:t>Objective 2 — Probabilistic Event-Onset Forecasting: Develop machine learning models to predict event onsets across four operational horizons: </a:t>
                </a:r>
                <a14:m>
                  <m:oMath xmlns:m="http://schemas.openxmlformats.org/officeDocument/2006/math">
                    <m:r>
                      <a:rPr lang="en-IN">
                        <a:latin typeface="Cambria Math" panose="02040503050406030204" pitchFamily="18" charset="0"/>
                      </a:rPr>
                      <m:t>𝐻</m:t>
                    </m:r>
                    <m:r>
                      <a:rPr lang="en-IN">
                        <a:latin typeface="Cambria Math" panose="02040503050406030204" pitchFamily="18" charset="0"/>
                      </a:rPr>
                      <m:t>∈</m:t>
                    </m:r>
                    <m:d>
                      <m:dPr>
                        <m:begChr m:val="{"/>
                        <m:endChr m:val="}"/>
                        <m:sepChr m:val=","/>
                        <m:ctrlPr>
                          <a:rPr lang="en-IN">
                            <a:latin typeface="Cambria Math" panose="02040503050406030204" pitchFamily="18" charset="0"/>
                          </a:rPr>
                        </m:ctrlPr>
                      </m:dPr>
                      <m:e>
                        <m:r>
                          <a:rPr lang="en-IN">
                            <a:latin typeface="Cambria Math" panose="02040503050406030204" pitchFamily="18" charset="0"/>
                          </a:rPr>
                          <m:t>6</m:t>
                        </m:r>
                      </m:e>
                      <m:e>
                        <m:r>
                          <a:rPr lang="en-IN">
                            <a:latin typeface="Cambria Math" panose="02040503050406030204" pitchFamily="18" charset="0"/>
                          </a:rPr>
                          <m:t>12</m:t>
                        </m:r>
                      </m:e>
                      <m:e>
                        <m:r>
                          <a:rPr lang="en-IN">
                            <a:latin typeface="Cambria Math" panose="02040503050406030204" pitchFamily="18" charset="0"/>
                          </a:rPr>
                          <m:t>24</m:t>
                        </m:r>
                      </m:e>
                      <m:e>
                        <m:r>
                          <a:rPr lang="en-IN">
                            <a:latin typeface="Cambria Math" panose="02040503050406030204" pitchFamily="18" charset="0"/>
                          </a:rPr>
                          <m:t>48</m:t>
                        </m:r>
                      </m:e>
                    </m:d>
                    <m:r>
                      <m:rPr>
                        <m:nor/>
                      </m:rPr>
                      <a:rPr lang="en-IN" i="0"/>
                      <m:t> hours</m:t>
                    </m:r>
                  </m:oMath>
                </a14:m>
                <a:r>
                  <a:rPr lang="en-IN" dirty="0"/>
                  <a:t>.</a:t>
                </a:r>
              </a:p>
              <a:p>
                <a:pPr lvl="0"/>
                <a:r>
                  <a:rPr lang="en-IN" dirty="0"/>
                  <a:t>Objective 3 — Modality Contribution Ablation: Quantify the exact empirical value of meteorological (ERA5) and atmospheric (CAMS) inputs through controlled single-modality and multi-modality ablation experiments.</a:t>
                </a:r>
              </a:p>
              <a:p>
                <a:pPr lvl="0"/>
                <a:r>
                  <a:rPr lang="en-IN" dirty="0"/>
                  <a:t>Objective 4 — Fusion Architecture Comparison: Systematically benchmark feature-level concatenation (Early Fusion) against stacked decision-level meta-learning (Late Fusion).</a:t>
                </a:r>
              </a:p>
              <a:p>
                <a:pPr lvl="0"/>
                <a:r>
                  <a:rPr lang="en-IN" dirty="0"/>
                  <a:t>Objective 5 — Explainability &amp; Lead-Time Quantification: Implement </a:t>
                </a:r>
                <a:r>
                  <a:rPr lang="en-IN" dirty="0" err="1"/>
                  <a:t>TreeSHAP</a:t>
                </a:r>
                <a:r>
                  <a:rPr lang="en-IN" dirty="0"/>
                  <a:t> for global/local attribution and quantify the net operational lead time (</a:t>
                </a:r>
                <a14:m>
                  <m:oMath xmlns:m="http://schemas.openxmlformats.org/officeDocument/2006/math">
                    <m:r>
                      <m:rPr>
                        <m:sty m:val="p"/>
                      </m:rPr>
                      <a:rPr lang="en-IN">
                        <a:latin typeface="Cambria Math" panose="02040503050406030204" pitchFamily="18" charset="0"/>
                      </a:rPr>
                      <m:t>ℓ</m:t>
                    </m:r>
                    <m:r>
                      <a:rPr lang="en-IN">
                        <a:latin typeface="Cambria Math" panose="02040503050406030204" pitchFamily="18" charset="0"/>
                      </a:rPr>
                      <m:t>=</m:t>
                    </m:r>
                    <m:sSub>
                      <m:sSubPr>
                        <m:ctrlPr>
                          <a:rPr lang="en-IN">
                            <a:latin typeface="Cambria Math" panose="02040503050406030204" pitchFamily="18" charset="0"/>
                          </a:rPr>
                        </m:ctrlPr>
                      </m:sSubPr>
                      <m:e>
                        <m:r>
                          <a:rPr lang="en-IN">
                            <a:latin typeface="Cambria Math" panose="02040503050406030204" pitchFamily="18" charset="0"/>
                          </a:rPr>
                          <m:t>𝑡</m:t>
                        </m:r>
                      </m:e>
                      <m:sub>
                        <m:r>
                          <m:rPr>
                            <m:nor/>
                          </m:rPr>
                          <a:rPr lang="en-IN" i="0"/>
                          <m:t>onset</m:t>
                        </m:r>
                      </m:sub>
                    </m:sSub>
                    <m:r>
                      <a:rPr lang="en-IN">
                        <a:latin typeface="Cambria Math" panose="02040503050406030204" pitchFamily="18" charset="0"/>
                      </a:rPr>
                      <m:t>−</m:t>
                    </m:r>
                    <m:sSub>
                      <m:sSubPr>
                        <m:ctrlPr>
                          <a:rPr lang="en-IN">
                            <a:latin typeface="Cambria Math" panose="02040503050406030204" pitchFamily="18" charset="0"/>
                          </a:rPr>
                        </m:ctrlPr>
                      </m:sSubPr>
                      <m:e>
                        <m:r>
                          <a:rPr lang="en-IN">
                            <a:latin typeface="Cambria Math" panose="02040503050406030204" pitchFamily="18" charset="0"/>
                          </a:rPr>
                          <m:t>𝑡</m:t>
                        </m:r>
                      </m:e>
                      <m:sub>
                        <m:r>
                          <m:rPr>
                            <m:nor/>
                          </m:rPr>
                          <a:rPr lang="en-IN" i="0"/>
                          <m:t>warning</m:t>
                        </m:r>
                      </m:sub>
                    </m:sSub>
                  </m:oMath>
                </a14:m>
                <a:r>
                  <a:rPr lang="en-IN" dirty="0"/>
                  <a:t>) over standard threshold rules.</a:t>
                </a:r>
              </a:p>
              <a:p>
                <a:pPr lvl="0"/>
                <a:r>
                  <a:rPr lang="en-IN" dirty="0"/>
                  <a:t>Objective 6 — Leakage-Free Validation &amp; Deployment: Enforce a strict multi-year temporal split (Train: 2023, Tune: 2024, Frozen Test: 2025) and deliver an interactive real-time </a:t>
                </a:r>
                <a:r>
                  <a:rPr lang="en-IN" dirty="0" err="1"/>
                  <a:t>Streamlit</a:t>
                </a:r>
                <a:r>
                  <a:rPr lang="en-IN" dirty="0"/>
                  <a:t> dashboard.</a:t>
                </a:r>
              </a:p>
            </p:txBody>
          </p:sp>
        </mc:Choice>
        <mc:Fallback xmlns="">
          <p:sp>
            <p:nvSpPr>
              <p:cNvPr id="134" name="Google Shape;134;p7"/>
              <p:cNvSpPr txBox="1">
                <a:spLocks noGrp="1" noRot="1" noChangeAspect="1" noMove="1" noResize="1" noEditPoints="1" noAdjustHandles="1" noChangeArrowheads="1" noChangeShapeType="1" noTextEdit="1"/>
              </p:cNvSpPr>
              <p:nvPr>
                <p:ph type="body" idx="1"/>
              </p:nvPr>
            </p:nvSpPr>
            <p:spPr>
              <a:xfrm>
                <a:off x="457200" y="1600200"/>
                <a:ext cx="8229600" cy="4525963"/>
              </a:xfrm>
              <a:blipFill>
                <a:blip r:embed="rId3"/>
                <a:stretch>
                  <a:fillRect r="-370"/>
                </a:stretch>
              </a:blipFill>
              <a:ln>
                <a:noFill/>
              </a:ln>
            </p:spPr>
            <p:txBody>
              <a:bodyPr/>
              <a:lstStyle/>
              <a:p>
                <a:r>
                  <a:rPr lang="en-IN">
                    <a:noFill/>
                  </a:rPr>
                  <a:t> </a:t>
                </a:r>
              </a:p>
            </p:txBody>
          </p:sp>
        </mc:Fallback>
      </mc:AlternateContent>
      <p:sp>
        <p:nvSpPr>
          <p:cNvPr id="135" name="Google Shape;135;p7"/>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9"/>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IN" dirty="0"/>
              <a:t>Proposed Work</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959B225F-E9E9-41B7-9BA6-5129DCABA2A9}"/>
                  </a:ext>
                </a:extLst>
              </p:cNvPr>
              <p:cNvSpPr>
                <a:spLocks noGrp="1"/>
              </p:cNvSpPr>
              <p:nvPr>
                <p:ph type="body" idx="1"/>
              </p:nvPr>
            </p:nvSpPr>
            <p:spPr>
              <a:xfrm>
                <a:off x="457200" y="1413387"/>
                <a:ext cx="8229600" cy="4525963"/>
              </a:xfrm>
            </p:spPr>
            <p:txBody>
              <a:bodyPr>
                <a:noAutofit/>
              </a:bodyPr>
              <a:lstStyle/>
              <a:p>
                <a:pPr lvl="0"/>
                <a:r>
                  <a:rPr lang="en-IN" dirty="0"/>
                  <a:t>Data Integration Pipeline: Harmonizes three disparate multi-source streams at an hourly UTC cadence across 15 USGS monitoring stations: </a:t>
                </a:r>
              </a:p>
              <a:p>
                <a:pPr lvl="1"/>
                <a:r>
                  <a:rPr lang="en-IN" sz="1600" dirty="0"/>
                  <a:t>In-situ water sensors: Dissolved Oxygen, Water Temperature, Specific Conductance, pH, Turbidity, Discharge.</a:t>
                </a:r>
              </a:p>
              <a:p>
                <a:pPr lvl="1"/>
                <a:r>
                  <a:rPr lang="en-IN" sz="1600" dirty="0"/>
                  <a:t>Meteorological reanalysis (ERA5): Air temperature, dew point, surface solar radiation, total precipitation, surface pressure, 10m wind.</a:t>
                </a:r>
              </a:p>
              <a:p>
                <a:pPr lvl="1"/>
                <a:r>
                  <a:rPr lang="en-IN" sz="1600" dirty="0"/>
                  <a:t>Atmospheric composition (CAMS): Particulate matter (</a:t>
                </a:r>
                <a14:m>
                  <m:oMath xmlns:m="http://schemas.openxmlformats.org/officeDocument/2006/math">
                    <m:sSub>
                      <m:sSubPr>
                        <m:ctrlPr>
                          <a:rPr lang="en-IN" sz="1600" i="0"/>
                        </m:ctrlPr>
                      </m:sSubPr>
                      <m:e>
                        <m:r>
                          <m:rPr>
                            <m:nor/>
                          </m:rPr>
                          <a:rPr lang="en-IN" sz="1600" i="0"/>
                          <m:t>PM</m:t>
                        </m:r>
                      </m:e>
                      <m:sub>
                        <m:r>
                          <a:rPr lang="en-IN" sz="1600">
                            <a:latin typeface="Cambria Math" panose="02040503050406030204" pitchFamily="18" charset="0"/>
                          </a:rPr>
                          <m:t>2.5</m:t>
                        </m:r>
                      </m:sub>
                    </m:sSub>
                    <m:r>
                      <a:rPr lang="en-IN" sz="1600">
                        <a:latin typeface="Cambria Math" panose="02040503050406030204" pitchFamily="18" charset="0"/>
                      </a:rPr>
                      <m:t>,</m:t>
                    </m:r>
                    <m:sSub>
                      <m:sSubPr>
                        <m:ctrlPr>
                          <a:rPr lang="en-IN" sz="1600" i="0"/>
                        </m:ctrlPr>
                      </m:sSubPr>
                      <m:e>
                        <m:r>
                          <m:rPr>
                            <m:nor/>
                          </m:rPr>
                          <a:rPr lang="en-IN" sz="1600" i="0"/>
                          <m:t>PM</m:t>
                        </m:r>
                      </m:e>
                      <m:sub>
                        <m:r>
                          <a:rPr lang="en-IN" sz="1600">
                            <a:latin typeface="Cambria Math" panose="02040503050406030204" pitchFamily="18" charset="0"/>
                          </a:rPr>
                          <m:t>10</m:t>
                        </m:r>
                      </m:sub>
                    </m:sSub>
                  </m:oMath>
                </a14:m>
                <a:r>
                  <a:rPr lang="en-IN" sz="1600" dirty="0"/>
                  <a:t>), </a:t>
                </a:r>
                <a14:m>
                  <m:oMath xmlns:m="http://schemas.openxmlformats.org/officeDocument/2006/math">
                    <m:sSub>
                      <m:sSubPr>
                        <m:ctrlPr>
                          <a:rPr lang="en-IN" sz="1600" i="0"/>
                        </m:ctrlPr>
                      </m:sSubPr>
                      <m:e>
                        <m:r>
                          <m:rPr>
                            <m:nor/>
                          </m:rPr>
                          <a:rPr lang="en-IN" sz="1600" i="0"/>
                          <m:t>NO</m:t>
                        </m:r>
                      </m:e>
                      <m:sub>
                        <m:r>
                          <a:rPr lang="en-IN" sz="1600">
                            <a:latin typeface="Cambria Math" panose="02040503050406030204" pitchFamily="18" charset="0"/>
                          </a:rPr>
                          <m:t>2</m:t>
                        </m:r>
                      </m:sub>
                    </m:sSub>
                    <m:r>
                      <a:rPr lang="en-IN" sz="1600">
                        <a:latin typeface="Cambria Math" panose="02040503050406030204" pitchFamily="18" charset="0"/>
                      </a:rPr>
                      <m:t>,</m:t>
                    </m:r>
                    <m:sSub>
                      <m:sSubPr>
                        <m:ctrlPr>
                          <a:rPr lang="en-IN" sz="1600" i="0"/>
                        </m:ctrlPr>
                      </m:sSubPr>
                      <m:e>
                        <m:r>
                          <m:rPr>
                            <m:nor/>
                          </m:rPr>
                          <a:rPr lang="en-IN" sz="1600" i="0"/>
                          <m:t>SO</m:t>
                        </m:r>
                      </m:e>
                      <m:sub>
                        <m:r>
                          <a:rPr lang="en-IN" sz="1600">
                            <a:latin typeface="Cambria Math" panose="02040503050406030204" pitchFamily="18" charset="0"/>
                          </a:rPr>
                          <m:t>2</m:t>
                        </m:r>
                      </m:sub>
                    </m:sSub>
                    <m:r>
                      <a:rPr lang="en-IN" sz="1600">
                        <a:latin typeface="Cambria Math" panose="02040503050406030204" pitchFamily="18" charset="0"/>
                      </a:rPr>
                      <m:t>,</m:t>
                    </m:r>
                    <m:r>
                      <m:rPr>
                        <m:nor/>
                      </m:rPr>
                      <a:rPr lang="en-IN" sz="1600" i="0"/>
                      <m:t>CO</m:t>
                    </m:r>
                  </m:oMath>
                </a14:m>
                <a:r>
                  <a:rPr lang="en-IN" sz="1600" dirty="0"/>
                  <a:t>, Total aerosol optical depth.</a:t>
                </a:r>
              </a:p>
              <a:p>
                <a:pPr lvl="0"/>
                <a:r>
                  <a:rPr lang="en-IN" dirty="0"/>
                  <a:t>Strictly Causal Feature Engineering: Generates 115 features utilizing only historical information (lags </a:t>
                </a:r>
                <a14:m>
                  <m:oMath xmlns:m="http://schemas.openxmlformats.org/officeDocument/2006/math">
                    <m:r>
                      <a:rPr lang="en-IN">
                        <a:latin typeface="Cambria Math" panose="02040503050406030204" pitchFamily="18" charset="0"/>
                      </a:rPr>
                      <m:t>𝑡</m:t>
                    </m:r>
                    <m:r>
                      <a:rPr lang="en-IN">
                        <a:latin typeface="Cambria Math" panose="02040503050406030204" pitchFamily="18" charset="0"/>
                      </a:rPr>
                      <m:t>−1…</m:t>
                    </m:r>
                    <m:r>
                      <a:rPr lang="en-IN">
                        <a:latin typeface="Cambria Math" panose="02040503050406030204" pitchFamily="18" charset="0"/>
                      </a:rPr>
                      <m:t>𝑡</m:t>
                    </m:r>
                    <m:r>
                      <a:rPr lang="en-IN">
                        <a:latin typeface="Cambria Math" panose="02040503050406030204" pitchFamily="18" charset="0"/>
                      </a:rPr>
                      <m:t>−24</m:t>
                    </m:r>
                  </m:oMath>
                </a14:m>
                <a:r>
                  <a:rPr lang="en-IN" dirty="0"/>
                  <a:t>, rolling statistics, rate of change, diurnal swings, cyclic day/hour encodings) with zero future lookahead.</a:t>
                </a:r>
              </a:p>
              <a:p>
                <a:pPr lvl="0"/>
                <a:r>
                  <a:rPr lang="en-IN" dirty="0"/>
                  <a:t>Cost-Sensitive Learning &amp; Threshold Calibration: Addresses severe class imbalance (positive rates </a:t>
                </a:r>
                <a14:m>
                  <m:oMath xmlns:m="http://schemas.openxmlformats.org/officeDocument/2006/math">
                    <m:r>
                      <a:rPr lang="en-IN">
                        <a:latin typeface="Cambria Math" panose="02040503050406030204" pitchFamily="18" charset="0"/>
                      </a:rPr>
                      <m:t>≤7.5%</m:t>
                    </m:r>
                  </m:oMath>
                </a14:m>
                <a:r>
                  <a:rPr lang="en-IN" dirty="0"/>
                  <a:t>) via class-weighted loss functions and out-of-fold validation threshold optimization (</a:t>
                </a:r>
                <a14:m>
                  <m:oMath xmlns:m="http://schemas.openxmlformats.org/officeDocument/2006/math">
                    <m:sSup>
                      <m:sSupPr>
                        <m:ctrlPr>
                          <a:rPr lang="en-IN">
                            <a:latin typeface="Cambria Math" panose="02040503050406030204" pitchFamily="18" charset="0"/>
                          </a:rPr>
                        </m:ctrlPr>
                      </m:sSupPr>
                      <m:e>
                        <m:r>
                          <a:rPr lang="en-IN">
                            <a:latin typeface="Cambria Math" panose="02040503050406030204" pitchFamily="18" charset="0"/>
                          </a:rPr>
                          <m:t>𝜏</m:t>
                        </m:r>
                      </m:e>
                      <m:sup>
                        <m:r>
                          <a:rPr lang="en-IN">
                            <a:latin typeface="Cambria Math" panose="02040503050406030204" pitchFamily="18" charset="0"/>
                          </a:rPr>
                          <m:t>∗</m:t>
                        </m:r>
                      </m:sup>
                    </m:sSup>
                  </m:oMath>
                </a14:m>
                <a:r>
                  <a:rPr lang="en-IN" dirty="0"/>
                  <a:t>).</a:t>
                </a:r>
              </a:p>
              <a:p>
                <a:pPr lvl="0"/>
                <a:r>
                  <a:rPr lang="en-IN" dirty="0"/>
                  <a:t>Decision Stacking: Combines modality-specific probability outputs (</a:t>
                </a:r>
                <a14:m>
                  <m:oMath xmlns:m="http://schemas.openxmlformats.org/officeDocument/2006/math">
                    <m:sSub>
                      <m:sSubPr>
                        <m:ctrlPr>
                          <a:rPr lang="en-IN">
                            <a:latin typeface="Cambria Math" panose="02040503050406030204" pitchFamily="18" charset="0"/>
                          </a:rPr>
                        </m:ctrlPr>
                      </m:sSubPr>
                      <m:e>
                        <m:r>
                          <a:rPr lang="en-IN">
                            <a:latin typeface="Cambria Math" panose="02040503050406030204" pitchFamily="18" charset="0"/>
                          </a:rPr>
                          <m:t>𝑃</m:t>
                        </m:r>
                      </m:e>
                      <m:sub>
                        <m:r>
                          <m:rPr>
                            <m:nor/>
                          </m:rPr>
                          <a:rPr lang="en-IN" i="0"/>
                          <m:t>water</m:t>
                        </m:r>
                      </m:sub>
                    </m:sSub>
                    <m:r>
                      <a:rPr lang="en-IN">
                        <a:latin typeface="Cambria Math" panose="02040503050406030204" pitchFamily="18" charset="0"/>
                      </a:rPr>
                      <m:t>,</m:t>
                    </m:r>
                    <m:sSub>
                      <m:sSubPr>
                        <m:ctrlPr>
                          <a:rPr lang="en-IN">
                            <a:latin typeface="Cambria Math" panose="02040503050406030204" pitchFamily="18" charset="0"/>
                          </a:rPr>
                        </m:ctrlPr>
                      </m:sSubPr>
                      <m:e>
                        <m:r>
                          <a:rPr lang="en-IN">
                            <a:latin typeface="Cambria Math" panose="02040503050406030204" pitchFamily="18" charset="0"/>
                          </a:rPr>
                          <m:t>𝑃</m:t>
                        </m:r>
                      </m:e>
                      <m:sub>
                        <m:r>
                          <m:rPr>
                            <m:nor/>
                          </m:rPr>
                          <a:rPr lang="en-IN" i="0"/>
                          <m:t>weather</m:t>
                        </m:r>
                      </m:sub>
                    </m:sSub>
                    <m:r>
                      <a:rPr lang="en-IN">
                        <a:latin typeface="Cambria Math" panose="02040503050406030204" pitchFamily="18" charset="0"/>
                      </a:rPr>
                      <m:t>,</m:t>
                    </m:r>
                    <m:sSub>
                      <m:sSubPr>
                        <m:ctrlPr>
                          <a:rPr lang="en-IN">
                            <a:latin typeface="Cambria Math" panose="02040503050406030204" pitchFamily="18" charset="0"/>
                          </a:rPr>
                        </m:ctrlPr>
                      </m:sSubPr>
                      <m:e>
                        <m:r>
                          <a:rPr lang="en-IN">
                            <a:latin typeface="Cambria Math" panose="02040503050406030204" pitchFamily="18" charset="0"/>
                          </a:rPr>
                          <m:t>𝑃</m:t>
                        </m:r>
                      </m:e>
                      <m:sub>
                        <m:r>
                          <m:rPr>
                            <m:nor/>
                          </m:rPr>
                          <a:rPr lang="en-IN" i="0"/>
                          <m:t>air</m:t>
                        </m:r>
                      </m:sub>
                    </m:sSub>
                  </m:oMath>
                </a14:m>
                <a:r>
                  <a:rPr lang="en-IN" dirty="0"/>
                  <a:t>) into a meta-learner logistic regression.</a:t>
                </a:r>
              </a:p>
              <a:p>
                <a:pPr lvl="0"/>
                <a:r>
                  <a:rPr lang="en-IN" dirty="0"/>
                  <a:t>Deployment System: Fully interactive web-based monitoring dashboard equipped with live probability gauges, risk maps, and real-time SHAP factor decomposition.</a:t>
                </a:r>
              </a:p>
            </p:txBody>
          </p:sp>
        </mc:Choice>
        <mc:Fallback xmlns="">
          <p:sp>
            <p:nvSpPr>
              <p:cNvPr id="7" name="Text Placeholder 6">
                <a:extLst>
                  <a:ext uri="{FF2B5EF4-FFF2-40B4-BE49-F238E27FC236}">
                    <a16:creationId xmlns:a16="http://schemas.microsoft.com/office/drawing/2014/main" id="{959B225F-E9E9-41B7-9BA6-5129DCABA2A9}"/>
                  </a:ext>
                </a:extLst>
              </p:cNvPr>
              <p:cNvSpPr>
                <a:spLocks noGrp="1" noRot="1" noChangeAspect="1" noMove="1" noResize="1" noEditPoints="1" noAdjustHandles="1" noChangeArrowheads="1" noChangeShapeType="1" noTextEdit="1"/>
              </p:cNvSpPr>
              <p:nvPr>
                <p:ph type="body" idx="1"/>
              </p:nvPr>
            </p:nvSpPr>
            <p:spPr>
              <a:xfrm>
                <a:off x="457200" y="1413387"/>
                <a:ext cx="8229600" cy="4525963"/>
              </a:xfrm>
              <a:blipFill>
                <a:blip r:embed="rId3"/>
                <a:stretch>
                  <a:fillRect r="-370" b="-10108"/>
                </a:stretch>
              </a:blipFill>
            </p:spPr>
            <p:txBody>
              <a:bodyPr/>
              <a:lstStyle/>
              <a:p>
                <a:r>
                  <a:rPr lang="en-IN">
                    <a:noFill/>
                  </a:rPr>
                  <a:t> </a:t>
                </a:r>
              </a:p>
            </p:txBody>
          </p:sp>
        </mc:Fallback>
      </mc:AlternateContent>
      <p:sp>
        <p:nvSpPr>
          <p:cNvPr id="149" name="Google Shape;149;p9"/>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dirty="0"/>
              <a:t>DEPARTMENT OF COMPUTER SCIENCE AND ENGINEERING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47;p9">
            <a:extLst>
              <a:ext uri="{FF2B5EF4-FFF2-40B4-BE49-F238E27FC236}">
                <a16:creationId xmlns:a16="http://schemas.microsoft.com/office/drawing/2014/main" id="{C9ED56A8-6698-BCB9-45B1-29A3EC3769B9}"/>
              </a:ext>
            </a:extLst>
          </p:cNvPr>
          <p:cNvSpPr txBox="1">
            <a:spLocks/>
          </p:cNvSpPr>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dirty="0"/>
              <a:t>Proposed Work: Problem vs Data &amp; Pipeline</a:t>
            </a:r>
          </a:p>
        </p:txBody>
      </p:sp>
      <p:pic>
        <p:nvPicPr>
          <p:cNvPr id="8" name="Picture 7">
            <a:extLst>
              <a:ext uri="{FF2B5EF4-FFF2-40B4-BE49-F238E27FC236}">
                <a16:creationId xmlns:a16="http://schemas.microsoft.com/office/drawing/2014/main" id="{21FC16FB-3E43-7E6A-9943-55E70F75439E}"/>
              </a:ext>
            </a:extLst>
          </p:cNvPr>
          <p:cNvPicPr>
            <a:picLocks noChangeAspect="1"/>
          </p:cNvPicPr>
          <p:nvPr/>
        </p:nvPicPr>
        <p:blipFill>
          <a:blip r:embed="rId2"/>
          <a:stretch>
            <a:fillRect/>
          </a:stretch>
        </p:blipFill>
        <p:spPr>
          <a:xfrm>
            <a:off x="457200" y="1417638"/>
            <a:ext cx="8343900" cy="4051770"/>
          </a:xfrm>
          <a:prstGeom prst="rect">
            <a:avLst/>
          </a:prstGeom>
        </p:spPr>
      </p:pic>
    </p:spTree>
    <p:extLst>
      <p:ext uri="{BB962C8B-B14F-4D97-AF65-F5344CB8AC3E}">
        <p14:creationId xmlns:p14="http://schemas.microsoft.com/office/powerpoint/2010/main" val="3489827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F47C7-A921-3B8A-45DA-D372448C7AA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96B689-9E4F-8DF3-7B4B-09065E970048}"/>
              </a:ext>
            </a:extLst>
          </p:cNvPr>
          <p:cNvPicPr>
            <a:picLocks noChangeAspect="1"/>
          </p:cNvPicPr>
          <p:nvPr/>
        </p:nvPicPr>
        <p:blipFill>
          <a:blip r:embed="rId2"/>
          <a:stretch>
            <a:fillRect/>
          </a:stretch>
        </p:blipFill>
        <p:spPr>
          <a:xfrm>
            <a:off x="0" y="1789530"/>
            <a:ext cx="9144000" cy="3278939"/>
          </a:xfrm>
          <a:prstGeom prst="rect">
            <a:avLst/>
          </a:prstGeom>
        </p:spPr>
      </p:pic>
      <p:sp>
        <p:nvSpPr>
          <p:cNvPr id="6" name="Google Shape;147;p9">
            <a:extLst>
              <a:ext uri="{FF2B5EF4-FFF2-40B4-BE49-F238E27FC236}">
                <a16:creationId xmlns:a16="http://schemas.microsoft.com/office/drawing/2014/main" id="{22E33B04-9852-4AE2-F89E-FCD0CC664CCD}"/>
              </a:ext>
            </a:extLst>
          </p:cNvPr>
          <p:cNvSpPr txBox="1">
            <a:spLocks/>
          </p:cNvSpPr>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dirty="0"/>
              <a:t>Proposed Work: Confusion matrix</a:t>
            </a:r>
          </a:p>
        </p:txBody>
      </p:sp>
    </p:spTree>
    <p:extLst>
      <p:ext uri="{BB962C8B-B14F-4D97-AF65-F5344CB8AC3E}">
        <p14:creationId xmlns:p14="http://schemas.microsoft.com/office/powerpoint/2010/main" val="2192804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1F72B-B030-F4C9-6D29-36E266CAA3E2}"/>
            </a:ext>
          </a:extLst>
        </p:cNvPr>
        <p:cNvGrpSpPr/>
        <p:nvPr/>
      </p:nvGrpSpPr>
      <p:grpSpPr>
        <a:xfrm>
          <a:off x="0" y="0"/>
          <a:ext cx="0" cy="0"/>
          <a:chOff x="0" y="0"/>
          <a:chExt cx="0" cy="0"/>
        </a:xfrm>
      </p:grpSpPr>
      <p:sp>
        <p:nvSpPr>
          <p:cNvPr id="6" name="Google Shape;147;p9">
            <a:extLst>
              <a:ext uri="{FF2B5EF4-FFF2-40B4-BE49-F238E27FC236}">
                <a16:creationId xmlns:a16="http://schemas.microsoft.com/office/drawing/2014/main" id="{5E93F0B6-E016-2D2A-898D-DDEE1BBF4C11}"/>
              </a:ext>
            </a:extLst>
          </p:cNvPr>
          <p:cNvSpPr txBox="1">
            <a:spLocks/>
          </p:cNvSpPr>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dirty="0"/>
              <a:t>Proposed Work: Comparison</a:t>
            </a:r>
          </a:p>
        </p:txBody>
      </p:sp>
      <p:pic>
        <p:nvPicPr>
          <p:cNvPr id="3" name="Picture 2">
            <a:extLst>
              <a:ext uri="{FF2B5EF4-FFF2-40B4-BE49-F238E27FC236}">
                <a16:creationId xmlns:a16="http://schemas.microsoft.com/office/drawing/2014/main" id="{7BCC6F25-576D-9472-95FC-EFE1F3F83A79}"/>
              </a:ext>
            </a:extLst>
          </p:cNvPr>
          <p:cNvPicPr>
            <a:picLocks noChangeAspect="1"/>
          </p:cNvPicPr>
          <p:nvPr/>
        </p:nvPicPr>
        <p:blipFill>
          <a:blip r:embed="rId2"/>
          <a:stretch>
            <a:fillRect/>
          </a:stretch>
        </p:blipFill>
        <p:spPr>
          <a:xfrm>
            <a:off x="1335512" y="1256494"/>
            <a:ext cx="6472976" cy="5075726"/>
          </a:xfrm>
          <a:prstGeom prst="rect">
            <a:avLst/>
          </a:prstGeom>
        </p:spPr>
      </p:pic>
    </p:spTree>
    <p:extLst>
      <p:ext uri="{BB962C8B-B14F-4D97-AF65-F5344CB8AC3E}">
        <p14:creationId xmlns:p14="http://schemas.microsoft.com/office/powerpoint/2010/main" val="4077073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47;p9">
            <a:extLst>
              <a:ext uri="{FF2B5EF4-FFF2-40B4-BE49-F238E27FC236}">
                <a16:creationId xmlns:a16="http://schemas.microsoft.com/office/drawing/2014/main" id="{D9968904-540A-603A-8C57-7E575ED28391}"/>
              </a:ext>
            </a:extLst>
          </p:cNvPr>
          <p:cNvSpPr txBox="1">
            <a:spLocks/>
          </p:cNvSpPr>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t>System Architecture </a:t>
            </a:r>
          </a:p>
        </p:txBody>
      </p:sp>
      <p:pic>
        <p:nvPicPr>
          <p:cNvPr id="3" name="Picture 2">
            <a:extLst>
              <a:ext uri="{FF2B5EF4-FFF2-40B4-BE49-F238E27FC236}">
                <a16:creationId xmlns:a16="http://schemas.microsoft.com/office/drawing/2014/main" id="{96573F5E-1103-E30D-7FB3-F6037A1C6CDB}"/>
              </a:ext>
            </a:extLst>
          </p:cNvPr>
          <p:cNvPicPr>
            <a:picLocks noChangeAspect="1"/>
          </p:cNvPicPr>
          <p:nvPr/>
        </p:nvPicPr>
        <p:blipFill>
          <a:blip r:embed="rId2"/>
          <a:stretch>
            <a:fillRect/>
          </a:stretch>
        </p:blipFill>
        <p:spPr>
          <a:xfrm>
            <a:off x="319548" y="1294375"/>
            <a:ext cx="8504903" cy="5288987"/>
          </a:xfrm>
          <a:prstGeom prst="rect">
            <a:avLst/>
          </a:prstGeom>
        </p:spPr>
      </p:pic>
    </p:spTree>
    <p:extLst>
      <p:ext uri="{BB962C8B-B14F-4D97-AF65-F5344CB8AC3E}">
        <p14:creationId xmlns:p14="http://schemas.microsoft.com/office/powerpoint/2010/main" val="1492648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IN"/>
              <a:t>Modules</a:t>
            </a:r>
          </a:p>
        </p:txBody>
      </p:sp>
      <p:sp>
        <p:nvSpPr>
          <p:cNvPr id="3" name="Text Placeholder 2"/>
          <p:cNvSpPr>
            <a:spLocks noGrp="1"/>
          </p:cNvSpPr>
          <p:nvPr>
            <p:ph type="body" idx="1"/>
          </p:nvPr>
        </p:nvSpPr>
        <p:spPr>
          <a:xfrm>
            <a:off x="457200" y="1600200"/>
            <a:ext cx="8229600" cy="4525963"/>
          </a:xfrm>
        </p:spPr>
        <p:txBody>
          <a:bodyPr>
            <a:normAutofit/>
          </a:bodyPr>
          <a:lstStyle/>
          <a:p>
            <a:pPr marL="114300" indent="0">
              <a:buNone/>
            </a:pPr>
            <a:r>
              <a:rPr lang="en-IN" dirty="0"/>
              <a:t>The system is decomposed into six modular components:</a:t>
            </a:r>
          </a:p>
          <a:p>
            <a:pPr lvl="0"/>
            <a:r>
              <a:rPr lang="en-IN" dirty="0"/>
              <a:t>Module 1: Multi-Source Ingestion &amp; Data Harmonization</a:t>
            </a:r>
          </a:p>
          <a:p>
            <a:pPr lvl="0"/>
            <a:r>
              <a:rPr lang="en-IN" dirty="0"/>
              <a:t>Module 2: Causal Preprocessing &amp; Quality Control</a:t>
            </a:r>
          </a:p>
          <a:p>
            <a:pPr lvl="0"/>
            <a:r>
              <a:rPr lang="en-IN" dirty="0"/>
              <a:t>Module 3: Feature Engineering &amp; Precondition-Gated Event </a:t>
            </a:r>
            <a:r>
              <a:rPr lang="en-IN" dirty="0" err="1"/>
              <a:t>Labeling</a:t>
            </a:r>
            <a:endParaRPr lang="en-IN" dirty="0"/>
          </a:p>
          <a:p>
            <a:pPr lvl="0"/>
            <a:r>
              <a:rPr lang="en-IN" dirty="0"/>
              <a:t>Module 4: Early &amp; Late Multimodal Model Training</a:t>
            </a:r>
          </a:p>
          <a:p>
            <a:pPr lvl="0"/>
            <a:r>
              <a:rPr lang="en-IN" dirty="0"/>
              <a:t>Module 5: Decision Threshold Optimization &amp; Lead-Time Quantification</a:t>
            </a:r>
          </a:p>
          <a:p>
            <a:pPr lvl="0"/>
            <a:r>
              <a:rPr lang="en-IN" dirty="0"/>
              <a:t>Module 6: Explainable AI &amp; Interactive Dashboard Deployment</a:t>
            </a:r>
          </a:p>
        </p:txBody>
      </p:sp>
      <p:sp>
        <p:nvSpPr>
          <p:cNvPr id="107" name="Google Shape;107;p3"/>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a:p>
            <a:pPr lvl="0"/>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IN" dirty="0"/>
              <a:t>Module Description</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457200" y="1600200"/>
                <a:ext cx="8229600" cy="4525963"/>
              </a:xfrm>
            </p:spPr>
            <p:txBody>
              <a:bodyPr>
                <a:normAutofit fontScale="92500" lnSpcReduction="20000"/>
              </a:bodyPr>
              <a:lstStyle/>
              <a:p>
                <a:pPr marL="114300" indent="0">
                  <a:buNone/>
                </a:pPr>
                <a:r>
                  <a:rPr lang="en-IN" dirty="0"/>
                  <a:t>Module 1: Multi-Source Ingestion &amp; Data Harmonization</a:t>
                </a:r>
              </a:p>
              <a:p>
                <a:pPr lvl="0"/>
                <a:r>
                  <a:rPr lang="en-IN" dirty="0"/>
                  <a:t>Queries the USGS NWIS REST API for continuous water sensor parameters.</a:t>
                </a:r>
              </a:p>
              <a:p>
                <a:pPr lvl="0"/>
                <a:r>
                  <a:rPr lang="en-IN" dirty="0"/>
                  <a:t>Retrieves ERA5 meteorological variables and CAMS atmospheric composition reanalysis via Open-</a:t>
                </a:r>
                <a:r>
                  <a:rPr lang="en-IN" dirty="0" err="1"/>
                  <a:t>Meteo</a:t>
                </a:r>
                <a:r>
                  <a:rPr lang="en-IN" dirty="0"/>
                  <a:t> API.</a:t>
                </a:r>
              </a:p>
              <a:p>
                <a:pPr lvl="0"/>
                <a:r>
                  <a:rPr lang="en-IN" dirty="0"/>
                  <a:t>Aligns multi-rate time series (15-min sensor telemetry resampled to hourly arithmetic means) mapped to a unified UTC timestamp.</a:t>
                </a:r>
              </a:p>
              <a:p>
                <a:pPr marL="114300" indent="0">
                  <a:buNone/>
                </a:pPr>
                <a:r>
                  <a:rPr lang="en-IN" dirty="0"/>
                  <a:t>Module 2: Causal Preprocessing &amp; Quality Control</a:t>
                </a:r>
              </a:p>
              <a:p>
                <a:pPr lvl="0"/>
                <a:r>
                  <a:rPr lang="en-IN" dirty="0"/>
                  <a:t>Validates values against physical limits (e.g., </a:t>
                </a:r>
                <a14:m>
                  <m:oMath xmlns:m="http://schemas.openxmlformats.org/officeDocument/2006/math">
                    <m:r>
                      <m:rPr>
                        <m:nor/>
                      </m:rPr>
                      <a:rPr lang="en-IN" i="0"/>
                      <m:t>DO</m:t>
                    </m:r>
                    <m:r>
                      <a:rPr lang="en-IN">
                        <a:latin typeface="Cambria Math" panose="02040503050406030204" pitchFamily="18" charset="0"/>
                      </a:rPr>
                      <m:t>∈</m:t>
                    </m:r>
                    <m:d>
                      <m:dPr>
                        <m:begChr m:val="["/>
                        <m:endChr m:val="]"/>
                        <m:sepChr m:val=","/>
                        <m:ctrlPr>
                          <a:rPr lang="en-IN">
                            <a:latin typeface="Cambria Math" panose="02040503050406030204" pitchFamily="18" charset="0"/>
                          </a:rPr>
                        </m:ctrlPr>
                      </m:dPr>
                      <m:e>
                        <m:r>
                          <a:rPr lang="en-IN">
                            <a:latin typeface="Cambria Math" panose="02040503050406030204" pitchFamily="18" charset="0"/>
                          </a:rPr>
                          <m:t>0</m:t>
                        </m:r>
                      </m:e>
                      <m:e>
                        <m:r>
                          <a:rPr lang="en-IN">
                            <a:latin typeface="Cambria Math" panose="02040503050406030204" pitchFamily="18" charset="0"/>
                          </a:rPr>
                          <m:t>25</m:t>
                        </m:r>
                      </m:e>
                    </m:d>
                    <m:r>
                      <m:rPr>
                        <m:nor/>
                      </m:rPr>
                      <a:rPr lang="en-IN" i="0"/>
                      <m:t> mg/L</m:t>
                    </m:r>
                  </m:oMath>
                </a14:m>
                <a:r>
                  <a:rPr lang="en-IN" dirty="0"/>
                  <a:t>, </a:t>
                </a:r>
                <a14:m>
                  <m:oMath xmlns:m="http://schemas.openxmlformats.org/officeDocument/2006/math">
                    <m:r>
                      <m:rPr>
                        <m:nor/>
                      </m:rPr>
                      <a:rPr lang="en-IN" i="0"/>
                      <m:t>pH</m:t>
                    </m:r>
                    <m:r>
                      <a:rPr lang="en-IN">
                        <a:latin typeface="Cambria Math" panose="02040503050406030204" pitchFamily="18" charset="0"/>
                      </a:rPr>
                      <m:t>∈</m:t>
                    </m:r>
                    <m:d>
                      <m:dPr>
                        <m:begChr m:val="["/>
                        <m:endChr m:val="]"/>
                        <m:sepChr m:val=","/>
                        <m:ctrlPr>
                          <a:rPr lang="en-IN">
                            <a:latin typeface="Cambria Math" panose="02040503050406030204" pitchFamily="18" charset="0"/>
                          </a:rPr>
                        </m:ctrlPr>
                      </m:dPr>
                      <m:e>
                        <m:r>
                          <a:rPr lang="en-IN">
                            <a:latin typeface="Cambria Math" panose="02040503050406030204" pitchFamily="18" charset="0"/>
                          </a:rPr>
                          <m:t>2</m:t>
                        </m:r>
                      </m:e>
                      <m:e>
                        <m:r>
                          <a:rPr lang="en-IN">
                            <a:latin typeface="Cambria Math" panose="02040503050406030204" pitchFamily="18" charset="0"/>
                          </a:rPr>
                          <m:t>12</m:t>
                        </m:r>
                      </m:e>
                    </m:d>
                  </m:oMath>
                </a14:m>
                <a:r>
                  <a:rPr lang="en-IN" dirty="0"/>
                  <a:t>, Temperature </a:t>
                </a:r>
                <a14:m>
                  <m:oMath xmlns:m="http://schemas.openxmlformats.org/officeDocument/2006/math">
                    <m:r>
                      <a:rPr lang="en-IN">
                        <a:latin typeface="Cambria Math" panose="02040503050406030204" pitchFamily="18" charset="0"/>
                      </a:rPr>
                      <m:t>∈</m:t>
                    </m:r>
                    <m:sSup>
                      <m:sSupPr>
                        <m:ctrlPr>
                          <a:rPr lang="en-IN" i="1">
                            <a:latin typeface="Cambria Math" panose="02040503050406030204" pitchFamily="18" charset="0"/>
                          </a:rPr>
                        </m:ctrlPr>
                      </m:sSupPr>
                      <m:e>
                        <m:d>
                          <m:dPr>
                            <m:begChr m:val="["/>
                            <m:endChr m:val="]"/>
                            <m:sepChr m:val=","/>
                            <m:ctrlPr>
                              <a:rPr lang="en-IN">
                                <a:latin typeface="Cambria Math" panose="02040503050406030204" pitchFamily="18" charset="0"/>
                              </a:rPr>
                            </m:ctrlPr>
                          </m:dPr>
                          <m:e>
                            <m:r>
                              <a:rPr lang="en-IN">
                                <a:latin typeface="Cambria Math" panose="02040503050406030204" pitchFamily="18" charset="0"/>
                              </a:rPr>
                              <m:t>−</m:t>
                            </m:r>
                          </m:e>
                          <m:e>
                            <m:r>
                              <a:rPr lang="en-IN">
                                <a:latin typeface="Cambria Math" panose="02040503050406030204" pitchFamily="18" charset="0"/>
                              </a:rPr>
                              <m:t>545</m:t>
                            </m:r>
                          </m:e>
                        </m:d>
                      </m:e>
                      <m:sup>
                        <m:r>
                          <a:rPr lang="en-IN">
                            <a:latin typeface="Cambria Math" panose="02040503050406030204" pitchFamily="18" charset="0"/>
                          </a:rPr>
                          <m:t>∘</m:t>
                        </m:r>
                      </m:sup>
                    </m:sSup>
                    <m:r>
                      <m:rPr>
                        <m:nor/>
                      </m:rPr>
                      <a:rPr lang="en-IN" i="0"/>
                      <m:t>C</m:t>
                    </m:r>
                  </m:oMath>
                </a14:m>
                <a:r>
                  <a:rPr lang="en-IN" dirty="0"/>
                  <a:t>).</a:t>
                </a:r>
              </a:p>
              <a:p>
                <a:pPr lvl="0"/>
                <a:r>
                  <a:rPr lang="en-IN" dirty="0"/>
                  <a:t>Prunes sparse sensors (&gt;50% missing data across the period).</a:t>
                </a:r>
              </a:p>
              <a:p>
                <a:pPr lvl="0"/>
                <a:r>
                  <a:rPr lang="en-IN" dirty="0"/>
                  <a:t>Imputes transient missing records using forward-fill with a strict </a:t>
                </a:r>
                <a14:m>
                  <m:oMath xmlns:m="http://schemas.openxmlformats.org/officeDocument/2006/math">
                    <m:r>
                      <a:rPr lang="en-IN">
                        <a:latin typeface="Cambria Math" panose="02040503050406030204" pitchFamily="18" charset="0"/>
                      </a:rPr>
                      <m:t>≤3</m:t>
                    </m:r>
                    <m:r>
                      <m:rPr>
                        <m:nor/>
                      </m:rPr>
                      <a:rPr lang="en-IN" i="0"/>
                      <m:t> h</m:t>
                    </m:r>
                  </m:oMath>
                </a14:m>
                <a:r>
                  <a:rPr lang="en-IN" dirty="0"/>
                  <a:t>cap, preventing future-data leakage.</a:t>
                </a:r>
              </a:p>
              <a:p>
                <a:pPr marL="114300" indent="0">
                  <a:buNone/>
                </a:pPr>
                <a:r>
                  <a:rPr lang="en-IN" dirty="0"/>
                  <a:t>Module 3: Feature Engineering &amp; Precondition-Gated Event </a:t>
                </a:r>
                <a:r>
                  <a:rPr lang="en-IN" dirty="0" err="1"/>
                  <a:t>Labeling</a:t>
                </a:r>
                <a:endParaRPr lang="en-IN" dirty="0"/>
              </a:p>
              <a:p>
                <a:pPr lvl="0"/>
                <a:r>
                  <a:rPr lang="en-IN" dirty="0"/>
                  <a:t>Extracts 115 features: multi-order backward lags (</a:t>
                </a:r>
                <a14:m>
                  <m:oMath xmlns:m="http://schemas.openxmlformats.org/officeDocument/2006/math">
                    <m:r>
                      <a:rPr lang="en-IN">
                        <a:latin typeface="Cambria Math" panose="02040503050406030204" pitchFamily="18" charset="0"/>
                      </a:rPr>
                      <m:t>𝑡</m:t>
                    </m:r>
                    <m:r>
                      <a:rPr lang="en-IN">
                        <a:latin typeface="Cambria Math" panose="02040503050406030204" pitchFamily="18" charset="0"/>
                      </a:rPr>
                      <m:t>−1,…,</m:t>
                    </m:r>
                    <m:r>
                      <a:rPr lang="en-IN">
                        <a:latin typeface="Cambria Math" panose="02040503050406030204" pitchFamily="18" charset="0"/>
                      </a:rPr>
                      <m:t>𝑡</m:t>
                    </m:r>
                    <m:r>
                      <a:rPr lang="en-IN">
                        <a:latin typeface="Cambria Math" panose="02040503050406030204" pitchFamily="18" charset="0"/>
                      </a:rPr>
                      <m:t>−24</m:t>
                    </m:r>
                  </m:oMath>
                </a14:m>
                <a:r>
                  <a:rPr lang="en-IN" dirty="0"/>
                  <a:t>), rolling statistics (mean, min, max, std), 24 h diurnal swing (</a:t>
                </a:r>
                <a14:m>
                  <m:oMath xmlns:m="http://schemas.openxmlformats.org/officeDocument/2006/math">
                    <m:sSub>
                      <m:sSubPr>
                        <m:ctrlPr>
                          <a:rPr lang="en-IN" i="0"/>
                        </m:ctrlPr>
                      </m:sSubPr>
                      <m:e>
                        <m:r>
                          <m:rPr>
                            <m:nor/>
                          </m:rPr>
                          <a:rPr lang="en-IN" i="0"/>
                          <m:t>DO</m:t>
                        </m:r>
                      </m:e>
                      <m:sub>
                        <m:r>
                          <m:rPr>
                            <m:sty m:val="p"/>
                          </m:rPr>
                          <a:rPr lang="en-IN">
                            <a:latin typeface="Cambria Math" panose="02040503050406030204" pitchFamily="18" charset="0"/>
                          </a:rPr>
                          <m:t>max</m:t>
                        </m:r>
                      </m:sub>
                    </m:sSub>
                    <m:r>
                      <a:rPr lang="en-IN">
                        <a:latin typeface="Cambria Math" panose="02040503050406030204" pitchFamily="18" charset="0"/>
                      </a:rPr>
                      <m:t>−</m:t>
                    </m:r>
                    <m:sSub>
                      <m:sSubPr>
                        <m:ctrlPr>
                          <a:rPr lang="en-IN" i="0"/>
                        </m:ctrlPr>
                      </m:sSubPr>
                      <m:e>
                        <m:r>
                          <m:rPr>
                            <m:nor/>
                          </m:rPr>
                          <a:rPr lang="en-IN" i="0"/>
                          <m:t>DO</m:t>
                        </m:r>
                      </m:e>
                      <m:sub>
                        <m:r>
                          <m:rPr>
                            <m:sty m:val="p"/>
                          </m:rPr>
                          <a:rPr lang="en-IN">
                            <a:latin typeface="Cambria Math" panose="02040503050406030204" pitchFamily="18" charset="0"/>
                          </a:rPr>
                          <m:t>min</m:t>
                        </m:r>
                      </m:sub>
                    </m:sSub>
                  </m:oMath>
                </a14:m>
                <a:r>
                  <a:rPr lang="en-IN" dirty="0"/>
                  <a:t>), and cyclic encodings (</a:t>
                </a:r>
                <a14:m>
                  <m:oMath xmlns:m="http://schemas.openxmlformats.org/officeDocument/2006/math">
                    <m:func>
                      <m:funcPr>
                        <m:ctrlPr>
                          <a:rPr lang="en-IN">
                            <a:latin typeface="Cambria Math" panose="02040503050406030204" pitchFamily="18" charset="0"/>
                          </a:rPr>
                        </m:ctrlPr>
                      </m:funcPr>
                      <m:fName>
                        <m:r>
                          <m:rPr>
                            <m:sty m:val="p"/>
                          </m:rPr>
                          <a:rPr lang="en-IN">
                            <a:latin typeface="Cambria Math" panose="02040503050406030204" pitchFamily="18" charset="0"/>
                          </a:rPr>
                          <m:t>sin</m:t>
                        </m:r>
                      </m:fName>
                      <m:e>
                        <m:r>
                          <a:rPr lang="en-IN">
                            <a:latin typeface="Cambria Math" panose="02040503050406030204" pitchFamily="18" charset="0"/>
                          </a:rPr>
                          <m:t>/</m:t>
                        </m:r>
                      </m:e>
                    </m:func>
                    <m:r>
                      <m:rPr>
                        <m:sty m:val="p"/>
                      </m:rPr>
                      <a:rPr lang="en-IN">
                        <a:latin typeface="Cambria Math" panose="02040503050406030204" pitchFamily="18" charset="0"/>
                      </a:rPr>
                      <m:t>cos</m:t>
                    </m:r>
                  </m:oMath>
                </a14:m>
                <a:r>
                  <a:rPr lang="en-IN" dirty="0"/>
                  <a:t> of solar hour and </a:t>
                </a:r>
                <a:r>
                  <a:rPr lang="en-IN" dirty="0" err="1"/>
                  <a:t>julian</a:t>
                </a:r>
                <a:r>
                  <a:rPr lang="en-IN" dirty="0"/>
                  <a:t> day).</a:t>
                </a:r>
              </a:p>
              <a:p>
                <a:pPr lvl="0"/>
                <a:r>
                  <a:rPr lang="en-IN" dirty="0"/>
                  <a:t>Applies the 24-hour healthy gating window: a positive label (</a:t>
                </a:r>
                <a14:m>
                  <m:oMath xmlns:m="http://schemas.openxmlformats.org/officeDocument/2006/math">
                    <m:r>
                      <a:rPr lang="en-IN">
                        <a:latin typeface="Cambria Math" panose="02040503050406030204" pitchFamily="18" charset="0"/>
                      </a:rPr>
                      <m:t>𝑦</m:t>
                    </m:r>
                    <m:r>
                      <a:rPr lang="en-IN">
                        <a:latin typeface="Cambria Math" panose="02040503050406030204" pitchFamily="18" charset="0"/>
                      </a:rPr>
                      <m:t>=1</m:t>
                    </m:r>
                  </m:oMath>
                </a14:m>
                <a:r>
                  <a:rPr lang="en-IN" dirty="0"/>
                  <a:t>) is generated only if water is compliant (</a:t>
                </a:r>
                <a14:m>
                  <m:oMath xmlns:m="http://schemas.openxmlformats.org/officeDocument/2006/math">
                    <m:r>
                      <m:rPr>
                        <m:nor/>
                      </m:rPr>
                      <a:rPr lang="en-IN" i="0"/>
                      <m:t>DO</m:t>
                    </m:r>
                    <m:r>
                      <a:rPr lang="en-IN">
                        <a:latin typeface="Cambria Math" panose="02040503050406030204" pitchFamily="18" charset="0"/>
                      </a:rPr>
                      <m:t>≥5.0</m:t>
                    </m:r>
                    <m:r>
                      <m:rPr>
                        <m:nor/>
                      </m:rPr>
                      <a:rPr lang="en-IN" i="0"/>
                      <m:t> mg/L</m:t>
                    </m:r>
                  </m:oMath>
                </a14:m>
                <a:r>
                  <a:rPr lang="en-IN" dirty="0"/>
                  <a:t>) throughout the preceding 24 hours and drops below </a:t>
                </a:r>
                <a14:m>
                  <m:oMath xmlns:m="http://schemas.openxmlformats.org/officeDocument/2006/math">
                    <m:r>
                      <a:rPr lang="en-IN">
                        <a:latin typeface="Cambria Math" panose="02040503050406030204" pitchFamily="18" charset="0"/>
                      </a:rPr>
                      <m:t>5.0</m:t>
                    </m:r>
                    <m:r>
                      <m:rPr>
                        <m:nor/>
                      </m:rPr>
                      <a:rPr lang="en-IN" i="0"/>
                      <m:t> mg/L</m:t>
                    </m:r>
                  </m:oMath>
                </a14:m>
                <a:r>
                  <a:rPr lang="en-IN" dirty="0"/>
                  <a:t>within the forward window </a:t>
                </a:r>
                <a14:m>
                  <m:oMath xmlns:m="http://schemas.openxmlformats.org/officeDocument/2006/math">
                    <m:r>
                      <a:rPr lang="en-IN">
                        <a:latin typeface="Cambria Math" panose="02040503050406030204" pitchFamily="18" charset="0"/>
                      </a:rPr>
                      <m:t>𝐻</m:t>
                    </m:r>
                  </m:oMath>
                </a14:m>
                <a:r>
                  <a:rPr lang="en-IN" dirty="0"/>
                  <a:t>.</a:t>
                </a: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457200" y="1600200"/>
                <a:ext cx="8229600" cy="4525963"/>
              </a:xfrm>
              <a:blipFill>
                <a:blip r:embed="rId2"/>
                <a:stretch>
                  <a:fillRect t="-135" r="-296"/>
                </a:stretch>
              </a:blipFill>
            </p:spPr>
            <p:txBody>
              <a:bodyPr/>
              <a:lstStyle/>
              <a:p>
                <a:r>
                  <a:rPr lang="en-IN">
                    <a:noFill/>
                  </a:rPr>
                  <a:t> </a:t>
                </a:r>
              </a:p>
            </p:txBody>
          </p:sp>
        </mc:Fallback>
      </mc:AlternateContent>
      <p:sp>
        <p:nvSpPr>
          <p:cNvPr id="107" name="Google Shape;107;p3"/>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a:p>
            <a:pPr lvl="0"/>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5A223-448E-7D0A-D991-C30427512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A29994-4E05-2DDF-0E70-B6EB7321E9FB}"/>
              </a:ext>
            </a:extLst>
          </p:cNvPr>
          <p:cNvSpPr>
            <a:spLocks noGrp="1"/>
          </p:cNvSpPr>
          <p:nvPr>
            <p:ph type="title"/>
          </p:nvPr>
        </p:nvSpPr>
        <p:spPr>
          <a:xfrm>
            <a:off x="457200" y="274638"/>
            <a:ext cx="8229600" cy="1143000"/>
          </a:xfrm>
        </p:spPr>
        <p:txBody>
          <a:bodyPr/>
          <a:lstStyle/>
          <a:p>
            <a:r>
              <a:rPr lang="en-IN" dirty="0"/>
              <a:t>Module Description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7995232-984A-5267-3103-2B829DF96786}"/>
                  </a:ext>
                </a:extLst>
              </p:cNvPr>
              <p:cNvSpPr>
                <a:spLocks noGrp="1"/>
              </p:cNvSpPr>
              <p:nvPr>
                <p:ph type="body" idx="1"/>
              </p:nvPr>
            </p:nvSpPr>
            <p:spPr>
              <a:xfrm>
                <a:off x="457200" y="1600200"/>
                <a:ext cx="8229600" cy="4525963"/>
              </a:xfrm>
            </p:spPr>
            <p:txBody>
              <a:bodyPr>
                <a:normAutofit/>
              </a:bodyPr>
              <a:lstStyle/>
              <a:p>
                <a:pPr marL="114300" indent="0">
                  <a:buNone/>
                </a:pPr>
                <a:r>
                  <a:rPr lang="en-IN" dirty="0"/>
                  <a:t>Module 4: Early &amp; Late Multimodal Model Training</a:t>
                </a:r>
              </a:p>
              <a:p>
                <a:pPr lvl="0"/>
                <a:r>
                  <a:rPr lang="en-IN" dirty="0"/>
                  <a:t>Trains early-fusion gradient boosting models (Models A, B, C) using </a:t>
                </a:r>
                <a:r>
                  <a:rPr lang="en-IN" dirty="0" err="1"/>
                  <a:t>LightGBM</a:t>
                </a:r>
                <a:r>
                  <a:rPr lang="en-IN" dirty="0"/>
                  <a:t> with cost-sensitive class balancing.</a:t>
                </a:r>
              </a:p>
              <a:p>
                <a:pPr lvl="0"/>
                <a:r>
                  <a:rPr lang="en-IN" dirty="0"/>
                  <a:t>Constructs specialized single-modality sub-models and executes late-fusion decision stacking (</a:t>
                </a:r>
                <a14:m>
                  <m:oMath xmlns:m="http://schemas.openxmlformats.org/officeDocument/2006/math">
                    <m:sSub>
                      <m:sSubPr>
                        <m:ctrlPr>
                          <a:rPr lang="en-IN">
                            <a:latin typeface="Cambria Math" panose="02040503050406030204" pitchFamily="18" charset="0"/>
                          </a:rPr>
                        </m:ctrlPr>
                      </m:sSubPr>
                      <m:e>
                        <m:r>
                          <a:rPr lang="en-IN">
                            <a:latin typeface="Cambria Math" panose="02040503050406030204" pitchFamily="18" charset="0"/>
                          </a:rPr>
                          <m:t>𝐸</m:t>
                        </m:r>
                      </m:e>
                      <m:sub>
                        <m:r>
                          <m:rPr>
                            <m:nor/>
                          </m:rPr>
                          <a:rPr lang="en-IN" i="0"/>
                          <m:t>stack</m:t>
                        </m:r>
                      </m:sub>
                    </m:sSub>
                  </m:oMath>
                </a14:m>
                <a:r>
                  <a:rPr lang="en-IN" dirty="0"/>
                  <a:t>) via cross-validated logistic regression.</a:t>
                </a:r>
              </a:p>
              <a:p>
                <a:pPr marL="114300" indent="0">
                  <a:buNone/>
                </a:pPr>
                <a:r>
                  <a:rPr lang="en-IN" dirty="0"/>
                  <a:t>Module 5: Decision Threshold Optimization &amp; Lead-Time Quantification</a:t>
                </a:r>
              </a:p>
              <a:p>
                <a:pPr lvl="0"/>
                <a:r>
                  <a:rPr lang="en-IN" dirty="0"/>
                  <a:t>Optimizes operational decision thresholds (</a:t>
                </a:r>
                <a14:m>
                  <m:oMath xmlns:m="http://schemas.openxmlformats.org/officeDocument/2006/math">
                    <m:sSup>
                      <m:sSupPr>
                        <m:ctrlPr>
                          <a:rPr lang="en-IN">
                            <a:latin typeface="Cambria Math" panose="02040503050406030204" pitchFamily="18" charset="0"/>
                          </a:rPr>
                        </m:ctrlPr>
                      </m:sSupPr>
                      <m:e>
                        <m:r>
                          <a:rPr lang="en-IN">
                            <a:latin typeface="Cambria Math" panose="02040503050406030204" pitchFamily="18" charset="0"/>
                          </a:rPr>
                          <m:t>𝜏</m:t>
                        </m:r>
                      </m:e>
                      <m:sup>
                        <m:r>
                          <a:rPr lang="en-IN">
                            <a:latin typeface="Cambria Math" panose="02040503050406030204" pitchFamily="18" charset="0"/>
                          </a:rPr>
                          <m:t>∗</m:t>
                        </m:r>
                      </m:sup>
                    </m:sSup>
                  </m:oMath>
                </a14:m>
                <a:r>
                  <a:rPr lang="en-IN" dirty="0"/>
                  <a:t>) on out-of-fold 2024 validation data to maximize Event-F1 under strict false-alarm budgets (</a:t>
                </a:r>
                <a14:m>
                  <m:oMath xmlns:m="http://schemas.openxmlformats.org/officeDocument/2006/math">
                    <m:r>
                      <a:rPr lang="en-IN">
                        <a:latin typeface="Cambria Math" panose="02040503050406030204" pitchFamily="18" charset="0"/>
                      </a:rPr>
                      <m:t>≤2</m:t>
                    </m:r>
                  </m:oMath>
                </a14:m>
                <a:r>
                  <a:rPr lang="en-IN" dirty="0"/>
                  <a:t> false alarms per 30 station-days).</a:t>
                </a:r>
              </a:p>
              <a:p>
                <a:pPr lvl="0"/>
                <a:r>
                  <a:rPr lang="en-IN" dirty="0"/>
                  <a:t>Calculates exact anticipation lead time: </a:t>
                </a:r>
                <a14:m>
                  <m:oMath xmlns:m="http://schemas.openxmlformats.org/officeDocument/2006/math">
                    <m:r>
                      <m:rPr>
                        <m:sty m:val="p"/>
                      </m:rPr>
                      <a:rPr lang="en-IN">
                        <a:latin typeface="Cambria Math" panose="02040503050406030204" pitchFamily="18" charset="0"/>
                      </a:rPr>
                      <m:t>ℓ</m:t>
                    </m:r>
                    <m:r>
                      <a:rPr lang="en-IN">
                        <a:latin typeface="Cambria Math" panose="02040503050406030204" pitchFamily="18" charset="0"/>
                      </a:rPr>
                      <m:t>=</m:t>
                    </m:r>
                    <m:sSub>
                      <m:sSubPr>
                        <m:ctrlPr>
                          <a:rPr lang="en-IN">
                            <a:latin typeface="Cambria Math" panose="02040503050406030204" pitchFamily="18" charset="0"/>
                          </a:rPr>
                        </m:ctrlPr>
                      </m:sSubPr>
                      <m:e>
                        <m:r>
                          <a:rPr lang="en-IN">
                            <a:latin typeface="Cambria Math" panose="02040503050406030204" pitchFamily="18" charset="0"/>
                          </a:rPr>
                          <m:t>𝑡</m:t>
                        </m:r>
                      </m:e>
                      <m:sub>
                        <m:r>
                          <m:rPr>
                            <m:nor/>
                          </m:rPr>
                          <a:rPr lang="en-IN" i="0"/>
                          <m:t>onset</m:t>
                        </m:r>
                      </m:sub>
                    </m:sSub>
                    <m:r>
                      <a:rPr lang="en-IN">
                        <a:latin typeface="Cambria Math" panose="02040503050406030204" pitchFamily="18" charset="0"/>
                      </a:rPr>
                      <m:t>−</m:t>
                    </m:r>
                    <m:sSub>
                      <m:sSubPr>
                        <m:ctrlPr>
                          <a:rPr lang="en-IN">
                            <a:latin typeface="Cambria Math" panose="02040503050406030204" pitchFamily="18" charset="0"/>
                          </a:rPr>
                        </m:ctrlPr>
                      </m:sSubPr>
                      <m:e>
                        <m:r>
                          <a:rPr lang="en-IN">
                            <a:latin typeface="Cambria Math" panose="02040503050406030204" pitchFamily="18" charset="0"/>
                          </a:rPr>
                          <m:t>𝑡</m:t>
                        </m:r>
                      </m:e>
                      <m:sub>
                        <m:r>
                          <m:rPr>
                            <m:nor/>
                          </m:rPr>
                          <a:rPr lang="en-IN" i="0"/>
                          <m:t>first</m:t>
                        </m:r>
                        <m:r>
                          <m:rPr>
                            <m:lit/>
                            <m:nor/>
                          </m:rPr>
                          <a:rPr lang="en-IN" i="0"/>
                          <m:t>_</m:t>
                        </m:r>
                        <m:r>
                          <m:rPr>
                            <m:nor/>
                          </m:rPr>
                          <a:rPr lang="en-IN" i="0"/>
                          <m:t>warning</m:t>
                        </m:r>
                      </m:sub>
                    </m:sSub>
                    <m:r>
                      <a:rPr lang="en-IN">
                        <a:latin typeface="Cambria Math" panose="02040503050406030204" pitchFamily="18" charset="0"/>
                      </a:rPr>
                      <m:t> </m:t>
                    </m:r>
                    <m:d>
                      <m:dPr>
                        <m:ctrlPr>
                          <a:rPr lang="en-IN" i="0"/>
                        </m:ctrlPr>
                      </m:dPr>
                      <m:e>
                        <m:r>
                          <m:rPr>
                            <m:nor/>
                          </m:rPr>
                          <a:rPr lang="en-IN" i="0"/>
                          <m:t>capped at horizon </m:t>
                        </m:r>
                        <m:r>
                          <a:rPr lang="en-IN">
                            <a:latin typeface="Cambria Math" panose="02040503050406030204" pitchFamily="18" charset="0"/>
                          </a:rPr>
                          <m:t>𝐻</m:t>
                        </m:r>
                      </m:e>
                    </m:d>
                  </m:oMath>
                </a14:m>
                <a:endParaRPr lang="en-IN" dirty="0"/>
              </a:p>
              <a:p>
                <a:pPr marL="114300" indent="0">
                  <a:buNone/>
                </a:pPr>
                <a:r>
                  <a:rPr lang="en-IN" dirty="0"/>
                  <a:t>Module 6: Explainable AI &amp; Interactive Dashboard Deployment</a:t>
                </a:r>
              </a:p>
              <a:p>
                <a:pPr lvl="0"/>
                <a:r>
                  <a:rPr lang="en-IN" dirty="0"/>
                  <a:t>Computes Shapley additive explanations (</a:t>
                </a:r>
                <a:r>
                  <a:rPr lang="en-IN" dirty="0" err="1"/>
                  <a:t>TreeSHAP</a:t>
                </a:r>
                <a:r>
                  <a:rPr lang="en-IN" dirty="0"/>
                  <a:t>) for global system validation and localized per-event physical diagnostics.</a:t>
                </a:r>
              </a:p>
              <a:p>
                <a:pPr lvl="0"/>
                <a:r>
                  <a:rPr lang="en-IN" dirty="0"/>
                  <a:t>Deploys an interactive </a:t>
                </a:r>
                <a:r>
                  <a:rPr lang="en-IN" dirty="0" err="1"/>
                  <a:t>Streamlit</a:t>
                </a:r>
                <a:r>
                  <a:rPr lang="en-IN" dirty="0"/>
                  <a:t> UI offering multi-station monitoring, risk probability gauge dials, and real-time alerts.</a:t>
                </a:r>
              </a:p>
            </p:txBody>
          </p:sp>
        </mc:Choice>
        <mc:Fallback xmlns="">
          <p:sp>
            <p:nvSpPr>
              <p:cNvPr id="3" name="Text Placeholder 2">
                <a:extLst>
                  <a:ext uri="{FF2B5EF4-FFF2-40B4-BE49-F238E27FC236}">
                    <a16:creationId xmlns:a16="http://schemas.microsoft.com/office/drawing/2014/main" id="{C7995232-984A-5267-3103-2B829DF96786}"/>
                  </a:ext>
                </a:extLst>
              </p:cNvPr>
              <p:cNvSpPr>
                <a:spLocks noGrp="1" noRot="1" noChangeAspect="1" noMove="1" noResize="1" noEditPoints="1" noAdjustHandles="1" noChangeArrowheads="1" noChangeShapeType="1" noTextEdit="1"/>
              </p:cNvSpPr>
              <p:nvPr>
                <p:ph type="body" idx="1"/>
              </p:nvPr>
            </p:nvSpPr>
            <p:spPr>
              <a:xfrm>
                <a:off x="457200" y="1600200"/>
                <a:ext cx="8229600" cy="4525963"/>
              </a:xfrm>
              <a:blipFill>
                <a:blip r:embed="rId2"/>
                <a:stretch>
                  <a:fillRect r="-370"/>
                </a:stretch>
              </a:blipFill>
            </p:spPr>
            <p:txBody>
              <a:bodyPr/>
              <a:lstStyle/>
              <a:p>
                <a:r>
                  <a:rPr lang="en-IN">
                    <a:noFill/>
                  </a:rPr>
                  <a:t> </a:t>
                </a:r>
              </a:p>
            </p:txBody>
          </p:sp>
        </mc:Fallback>
      </mc:AlternateContent>
      <p:sp>
        <p:nvSpPr>
          <p:cNvPr id="107" name="Google Shape;107;p3">
            <a:extLst>
              <a:ext uri="{FF2B5EF4-FFF2-40B4-BE49-F238E27FC236}">
                <a16:creationId xmlns:a16="http://schemas.microsoft.com/office/drawing/2014/main" id="{283EEE63-78FD-C7C2-08B2-EDF13CEE4D45}"/>
              </a:ext>
            </a:extLst>
          </p:cNvPr>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a:p>
            <a:pPr lvl="0"/>
            <a:endParaRPr lang="en-US"/>
          </a:p>
        </p:txBody>
      </p:sp>
    </p:spTree>
    <p:extLst>
      <p:ext uri="{BB962C8B-B14F-4D97-AF65-F5344CB8AC3E}">
        <p14:creationId xmlns:p14="http://schemas.microsoft.com/office/powerpoint/2010/main" val="3674727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IN" dirty="0"/>
              <a:t>Algorithm Formulation</a:t>
            </a:r>
          </a:p>
        </p:txBody>
      </p:sp>
      <p:sp>
        <p:nvSpPr>
          <p:cNvPr id="3" name="Text Placeholder 2"/>
          <p:cNvSpPr>
            <a:spLocks noGrp="1"/>
          </p:cNvSpPr>
          <p:nvPr>
            <p:ph type="body" idx="1"/>
          </p:nvPr>
        </p:nvSpPr>
        <p:spPr>
          <a:xfrm>
            <a:off x="457200" y="1295402"/>
            <a:ext cx="8229600" cy="4525963"/>
          </a:xfrm>
        </p:spPr>
        <p:txBody>
          <a:bodyPr>
            <a:noAutofit/>
          </a:bodyPr>
          <a:lstStyle/>
          <a:p>
            <a:pPr marL="114300" indent="0">
              <a:spcBef>
                <a:spcPts val="200"/>
              </a:spcBef>
              <a:buNone/>
            </a:pPr>
            <a:r>
              <a:rPr lang="en-IN" sz="1400" dirty="0"/>
              <a:t>Algorithm 1: Causal Feature &amp; Preconditioned Event-Onset Generation</a:t>
            </a:r>
          </a:p>
          <a:p>
            <a:pPr>
              <a:spcBef>
                <a:spcPts val="200"/>
              </a:spcBef>
            </a:pPr>
            <a:r>
              <a:rPr lang="en-IN" sz="1400" dirty="0"/>
              <a:t>Input : Multi-source hourly time series </a:t>
            </a:r>
            <a:r>
              <a:rPr lang="en-IN" sz="1400" dirty="0" err="1"/>
              <a:t>X_raw</a:t>
            </a:r>
            <a:r>
              <a:rPr lang="en-IN" sz="1400" dirty="0"/>
              <a:t>(t), Dissolved Oxygen DO(t), Horizon H in {6,12,24,48}</a:t>
            </a:r>
          </a:p>
          <a:p>
            <a:pPr>
              <a:spcBef>
                <a:spcPts val="200"/>
              </a:spcBef>
            </a:pPr>
            <a:r>
              <a:rPr lang="en-IN" sz="1400" dirty="0"/>
              <a:t>Output: Feature matrix X(t) with 115 features, Binary target </a:t>
            </a:r>
            <a:r>
              <a:rPr lang="en-IN" sz="1400" dirty="0" err="1"/>
              <a:t>y_H</a:t>
            </a:r>
            <a:r>
              <a:rPr lang="en-IN" sz="1400" dirty="0"/>
              <a:t>(t)</a:t>
            </a:r>
          </a:p>
          <a:p>
            <a:pPr>
              <a:spcBef>
                <a:spcPts val="200"/>
              </a:spcBef>
            </a:pPr>
            <a:r>
              <a:rPr lang="en-IN" sz="1400" dirty="0"/>
              <a:t>1. For each station s and timestamp t:</a:t>
            </a:r>
          </a:p>
          <a:p>
            <a:pPr>
              <a:spcBef>
                <a:spcPts val="200"/>
              </a:spcBef>
            </a:pPr>
            <a:r>
              <a:rPr lang="en-IN" sz="1400" dirty="0"/>
              <a:t>2.    Compute hydrological lags: DO(t-1), DO(t-2), ..., DO(t-24)</a:t>
            </a:r>
          </a:p>
          <a:p>
            <a:pPr>
              <a:spcBef>
                <a:spcPts val="200"/>
              </a:spcBef>
            </a:pPr>
            <a:r>
              <a:rPr lang="en-IN" sz="1400" dirty="0"/>
              <a:t>3.    Compute rolling metrics over W = 24 hours:</a:t>
            </a:r>
          </a:p>
          <a:p>
            <a:pPr>
              <a:spcBef>
                <a:spcPts val="200"/>
              </a:spcBef>
            </a:pPr>
            <a:r>
              <a:rPr lang="en-IN" sz="1400" dirty="0"/>
              <a:t>         </a:t>
            </a:r>
            <a:r>
              <a:rPr lang="en-IN" sz="1400" dirty="0" err="1"/>
              <a:t>DO_min</a:t>
            </a:r>
            <a:r>
              <a:rPr lang="en-IN" sz="1400" dirty="0"/>
              <a:t> = min(DO(t-W : t)), </a:t>
            </a:r>
            <a:r>
              <a:rPr lang="en-IN" sz="1400" dirty="0" err="1"/>
              <a:t>DO_mean</a:t>
            </a:r>
            <a:r>
              <a:rPr lang="en-IN" sz="1400" dirty="0"/>
              <a:t> = mean(DO(t-W : t)), </a:t>
            </a:r>
            <a:r>
              <a:rPr lang="en-IN" sz="1400" dirty="0" err="1"/>
              <a:t>DO_std</a:t>
            </a:r>
            <a:r>
              <a:rPr lang="en-IN" sz="1400" dirty="0"/>
              <a:t> = std(DO(t-W : t))</a:t>
            </a:r>
          </a:p>
          <a:p>
            <a:pPr>
              <a:spcBef>
                <a:spcPts val="200"/>
              </a:spcBef>
            </a:pPr>
            <a:r>
              <a:rPr lang="en-IN" sz="1400" dirty="0"/>
              <a:t>         </a:t>
            </a:r>
            <a:r>
              <a:rPr lang="en-IN" sz="1400" dirty="0" err="1"/>
              <a:t>DO_swing</a:t>
            </a:r>
            <a:r>
              <a:rPr lang="en-IN" sz="1400" dirty="0"/>
              <a:t> = max(DO(t-W : t)) - min(DO(t-W : t))</a:t>
            </a:r>
          </a:p>
          <a:p>
            <a:pPr>
              <a:spcBef>
                <a:spcPts val="200"/>
              </a:spcBef>
            </a:pPr>
            <a:r>
              <a:rPr lang="en-IN" sz="1400" dirty="0"/>
              <a:t>4.    Compute cumulative meteorological forcing: Rain_sum_6h, Rain_sum_24h, Solar_radiation_24h</a:t>
            </a:r>
          </a:p>
          <a:p>
            <a:pPr>
              <a:spcBef>
                <a:spcPts val="200"/>
              </a:spcBef>
            </a:pPr>
            <a:r>
              <a:rPr lang="en-IN" sz="1400" dirty="0"/>
              <a:t>5.    Compute cyclic time encodings:</a:t>
            </a:r>
          </a:p>
          <a:p>
            <a:pPr>
              <a:spcBef>
                <a:spcPts val="200"/>
              </a:spcBef>
            </a:pPr>
            <a:r>
              <a:rPr lang="en-IN" sz="1400" dirty="0"/>
              <a:t>         </a:t>
            </a:r>
            <a:r>
              <a:rPr lang="en-IN" sz="1400" dirty="0" err="1"/>
              <a:t>sin_hour</a:t>
            </a:r>
            <a:r>
              <a:rPr lang="en-IN" sz="1400" dirty="0"/>
              <a:t> = sin(2*pi*hour/24), </a:t>
            </a:r>
            <a:r>
              <a:rPr lang="en-IN" sz="1400" dirty="0" err="1"/>
              <a:t>cos_hour</a:t>
            </a:r>
            <a:r>
              <a:rPr lang="en-IN" sz="1400" dirty="0"/>
              <a:t> = cos(2*pi*hour/24)</a:t>
            </a:r>
          </a:p>
          <a:p>
            <a:pPr>
              <a:spcBef>
                <a:spcPts val="200"/>
              </a:spcBef>
            </a:pPr>
            <a:r>
              <a:rPr lang="en-IN" sz="1400" dirty="0"/>
              <a:t>         </a:t>
            </a:r>
            <a:r>
              <a:rPr lang="en-IN" sz="1400" dirty="0" err="1"/>
              <a:t>sin_day</a:t>
            </a:r>
            <a:r>
              <a:rPr lang="en-IN" sz="1400" dirty="0"/>
              <a:t>  = sin(2*pi*</a:t>
            </a:r>
            <a:r>
              <a:rPr lang="en-IN" sz="1400" dirty="0" err="1"/>
              <a:t>doy</a:t>
            </a:r>
            <a:r>
              <a:rPr lang="en-IN" sz="1400" dirty="0"/>
              <a:t>/365), </a:t>
            </a:r>
            <a:r>
              <a:rPr lang="en-IN" sz="1400" dirty="0" err="1"/>
              <a:t>cos_day</a:t>
            </a:r>
            <a:r>
              <a:rPr lang="en-IN" sz="1400" dirty="0"/>
              <a:t>  = cos(2*pi*</a:t>
            </a:r>
            <a:r>
              <a:rPr lang="en-IN" sz="1400" dirty="0" err="1"/>
              <a:t>doy</a:t>
            </a:r>
            <a:r>
              <a:rPr lang="en-IN" sz="1400" dirty="0"/>
              <a:t>/365)</a:t>
            </a:r>
          </a:p>
          <a:p>
            <a:pPr>
              <a:spcBef>
                <a:spcPts val="200"/>
              </a:spcBef>
            </a:pPr>
            <a:r>
              <a:rPr lang="en-IN" sz="1400" dirty="0"/>
              <a:t>6.    Assemble causal feature vector X(t) in R^115</a:t>
            </a:r>
          </a:p>
          <a:p>
            <a:pPr>
              <a:spcBef>
                <a:spcPts val="200"/>
              </a:spcBef>
            </a:pPr>
            <a:r>
              <a:rPr lang="en-IN" sz="1400" dirty="0"/>
              <a:t>7.    Evaluate Precondition:</a:t>
            </a:r>
          </a:p>
          <a:p>
            <a:pPr>
              <a:spcBef>
                <a:spcPts val="200"/>
              </a:spcBef>
            </a:pPr>
            <a:r>
              <a:rPr lang="en-IN" sz="1400" dirty="0"/>
              <a:t>         </a:t>
            </a:r>
            <a:r>
              <a:rPr lang="en-IN" sz="1400" dirty="0" err="1"/>
              <a:t>Is_Healthy</a:t>
            </a:r>
            <a:r>
              <a:rPr lang="en-IN" sz="1400" dirty="0"/>
              <a:t>(t) = 1 if min(DO(t-24 : t)) &gt;= 5.0 mg/L else 0</a:t>
            </a:r>
          </a:p>
          <a:p>
            <a:pPr>
              <a:spcBef>
                <a:spcPts val="200"/>
              </a:spcBef>
            </a:pPr>
            <a:r>
              <a:rPr lang="en-IN" sz="1400" dirty="0"/>
              <a:t>8.    Evaluate Future Deterioration:</a:t>
            </a:r>
          </a:p>
          <a:p>
            <a:pPr>
              <a:spcBef>
                <a:spcPts val="200"/>
              </a:spcBef>
            </a:pPr>
            <a:r>
              <a:rPr lang="en-IN" sz="1400" dirty="0"/>
              <a:t>         </a:t>
            </a:r>
            <a:r>
              <a:rPr lang="en-IN" sz="1400" dirty="0" err="1"/>
              <a:t>Future_Depletion</a:t>
            </a:r>
            <a:r>
              <a:rPr lang="en-IN" sz="1400" dirty="0"/>
              <a:t>(t) = 1 if min(DO(t+1 : </a:t>
            </a:r>
            <a:r>
              <a:rPr lang="en-IN" sz="1400" dirty="0" err="1"/>
              <a:t>t+H</a:t>
            </a:r>
            <a:r>
              <a:rPr lang="en-IN" sz="1400" dirty="0"/>
              <a:t>)) &lt; 5.0 mg/L else 0</a:t>
            </a:r>
          </a:p>
          <a:p>
            <a:pPr>
              <a:spcBef>
                <a:spcPts val="200"/>
              </a:spcBef>
            </a:pPr>
            <a:r>
              <a:rPr lang="en-IN" sz="1400" dirty="0"/>
              <a:t>9.    Assign Target:</a:t>
            </a:r>
          </a:p>
          <a:p>
            <a:pPr>
              <a:spcBef>
                <a:spcPts val="200"/>
              </a:spcBef>
            </a:pPr>
            <a:r>
              <a:rPr lang="en-IN" sz="1400" dirty="0"/>
              <a:t>         </a:t>
            </a:r>
            <a:r>
              <a:rPr lang="en-IN" sz="1400" dirty="0" err="1"/>
              <a:t>y_H</a:t>
            </a:r>
            <a:r>
              <a:rPr lang="en-IN" sz="1400" dirty="0"/>
              <a:t>(t) = 1 if (</a:t>
            </a:r>
            <a:r>
              <a:rPr lang="en-IN" sz="1400" dirty="0" err="1"/>
              <a:t>Is_Healthy</a:t>
            </a:r>
            <a:r>
              <a:rPr lang="en-IN" sz="1400" dirty="0"/>
              <a:t>(t) == 1 and </a:t>
            </a:r>
            <a:r>
              <a:rPr lang="en-IN" sz="1400" dirty="0" err="1"/>
              <a:t>Future_Depletion</a:t>
            </a:r>
            <a:r>
              <a:rPr lang="en-IN" sz="1400" dirty="0"/>
              <a:t>(t) == 1) else 0</a:t>
            </a:r>
          </a:p>
          <a:p>
            <a:pPr>
              <a:spcBef>
                <a:spcPts val="200"/>
              </a:spcBef>
            </a:pPr>
            <a:r>
              <a:rPr lang="en-IN" sz="1400" dirty="0"/>
              <a:t>10. Return X(t), </a:t>
            </a:r>
            <a:r>
              <a:rPr lang="en-IN" sz="1400" dirty="0" err="1"/>
              <a:t>y_H</a:t>
            </a:r>
            <a:r>
              <a:rPr lang="en-IN" sz="1400" dirty="0"/>
              <a:t>(t)</a:t>
            </a:r>
          </a:p>
        </p:txBody>
      </p:sp>
      <p:sp>
        <p:nvSpPr>
          <p:cNvPr id="107" name="Google Shape;107;p3"/>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a:p>
            <a:pPr lvl="0"/>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CAA55-2F51-A6E8-5160-E59031D61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0188F-0DC0-B284-FD27-133A6EA77ED4}"/>
              </a:ext>
            </a:extLst>
          </p:cNvPr>
          <p:cNvSpPr>
            <a:spLocks noGrp="1"/>
          </p:cNvSpPr>
          <p:nvPr>
            <p:ph type="title"/>
          </p:nvPr>
        </p:nvSpPr>
        <p:spPr>
          <a:xfrm>
            <a:off x="457200" y="274638"/>
            <a:ext cx="8229600" cy="1143000"/>
          </a:xfrm>
        </p:spPr>
        <p:txBody>
          <a:bodyPr/>
          <a:lstStyle/>
          <a:p>
            <a:r>
              <a:rPr lang="en-IN" dirty="0"/>
              <a:t>Algorithm Formulation</a:t>
            </a:r>
          </a:p>
        </p:txBody>
      </p:sp>
      <p:sp>
        <p:nvSpPr>
          <p:cNvPr id="3" name="Text Placeholder 2">
            <a:extLst>
              <a:ext uri="{FF2B5EF4-FFF2-40B4-BE49-F238E27FC236}">
                <a16:creationId xmlns:a16="http://schemas.microsoft.com/office/drawing/2014/main" id="{9E332032-EF4C-2F8A-F45D-2B9541743C5B}"/>
              </a:ext>
            </a:extLst>
          </p:cNvPr>
          <p:cNvSpPr>
            <a:spLocks noGrp="1"/>
          </p:cNvSpPr>
          <p:nvPr>
            <p:ph type="body" idx="1"/>
          </p:nvPr>
        </p:nvSpPr>
        <p:spPr>
          <a:xfrm>
            <a:off x="457200" y="1344561"/>
            <a:ext cx="8229600" cy="4525963"/>
          </a:xfrm>
        </p:spPr>
        <p:txBody>
          <a:bodyPr>
            <a:noAutofit/>
          </a:bodyPr>
          <a:lstStyle/>
          <a:p>
            <a:pPr marL="114300" indent="0">
              <a:spcBef>
                <a:spcPts val="200"/>
              </a:spcBef>
              <a:buNone/>
            </a:pPr>
            <a:r>
              <a:rPr lang="en-IN" sz="1400" dirty="0"/>
              <a:t>Algorithm 2: Stacked Late-Fusion Ensemble &amp; Lead-Time Optimization</a:t>
            </a:r>
          </a:p>
          <a:p>
            <a:pPr>
              <a:spcBef>
                <a:spcPts val="200"/>
              </a:spcBef>
            </a:pPr>
            <a:r>
              <a:rPr lang="en-IN" sz="1400" dirty="0"/>
              <a:t>Input : Training set </a:t>
            </a:r>
            <a:r>
              <a:rPr lang="en-IN" sz="1400" dirty="0" err="1"/>
              <a:t>D_train</a:t>
            </a:r>
            <a:r>
              <a:rPr lang="en-IN" sz="1400" dirty="0"/>
              <a:t> (2023), Validation set </a:t>
            </a:r>
            <a:r>
              <a:rPr lang="en-IN" sz="1400" dirty="0" err="1"/>
              <a:t>D_val</a:t>
            </a:r>
            <a:r>
              <a:rPr lang="en-IN" sz="1400" dirty="0"/>
              <a:t> (2024), Frozen Test set </a:t>
            </a:r>
            <a:r>
              <a:rPr lang="en-IN" sz="1400" dirty="0" err="1"/>
              <a:t>D_test</a:t>
            </a:r>
            <a:r>
              <a:rPr lang="en-IN" sz="1400" dirty="0"/>
              <a:t> (2025)</a:t>
            </a:r>
          </a:p>
          <a:p>
            <a:pPr>
              <a:spcBef>
                <a:spcPts val="200"/>
              </a:spcBef>
            </a:pPr>
            <a:r>
              <a:rPr lang="en-IN" sz="1400" dirty="0"/>
              <a:t>Output: Calibrated probability P_E(t), Warning binary decision W(t), Lead time ell</a:t>
            </a:r>
          </a:p>
          <a:p>
            <a:pPr>
              <a:spcBef>
                <a:spcPts val="200"/>
              </a:spcBef>
            </a:pPr>
            <a:r>
              <a:rPr lang="en-IN" sz="1400" dirty="0"/>
              <a:t>1. Train Modality-Specific Base Classifiers on </a:t>
            </a:r>
            <a:r>
              <a:rPr lang="en-IN" sz="1400" dirty="0" err="1"/>
              <a:t>D_train</a:t>
            </a:r>
            <a:r>
              <a:rPr lang="en-IN" sz="1400" dirty="0"/>
              <a:t>:</a:t>
            </a:r>
          </a:p>
          <a:p>
            <a:pPr>
              <a:spcBef>
                <a:spcPts val="200"/>
              </a:spcBef>
            </a:pPr>
            <a:r>
              <a:rPr lang="en-IN" sz="1400" dirty="0"/>
              <a:t>      </a:t>
            </a:r>
            <a:r>
              <a:rPr lang="en-IN" sz="1400" dirty="0" err="1"/>
              <a:t>M_water</a:t>
            </a:r>
            <a:r>
              <a:rPr lang="en-IN" sz="1400" dirty="0"/>
              <a:t>   &lt;- </a:t>
            </a:r>
            <a:r>
              <a:rPr lang="en-IN" sz="1400" dirty="0" err="1"/>
              <a:t>LightGBM</a:t>
            </a:r>
            <a:r>
              <a:rPr lang="en-IN" sz="1400" dirty="0"/>
              <a:t>(</a:t>
            </a:r>
            <a:r>
              <a:rPr lang="en-IN" sz="1400" dirty="0" err="1"/>
              <a:t>X_water</a:t>
            </a:r>
            <a:r>
              <a:rPr lang="en-IN" sz="1400" dirty="0"/>
              <a:t>, y)</a:t>
            </a:r>
          </a:p>
          <a:p>
            <a:pPr>
              <a:spcBef>
                <a:spcPts val="200"/>
              </a:spcBef>
            </a:pPr>
            <a:r>
              <a:rPr lang="en-IN" sz="1400" dirty="0"/>
              <a:t>      </a:t>
            </a:r>
            <a:r>
              <a:rPr lang="en-IN" sz="1400" dirty="0" err="1"/>
              <a:t>M_weather</a:t>
            </a:r>
            <a:r>
              <a:rPr lang="en-IN" sz="1400" dirty="0"/>
              <a:t> &lt;- </a:t>
            </a:r>
            <a:r>
              <a:rPr lang="en-IN" sz="1400" dirty="0" err="1"/>
              <a:t>LightGBM</a:t>
            </a:r>
            <a:r>
              <a:rPr lang="en-IN" sz="1400" dirty="0"/>
              <a:t>(</a:t>
            </a:r>
            <a:r>
              <a:rPr lang="en-IN" sz="1400" dirty="0" err="1"/>
              <a:t>X_weather</a:t>
            </a:r>
            <a:r>
              <a:rPr lang="en-IN" sz="1400" dirty="0"/>
              <a:t>, y)</a:t>
            </a:r>
          </a:p>
          <a:p>
            <a:pPr>
              <a:spcBef>
                <a:spcPts val="200"/>
              </a:spcBef>
            </a:pPr>
            <a:r>
              <a:rPr lang="en-IN" sz="1400" dirty="0"/>
              <a:t>      </a:t>
            </a:r>
            <a:r>
              <a:rPr lang="en-IN" sz="1400" dirty="0" err="1"/>
              <a:t>M_air</a:t>
            </a:r>
            <a:r>
              <a:rPr lang="en-IN" sz="1400" dirty="0"/>
              <a:t>     &lt;- </a:t>
            </a:r>
            <a:r>
              <a:rPr lang="en-IN" sz="1400" dirty="0" err="1"/>
              <a:t>LightGBM</a:t>
            </a:r>
            <a:r>
              <a:rPr lang="en-IN" sz="1400" dirty="0"/>
              <a:t>(</a:t>
            </a:r>
            <a:r>
              <a:rPr lang="en-IN" sz="1400" dirty="0" err="1"/>
              <a:t>X_air</a:t>
            </a:r>
            <a:r>
              <a:rPr lang="en-IN" sz="1400" dirty="0"/>
              <a:t>, y)</a:t>
            </a:r>
          </a:p>
          <a:p>
            <a:pPr>
              <a:spcBef>
                <a:spcPts val="200"/>
              </a:spcBef>
            </a:pPr>
            <a:r>
              <a:rPr lang="en-IN" sz="1400" dirty="0"/>
              <a:t>2. Generate Out-of-Fold Probability Predictions on </a:t>
            </a:r>
            <a:r>
              <a:rPr lang="en-IN" sz="1400" dirty="0" err="1"/>
              <a:t>D_val</a:t>
            </a:r>
            <a:r>
              <a:rPr lang="en-IN" sz="1400" dirty="0"/>
              <a:t>:</a:t>
            </a:r>
          </a:p>
          <a:p>
            <a:pPr>
              <a:spcBef>
                <a:spcPts val="200"/>
              </a:spcBef>
            </a:pPr>
            <a:r>
              <a:rPr lang="en-IN" sz="1400" dirty="0"/>
              <a:t>      </a:t>
            </a:r>
            <a:r>
              <a:rPr lang="en-IN" sz="1400" dirty="0" err="1"/>
              <a:t>P_water</a:t>
            </a:r>
            <a:r>
              <a:rPr lang="en-IN" sz="1400" dirty="0"/>
              <a:t>(t), </a:t>
            </a:r>
            <a:r>
              <a:rPr lang="en-IN" sz="1400" dirty="0" err="1"/>
              <a:t>P_weather</a:t>
            </a:r>
            <a:r>
              <a:rPr lang="en-IN" sz="1400" dirty="0"/>
              <a:t>(t), </a:t>
            </a:r>
            <a:r>
              <a:rPr lang="en-IN" sz="1400" dirty="0" err="1"/>
              <a:t>P_air</a:t>
            </a:r>
            <a:r>
              <a:rPr lang="en-IN" sz="1400" dirty="0"/>
              <a:t>(t)</a:t>
            </a:r>
          </a:p>
          <a:p>
            <a:pPr>
              <a:spcBef>
                <a:spcPts val="200"/>
              </a:spcBef>
            </a:pPr>
            <a:r>
              <a:rPr lang="en-IN" sz="1400" dirty="0"/>
              <a:t>3. Train Late-Fusion Logistic Regression Meta-Learner:</a:t>
            </a:r>
          </a:p>
          <a:p>
            <a:pPr>
              <a:spcBef>
                <a:spcPts val="200"/>
              </a:spcBef>
            </a:pPr>
            <a:r>
              <a:rPr lang="en-IN" sz="1400" dirty="0"/>
              <a:t>      P_E(t) = sigma( beta_0 + </a:t>
            </a:r>
            <a:r>
              <a:rPr lang="en-IN" sz="1400" dirty="0" err="1"/>
              <a:t>beta_w</a:t>
            </a:r>
            <a:r>
              <a:rPr lang="en-IN" sz="1400" dirty="0"/>
              <a:t> * </a:t>
            </a:r>
            <a:r>
              <a:rPr lang="en-IN" sz="1400" dirty="0" err="1"/>
              <a:t>P_water</a:t>
            </a:r>
            <a:r>
              <a:rPr lang="en-IN" sz="1400" dirty="0"/>
              <a:t>(t) + </a:t>
            </a:r>
            <a:r>
              <a:rPr lang="en-IN" sz="1400" dirty="0" err="1"/>
              <a:t>beta_m</a:t>
            </a:r>
            <a:r>
              <a:rPr lang="en-IN" sz="1400" dirty="0"/>
              <a:t> * </a:t>
            </a:r>
            <a:r>
              <a:rPr lang="en-IN" sz="1400" dirty="0" err="1"/>
              <a:t>P_weather</a:t>
            </a:r>
            <a:r>
              <a:rPr lang="en-IN" sz="1400" dirty="0"/>
              <a:t>(t) + </a:t>
            </a:r>
            <a:r>
              <a:rPr lang="en-IN" sz="1400" dirty="0" err="1"/>
              <a:t>beta_a</a:t>
            </a:r>
            <a:r>
              <a:rPr lang="en-IN" sz="1400" dirty="0"/>
              <a:t> * </a:t>
            </a:r>
            <a:r>
              <a:rPr lang="en-IN" sz="1400" dirty="0" err="1"/>
              <a:t>P_air</a:t>
            </a:r>
            <a:r>
              <a:rPr lang="en-IN" sz="1400" dirty="0"/>
              <a:t>(t) )</a:t>
            </a:r>
          </a:p>
          <a:p>
            <a:pPr>
              <a:spcBef>
                <a:spcPts val="200"/>
              </a:spcBef>
            </a:pPr>
            <a:r>
              <a:rPr lang="en-IN" sz="1400" dirty="0"/>
              <a:t>4. Grid-search optimal threshold tau* on </a:t>
            </a:r>
            <a:r>
              <a:rPr lang="en-IN" sz="1400" dirty="0" err="1"/>
              <a:t>D_val</a:t>
            </a:r>
            <a:r>
              <a:rPr lang="en-IN" sz="1400" dirty="0"/>
              <a:t>:</a:t>
            </a:r>
          </a:p>
          <a:p>
            <a:pPr>
              <a:spcBef>
                <a:spcPts val="200"/>
              </a:spcBef>
            </a:pPr>
            <a:r>
              <a:rPr lang="en-IN" sz="1400" dirty="0"/>
              <a:t>      tau* = argmax_{tau in [0.1, 0.9]} F1_event(P_E(t) &gt;= tau)</a:t>
            </a:r>
          </a:p>
          <a:p>
            <a:pPr>
              <a:spcBef>
                <a:spcPts val="200"/>
              </a:spcBef>
            </a:pPr>
            <a:r>
              <a:rPr lang="en-IN" sz="1400" dirty="0"/>
              <a:t>5. Freeze all weights beta, hyper-parameters, and tau* (Commit SHA-256 hashes to FROZEN.md)</a:t>
            </a:r>
          </a:p>
          <a:p>
            <a:pPr>
              <a:spcBef>
                <a:spcPts val="200"/>
              </a:spcBef>
            </a:pPr>
            <a:r>
              <a:rPr lang="en-IN" sz="1400" dirty="0"/>
              <a:t>6. Evaluate ONCE on Holdout </a:t>
            </a:r>
            <a:r>
              <a:rPr lang="en-IN" sz="1400" dirty="0" err="1"/>
              <a:t>D_test</a:t>
            </a:r>
            <a:r>
              <a:rPr lang="en-IN" sz="1400" dirty="0"/>
              <a:t> (2025):</a:t>
            </a:r>
          </a:p>
          <a:p>
            <a:pPr>
              <a:spcBef>
                <a:spcPts val="200"/>
              </a:spcBef>
            </a:pPr>
            <a:r>
              <a:rPr lang="en-IN" sz="1400" dirty="0"/>
              <a:t>      For each timestamp t where </a:t>
            </a:r>
            <a:r>
              <a:rPr lang="en-IN" sz="1400" dirty="0" err="1"/>
              <a:t>Is_Healthy</a:t>
            </a:r>
            <a:r>
              <a:rPr lang="en-IN" sz="1400" dirty="0"/>
              <a:t>(t) == 1:</a:t>
            </a:r>
          </a:p>
          <a:p>
            <a:pPr>
              <a:spcBef>
                <a:spcPts val="200"/>
              </a:spcBef>
            </a:pPr>
            <a:r>
              <a:rPr lang="en-IN" sz="1400" dirty="0"/>
              <a:t>         Issue Warning: W(t) = 1 if P_E(t) &gt;= tau* else 0</a:t>
            </a:r>
          </a:p>
          <a:p>
            <a:pPr>
              <a:spcBef>
                <a:spcPts val="200"/>
              </a:spcBef>
            </a:pPr>
            <a:r>
              <a:rPr lang="en-IN" sz="1400" dirty="0"/>
              <a:t>         If W(t) == 1 and actual onset occurs at </a:t>
            </a:r>
            <a:r>
              <a:rPr lang="en-IN" sz="1400" dirty="0" err="1"/>
              <a:t>t_onset</a:t>
            </a:r>
            <a:r>
              <a:rPr lang="en-IN" sz="1400" dirty="0"/>
              <a:t>:</a:t>
            </a:r>
          </a:p>
          <a:p>
            <a:pPr>
              <a:spcBef>
                <a:spcPts val="200"/>
              </a:spcBef>
            </a:pPr>
            <a:r>
              <a:rPr lang="en-IN" sz="1400" dirty="0"/>
              <a:t>            Lead time ell = min(</a:t>
            </a:r>
            <a:r>
              <a:rPr lang="en-IN" sz="1400" dirty="0" err="1"/>
              <a:t>t_onset</a:t>
            </a:r>
            <a:r>
              <a:rPr lang="en-IN" sz="1400" dirty="0"/>
              <a:t> - t, H)</a:t>
            </a:r>
          </a:p>
          <a:p>
            <a:pPr>
              <a:spcBef>
                <a:spcPts val="200"/>
              </a:spcBef>
            </a:pPr>
            <a:r>
              <a:rPr lang="en-IN" sz="1400" dirty="0"/>
              <a:t>7. Return P_E(t), W(t), ell</a:t>
            </a:r>
          </a:p>
        </p:txBody>
      </p:sp>
      <p:sp>
        <p:nvSpPr>
          <p:cNvPr id="107" name="Google Shape;107;p3">
            <a:extLst>
              <a:ext uri="{FF2B5EF4-FFF2-40B4-BE49-F238E27FC236}">
                <a16:creationId xmlns:a16="http://schemas.microsoft.com/office/drawing/2014/main" id="{CEF48C77-DEAA-81D0-DD59-0539BAD0BFF9}"/>
              </a:ext>
            </a:extLst>
          </p:cNvPr>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a:p>
            <a:pPr lvl="0"/>
            <a:endParaRPr lang="en-US"/>
          </a:p>
        </p:txBody>
      </p:sp>
    </p:spTree>
    <p:extLst>
      <p:ext uri="{BB962C8B-B14F-4D97-AF65-F5344CB8AC3E}">
        <p14:creationId xmlns:p14="http://schemas.microsoft.com/office/powerpoint/2010/main" val="3712408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1"/>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IN"/>
              <a:t>Implementation Details</a:t>
            </a:r>
          </a:p>
        </p:txBody>
      </p:sp>
      <p:sp>
        <p:nvSpPr>
          <p:cNvPr id="156" name="Google Shape;156;p11"/>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51A6007-B0B2-0E7E-6F31-BED6E049ABA3}"/>
                  </a:ext>
                </a:extLst>
              </p:cNvPr>
              <p:cNvSpPr txBox="1"/>
              <p:nvPr/>
            </p:nvSpPr>
            <p:spPr>
              <a:xfrm>
                <a:off x="457200" y="1344212"/>
                <a:ext cx="8229600" cy="5262979"/>
              </a:xfrm>
              <a:prstGeom prst="rect">
                <a:avLst/>
              </a:prstGeom>
              <a:noFill/>
            </p:spPr>
            <p:txBody>
              <a:bodyPr wrap="square">
                <a:spAutoFit/>
              </a:bodyPr>
              <a:lstStyle/>
              <a:p>
                <a:pPr marL="342900" lvl="0" indent="-342900" algn="just">
                  <a:buFont typeface="Arial" panose="020B0604020202020204" pitchFamily="34" charset="0"/>
                  <a:buChar char="•"/>
                </a:pPr>
                <a:r>
                  <a:rPr lang="en-IN" sz="1600" b="1" dirty="0"/>
                  <a:t>Programming Environment:</a:t>
                </a:r>
                <a:r>
                  <a:rPr lang="en-IN" sz="1600" dirty="0"/>
                  <a:t> Python 3.10.x running on Windows / Linux.</a:t>
                </a:r>
              </a:p>
              <a:p>
                <a:pPr marL="342900" lvl="0" indent="-342900" algn="just">
                  <a:buFont typeface="Arial" panose="020B0604020202020204" pitchFamily="34" charset="0"/>
                  <a:buChar char="•"/>
                </a:pPr>
                <a:r>
                  <a:rPr lang="en-IN" sz="1600" b="1" dirty="0"/>
                  <a:t>Core Libraries:</a:t>
                </a:r>
                <a:r>
                  <a:rPr lang="en-IN" sz="1600" dirty="0"/>
                  <a:t> </a:t>
                </a:r>
              </a:p>
              <a:p>
                <a:pPr marL="742950" lvl="1" indent="-285750" algn="just">
                  <a:buFont typeface="Arial" panose="020B0604020202020204" pitchFamily="34" charset="0"/>
                  <a:buChar char="•"/>
                </a:pPr>
                <a:r>
                  <a:rPr lang="en-IN" sz="1600" dirty="0"/>
                  <a:t>Machine Learning: </a:t>
                </a:r>
                <a:r>
                  <a:rPr lang="en-IN" sz="1600" dirty="0" err="1">
                    <a:effectLst/>
                    <a:latin typeface="Arial"/>
                  </a:rPr>
                  <a:t>lightgbm</a:t>
                </a:r>
                <a:r>
                  <a:rPr lang="en-IN" sz="1600" dirty="0">
                    <a:effectLst/>
                    <a:latin typeface="Arial"/>
                  </a:rPr>
                  <a:t> (v4.3.0)</a:t>
                </a:r>
                <a:r>
                  <a:rPr lang="en-IN" sz="1600" dirty="0"/>
                  <a:t>, </a:t>
                </a:r>
                <a:r>
                  <a:rPr lang="en-IN" sz="1600" dirty="0">
                    <a:effectLst/>
                    <a:latin typeface="Arial"/>
                  </a:rPr>
                  <a:t>scikit-learn (v1.4.2)</a:t>
                </a:r>
                <a:r>
                  <a:rPr lang="en-IN" sz="1600" dirty="0"/>
                  <a:t>, </a:t>
                </a:r>
                <a:r>
                  <a:rPr lang="en-IN" sz="1600" dirty="0" err="1">
                    <a:effectLst/>
                    <a:latin typeface="Arial"/>
                  </a:rPr>
                  <a:t>xgboost</a:t>
                </a:r>
                <a:r>
                  <a:rPr lang="en-IN" sz="1600" dirty="0">
                    <a:effectLst/>
                    <a:latin typeface="Arial"/>
                  </a:rPr>
                  <a:t> (v2.0.3)</a:t>
                </a:r>
                <a:endParaRPr lang="en-IN" sz="1600" dirty="0"/>
              </a:p>
              <a:p>
                <a:pPr marL="742950" lvl="1" indent="-285750" algn="just">
                  <a:buFont typeface="Arial" panose="020B0604020202020204" pitchFamily="34" charset="0"/>
                  <a:buChar char="•"/>
                </a:pPr>
                <a:r>
                  <a:rPr lang="en-IN" sz="1600" dirty="0"/>
                  <a:t>Explainability: </a:t>
                </a:r>
                <a:r>
                  <a:rPr lang="en-IN" sz="1600" dirty="0" err="1">
                    <a:effectLst/>
                    <a:latin typeface="Arial"/>
                  </a:rPr>
                  <a:t>shap</a:t>
                </a:r>
                <a:r>
                  <a:rPr lang="en-IN" sz="1600" dirty="0">
                    <a:effectLst/>
                    <a:latin typeface="Arial"/>
                  </a:rPr>
                  <a:t> (v0.45.0)</a:t>
                </a:r>
                <a:r>
                  <a:rPr lang="en-IN" sz="1600" dirty="0"/>
                  <a:t> (</a:t>
                </a:r>
                <a:r>
                  <a:rPr lang="en-IN" sz="1600" dirty="0" err="1"/>
                  <a:t>TreeExplainer</a:t>
                </a:r>
                <a:r>
                  <a:rPr lang="en-IN" sz="1600" dirty="0"/>
                  <a:t> algorithm)</a:t>
                </a:r>
              </a:p>
              <a:p>
                <a:pPr marL="742950" lvl="1" indent="-285750" algn="just">
                  <a:buFont typeface="Arial" panose="020B0604020202020204" pitchFamily="34" charset="0"/>
                  <a:buChar char="•"/>
                </a:pPr>
                <a:r>
                  <a:rPr lang="en-IN" sz="1600" dirty="0"/>
                  <a:t>Data Processing: </a:t>
                </a:r>
                <a:r>
                  <a:rPr lang="en-IN" sz="1600" dirty="0">
                    <a:effectLst/>
                    <a:latin typeface="Arial"/>
                  </a:rPr>
                  <a:t>pandas (v2.2.2)</a:t>
                </a:r>
                <a:r>
                  <a:rPr lang="en-IN" sz="1600" dirty="0"/>
                  <a:t>, </a:t>
                </a:r>
                <a:r>
                  <a:rPr lang="en-IN" sz="1600" dirty="0" err="1">
                    <a:effectLst/>
                    <a:latin typeface="Arial"/>
                  </a:rPr>
                  <a:t>numpy</a:t>
                </a:r>
                <a:r>
                  <a:rPr lang="en-IN" sz="1600" dirty="0">
                    <a:effectLst/>
                    <a:latin typeface="Arial"/>
                  </a:rPr>
                  <a:t> (v1.26.4)</a:t>
                </a:r>
                <a:r>
                  <a:rPr lang="en-IN" sz="1600" dirty="0"/>
                  <a:t>, </a:t>
                </a:r>
                <a:r>
                  <a:rPr lang="en-IN" sz="1600" dirty="0" err="1">
                    <a:effectLst/>
                    <a:latin typeface="Arial"/>
                  </a:rPr>
                  <a:t>pyarrow</a:t>
                </a:r>
                <a:r>
                  <a:rPr lang="en-IN" sz="1600" dirty="0"/>
                  <a:t> (Parquet storage)</a:t>
                </a:r>
              </a:p>
              <a:p>
                <a:pPr marL="742950" lvl="1" indent="-285750" algn="just">
                  <a:buFont typeface="Arial" panose="020B0604020202020204" pitchFamily="34" charset="0"/>
                  <a:buChar char="•"/>
                </a:pPr>
                <a:r>
                  <a:rPr lang="en-IN" sz="1600" dirty="0"/>
                  <a:t>Interactive UI: </a:t>
                </a:r>
                <a:r>
                  <a:rPr lang="en-IN" sz="1600" dirty="0" err="1">
                    <a:effectLst/>
                    <a:latin typeface="Arial"/>
                  </a:rPr>
                  <a:t>streamlit</a:t>
                </a:r>
                <a:r>
                  <a:rPr lang="en-IN" sz="1600" dirty="0">
                    <a:effectLst/>
                    <a:latin typeface="Arial"/>
                  </a:rPr>
                  <a:t> (v1.33.0)</a:t>
                </a:r>
                <a:r>
                  <a:rPr lang="en-IN" sz="1600" dirty="0"/>
                  <a:t>, </a:t>
                </a:r>
                <a:r>
                  <a:rPr lang="en-IN" sz="1600" dirty="0" err="1">
                    <a:effectLst/>
                    <a:latin typeface="Arial"/>
                  </a:rPr>
                  <a:t>plotly</a:t>
                </a:r>
                <a:r>
                  <a:rPr lang="en-IN" sz="1600" dirty="0">
                    <a:effectLst/>
                    <a:latin typeface="Arial"/>
                  </a:rPr>
                  <a:t> (v5.20.0)</a:t>
                </a:r>
                <a:r>
                  <a:rPr lang="en-IN" sz="1600" dirty="0"/>
                  <a:t>, </a:t>
                </a:r>
                <a:r>
                  <a:rPr lang="en-IN" sz="1600" dirty="0">
                    <a:effectLst/>
                    <a:latin typeface="Arial"/>
                  </a:rPr>
                  <a:t>matplotlib (v3.8.4)</a:t>
                </a:r>
                <a:endParaRPr lang="en-IN" sz="1600" dirty="0"/>
              </a:p>
              <a:p>
                <a:pPr marL="342900" lvl="0" indent="-342900" algn="just">
                  <a:buFont typeface="Arial" panose="020B0604020202020204" pitchFamily="34" charset="0"/>
                  <a:buChar char="•"/>
                </a:pPr>
                <a:r>
                  <a:rPr lang="en-IN" sz="1600" b="1" dirty="0" err="1"/>
                  <a:t>LightGBM</a:t>
                </a:r>
                <a:r>
                  <a:rPr lang="en-IN" sz="1600" b="1" dirty="0"/>
                  <a:t> Production Hyperparameter Configuration:</a:t>
                </a:r>
                <a:r>
                  <a:rPr lang="en-IN" sz="1600" dirty="0"/>
                  <a:t> </a:t>
                </a:r>
              </a:p>
              <a:p>
                <a:pPr marL="742950" lvl="1" indent="-285750" algn="just">
                  <a:buFont typeface="Arial" panose="020B0604020202020204" pitchFamily="34" charset="0"/>
                  <a:buChar char="•"/>
                </a:pPr>
                <a:r>
                  <a:rPr lang="en-IN" sz="1600" dirty="0" err="1">
                    <a:effectLst/>
                    <a:latin typeface="Arial"/>
                  </a:rPr>
                  <a:t>n_estimators</a:t>
                </a:r>
                <a:r>
                  <a:rPr lang="en-IN" sz="1600" dirty="0"/>
                  <a:t>: 400 trees</a:t>
                </a:r>
              </a:p>
              <a:p>
                <a:pPr marL="742950" lvl="1" indent="-285750" algn="just">
                  <a:buFont typeface="Arial" panose="020B0604020202020204" pitchFamily="34" charset="0"/>
                  <a:buChar char="•"/>
                </a:pPr>
                <a:r>
                  <a:rPr lang="en-IN" sz="1600" dirty="0" err="1">
                    <a:effectLst/>
                    <a:latin typeface="Arial"/>
                  </a:rPr>
                  <a:t>learning_rate</a:t>
                </a:r>
                <a:r>
                  <a:rPr lang="en-IN" sz="1600" dirty="0"/>
                  <a:t>: 0.05</a:t>
                </a:r>
              </a:p>
              <a:p>
                <a:pPr marL="742950" lvl="1" indent="-285750" algn="just">
                  <a:buFont typeface="Arial" panose="020B0604020202020204" pitchFamily="34" charset="0"/>
                  <a:buChar char="•"/>
                </a:pPr>
                <a:r>
                  <a:rPr lang="en-IN" sz="1600" dirty="0" err="1">
                    <a:effectLst/>
                    <a:latin typeface="Arial"/>
                  </a:rPr>
                  <a:t>num_leaves</a:t>
                </a:r>
                <a:r>
                  <a:rPr lang="en-IN" sz="1600" dirty="0"/>
                  <a:t>: 31</a:t>
                </a:r>
              </a:p>
              <a:p>
                <a:pPr marL="742950" lvl="1" indent="-285750" algn="just">
                  <a:buFont typeface="Arial" panose="020B0604020202020204" pitchFamily="34" charset="0"/>
                  <a:buChar char="•"/>
                </a:pPr>
                <a:r>
                  <a:rPr lang="en-IN" sz="1600" dirty="0" err="1">
                    <a:effectLst/>
                    <a:latin typeface="Arial"/>
                  </a:rPr>
                  <a:t>min_child_samples</a:t>
                </a:r>
                <a:r>
                  <a:rPr lang="en-IN" sz="1600" dirty="0"/>
                  <a:t>: 50</a:t>
                </a:r>
              </a:p>
              <a:p>
                <a:pPr marL="742950" lvl="1" indent="-285750" algn="just">
                  <a:buFont typeface="Arial" panose="020B0604020202020204" pitchFamily="34" charset="0"/>
                  <a:buChar char="•"/>
                </a:pPr>
                <a:r>
                  <a:rPr lang="en-IN" sz="1600" dirty="0">
                    <a:effectLst/>
                    <a:latin typeface="Arial"/>
                  </a:rPr>
                  <a:t>subsample</a:t>
                </a:r>
                <a:r>
                  <a:rPr lang="en-IN" sz="1600" dirty="0"/>
                  <a:t>: 0.8 (Row bagging)</a:t>
                </a:r>
              </a:p>
              <a:p>
                <a:pPr marL="742950" lvl="1" indent="-285750" algn="just">
                  <a:buFont typeface="Arial" panose="020B0604020202020204" pitchFamily="34" charset="0"/>
                  <a:buChar char="•"/>
                </a:pPr>
                <a:r>
                  <a:rPr lang="en-IN" sz="1600" dirty="0" err="1">
                    <a:effectLst/>
                    <a:latin typeface="Arial"/>
                  </a:rPr>
                  <a:t>colsample_bytree</a:t>
                </a:r>
                <a:r>
                  <a:rPr lang="en-IN" sz="1600" dirty="0"/>
                  <a:t>: 0.8 (Feature bagging)</a:t>
                </a:r>
              </a:p>
              <a:p>
                <a:pPr marL="742950" lvl="1" indent="-285750" algn="just">
                  <a:buFont typeface="Arial" panose="020B0604020202020204" pitchFamily="34" charset="0"/>
                  <a:buChar char="•"/>
                </a:pPr>
                <a:r>
                  <a:rPr lang="en-IN" sz="1600" dirty="0">
                    <a:effectLst/>
                    <a:latin typeface="Arial"/>
                  </a:rPr>
                  <a:t>objective</a:t>
                </a:r>
                <a:r>
                  <a:rPr lang="en-IN" sz="1600" dirty="0"/>
                  <a:t>: </a:t>
                </a:r>
                <a:r>
                  <a:rPr lang="en-IN" sz="1600" dirty="0">
                    <a:effectLst/>
                    <a:latin typeface="Arial"/>
                  </a:rPr>
                  <a:t>binary</a:t>
                </a:r>
                <a:r>
                  <a:rPr lang="en-IN" sz="1600" dirty="0"/>
                  <a:t> with class-weighted cost sensitivity (</a:t>
                </a:r>
                <a:r>
                  <a:rPr lang="en-IN" sz="1600" dirty="0" err="1">
                    <a:effectLst/>
                    <a:latin typeface="Arial"/>
                  </a:rPr>
                  <a:t>is_unbalance</a:t>
                </a:r>
                <a:r>
                  <a:rPr lang="en-IN" sz="1600" dirty="0">
                    <a:effectLst/>
                    <a:latin typeface="Arial"/>
                  </a:rPr>
                  <a:t>=True</a:t>
                </a:r>
                <a:r>
                  <a:rPr lang="en-IN" sz="1600" dirty="0"/>
                  <a:t>)</a:t>
                </a:r>
              </a:p>
              <a:p>
                <a:pPr marL="742950" lvl="1" indent="-285750" algn="just">
                  <a:buFont typeface="Arial" panose="020B0604020202020204" pitchFamily="34" charset="0"/>
                  <a:buChar char="•"/>
                </a:pPr>
                <a:r>
                  <a:rPr lang="en-IN" sz="1600" dirty="0" err="1">
                    <a:effectLst/>
                    <a:latin typeface="Arial"/>
                  </a:rPr>
                  <a:t>random_state</a:t>
                </a:r>
                <a:r>
                  <a:rPr lang="en-IN" sz="1600" dirty="0"/>
                  <a:t>: Seeds </a:t>
                </a:r>
                <a14:m>
                  <m:oMath xmlns:m="http://schemas.openxmlformats.org/officeDocument/2006/math">
                    <m:d>
                      <m:dPr>
                        <m:begChr m:val="{"/>
                        <m:endChr m:val="}"/>
                        <m:sepChr m:val=","/>
                        <m:ctrlPr>
                          <a:rPr lang="en-IN" sz="1600" i="0">
                            <a:latin typeface="Cambria Math" panose="02040503050406030204" pitchFamily="18" charset="0"/>
                          </a:rPr>
                        </m:ctrlPr>
                      </m:dPr>
                      <m:e>
                        <m:r>
                          <a:rPr lang="en-IN" sz="1600" i="0">
                            <a:latin typeface="Cambria Math" panose="02040503050406030204" pitchFamily="18" charset="0"/>
                          </a:rPr>
                          <m:t>0</m:t>
                        </m:r>
                      </m:e>
                      <m:e>
                        <m:r>
                          <a:rPr lang="en-IN" sz="1600" i="0">
                            <a:latin typeface="Cambria Math" panose="02040503050406030204" pitchFamily="18" charset="0"/>
                          </a:rPr>
                          <m:t>1</m:t>
                        </m:r>
                      </m:e>
                      <m:e>
                        <m:r>
                          <a:rPr lang="en-IN" sz="1600" i="0">
                            <a:latin typeface="Cambria Math" panose="02040503050406030204" pitchFamily="18" charset="0"/>
                          </a:rPr>
                          <m:t>2</m:t>
                        </m:r>
                      </m:e>
                    </m:d>
                  </m:oMath>
                </a14:m>
                <a:r>
                  <a:rPr lang="en-IN" sz="1600" dirty="0"/>
                  <a:t>averaged for stability.</a:t>
                </a:r>
              </a:p>
              <a:p>
                <a:pPr marL="342900" lvl="0" indent="-342900" algn="just">
                  <a:buFont typeface="Arial" panose="020B0604020202020204" pitchFamily="34" charset="0"/>
                  <a:buChar char="•"/>
                </a:pPr>
                <a:r>
                  <a:rPr lang="en-IN" sz="1600" b="1" dirty="0"/>
                  <a:t>Reproducibility Guarantee:</a:t>
                </a:r>
                <a:r>
                  <a:rPr lang="en-IN" sz="1600" dirty="0"/>
                  <a:t> </a:t>
                </a:r>
              </a:p>
              <a:p>
                <a:pPr marL="742950" lvl="1" indent="-285750" algn="just">
                  <a:buFont typeface="Arial" panose="020B0604020202020204" pitchFamily="34" charset="0"/>
                  <a:buChar char="•"/>
                </a:pPr>
                <a:r>
                  <a:rPr lang="en-IN" sz="1600" dirty="0"/>
                  <a:t>17 automated unit tests (</a:t>
                </a:r>
                <a:r>
                  <a:rPr lang="en-IN" sz="1600" dirty="0" err="1">
                    <a:effectLst/>
                    <a:latin typeface="Arial"/>
                  </a:rPr>
                  <a:t>pytest</a:t>
                </a:r>
                <a:r>
                  <a:rPr lang="en-IN" sz="1600" dirty="0"/>
                  <a:t>).</a:t>
                </a:r>
              </a:p>
              <a:p>
                <a:pPr marL="742950" lvl="1" indent="-285750" algn="just">
                  <a:buFont typeface="Arial" panose="020B0604020202020204" pitchFamily="34" charset="0"/>
                  <a:buChar char="•"/>
                </a:pPr>
                <a:r>
                  <a:rPr lang="en-IN" sz="1600" dirty="0"/>
                  <a:t>81 frozen model artifacts locked by pre-registered SHA-256 cryptographic checksums in </a:t>
                </a:r>
                <a:r>
                  <a:rPr lang="en-IN" sz="1600" dirty="0">
                    <a:effectLst/>
                    <a:latin typeface="Arial"/>
                  </a:rPr>
                  <a:t>FROZEN.md</a:t>
                </a:r>
                <a:r>
                  <a:rPr lang="en-IN" sz="1600" dirty="0"/>
                  <a:t>.</a:t>
                </a:r>
              </a:p>
              <a:p>
                <a:pPr marL="742950" lvl="1" indent="-285750" algn="just">
                  <a:buFont typeface="Arial" panose="020B0604020202020204" pitchFamily="34" charset="0"/>
                  <a:buChar char="•"/>
                </a:pPr>
                <a:r>
                  <a:rPr lang="en-IN" sz="1600" dirty="0"/>
                  <a:t>The hold-out evaluation on 2025 data was run </a:t>
                </a:r>
                <a:r>
                  <a:rPr lang="en-IN" sz="1600" b="1" dirty="0"/>
                  <a:t>once</a:t>
                </a:r>
                <a:r>
                  <a:rPr lang="en-IN" sz="1600" dirty="0"/>
                  <a:t> without iterative parameter tuning.</a:t>
                </a:r>
              </a:p>
            </p:txBody>
          </p:sp>
        </mc:Choice>
        <mc:Fallback xmlns="">
          <p:sp>
            <p:nvSpPr>
              <p:cNvPr id="6" name="TextBox 5">
                <a:extLst>
                  <a:ext uri="{FF2B5EF4-FFF2-40B4-BE49-F238E27FC236}">
                    <a16:creationId xmlns:a16="http://schemas.microsoft.com/office/drawing/2014/main" id="{051A6007-B0B2-0E7E-6F31-BED6E049ABA3}"/>
                  </a:ext>
                </a:extLst>
              </p:cNvPr>
              <p:cNvSpPr txBox="1">
                <a:spLocks noRot="1" noChangeAspect="1" noMove="1" noResize="1" noEditPoints="1" noAdjustHandles="1" noChangeArrowheads="1" noChangeShapeType="1" noTextEdit="1"/>
              </p:cNvSpPr>
              <p:nvPr/>
            </p:nvSpPr>
            <p:spPr>
              <a:xfrm>
                <a:off x="457200" y="1344212"/>
                <a:ext cx="8229600" cy="5262979"/>
              </a:xfrm>
              <a:prstGeom prst="rect">
                <a:avLst/>
              </a:prstGeom>
              <a:blipFill>
                <a:blip r:embed="rId3"/>
                <a:stretch>
                  <a:fillRect l="-296" t="-348" r="-370" b="-579"/>
                </a:stretch>
              </a:blipFill>
            </p:spPr>
            <p:txBody>
              <a:bodyPr/>
              <a:lstStyle/>
              <a:p>
                <a:r>
                  <a:rPr lang="en-IN">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27F3E52D-1EB5-A00F-86C0-67F42CB68685}"/>
            </a:ext>
          </a:extLst>
        </p:cNvPr>
        <p:cNvGrpSpPr/>
        <p:nvPr/>
      </p:nvGrpSpPr>
      <p:grpSpPr>
        <a:xfrm>
          <a:off x="0" y="0"/>
          <a:ext cx="0" cy="0"/>
          <a:chOff x="0" y="0"/>
          <a:chExt cx="0" cy="0"/>
        </a:xfrm>
      </p:grpSpPr>
      <p:sp>
        <p:nvSpPr>
          <p:cNvPr id="154" name="Google Shape;154;p11">
            <a:extLst>
              <a:ext uri="{FF2B5EF4-FFF2-40B4-BE49-F238E27FC236}">
                <a16:creationId xmlns:a16="http://schemas.microsoft.com/office/drawing/2014/main" id="{B8F98690-0C88-F5BF-E5E0-11FD1EC1C14B}"/>
              </a:ext>
            </a:extLst>
          </p:cNvPr>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IN"/>
              <a:t>Implementation Details</a:t>
            </a:r>
          </a:p>
        </p:txBody>
      </p:sp>
      <p:sp>
        <p:nvSpPr>
          <p:cNvPr id="156" name="Google Shape;156;p11">
            <a:extLst>
              <a:ext uri="{FF2B5EF4-FFF2-40B4-BE49-F238E27FC236}">
                <a16:creationId xmlns:a16="http://schemas.microsoft.com/office/drawing/2014/main" id="{8AAF2183-0B48-81DC-0F8F-7EE479048667}"/>
              </a:ext>
            </a:extLst>
          </p:cNvPr>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p:pic>
        <p:nvPicPr>
          <p:cNvPr id="3" name="Picture 2">
            <a:extLst>
              <a:ext uri="{FF2B5EF4-FFF2-40B4-BE49-F238E27FC236}">
                <a16:creationId xmlns:a16="http://schemas.microsoft.com/office/drawing/2014/main" id="{3DDCFF32-B0A6-8091-492A-C7A28DBF8E85}"/>
              </a:ext>
            </a:extLst>
          </p:cNvPr>
          <p:cNvPicPr>
            <a:picLocks noChangeAspect="1"/>
          </p:cNvPicPr>
          <p:nvPr/>
        </p:nvPicPr>
        <p:blipFill>
          <a:blip r:embed="rId3"/>
          <a:stretch>
            <a:fillRect/>
          </a:stretch>
        </p:blipFill>
        <p:spPr>
          <a:xfrm>
            <a:off x="0" y="1321685"/>
            <a:ext cx="9144000" cy="2059773"/>
          </a:xfrm>
          <a:prstGeom prst="rect">
            <a:avLst/>
          </a:prstGeom>
        </p:spPr>
      </p:pic>
      <p:pic>
        <p:nvPicPr>
          <p:cNvPr id="5" name="Picture 4">
            <a:extLst>
              <a:ext uri="{FF2B5EF4-FFF2-40B4-BE49-F238E27FC236}">
                <a16:creationId xmlns:a16="http://schemas.microsoft.com/office/drawing/2014/main" id="{9ABD11F6-5CA3-F431-F5FB-9DFBD98E5FB0}"/>
              </a:ext>
            </a:extLst>
          </p:cNvPr>
          <p:cNvPicPr>
            <a:picLocks noChangeAspect="1"/>
          </p:cNvPicPr>
          <p:nvPr/>
        </p:nvPicPr>
        <p:blipFill>
          <a:blip r:embed="rId4"/>
          <a:stretch>
            <a:fillRect/>
          </a:stretch>
        </p:blipFill>
        <p:spPr>
          <a:xfrm>
            <a:off x="-38100" y="3476543"/>
            <a:ext cx="9182100" cy="2479277"/>
          </a:xfrm>
          <a:prstGeom prst="rect">
            <a:avLst/>
          </a:prstGeom>
        </p:spPr>
      </p:pic>
    </p:spTree>
    <p:extLst>
      <p:ext uri="{BB962C8B-B14F-4D97-AF65-F5344CB8AC3E}">
        <p14:creationId xmlns:p14="http://schemas.microsoft.com/office/powerpoint/2010/main" val="3393695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fontScale="90000"/>
          </a:bodyPr>
          <a:lstStyle/>
          <a:p>
            <a:r>
              <a:rPr lang="en-US" dirty="0"/>
              <a:t>Results &amp; Discussion — Dataset Splits &amp; Class Balance</a:t>
            </a:r>
          </a:p>
        </p:txBody>
      </p:sp>
      <p:sp>
        <p:nvSpPr>
          <p:cNvPr id="163" name="Google Shape;163;p12"/>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C037265-D324-2EDA-4938-E1CC8A227EED}"/>
                  </a:ext>
                </a:extLst>
              </p:cNvPr>
              <p:cNvSpPr txBox="1"/>
              <p:nvPr/>
            </p:nvSpPr>
            <p:spPr>
              <a:xfrm>
                <a:off x="457200" y="1592104"/>
                <a:ext cx="8229600" cy="1600438"/>
              </a:xfrm>
              <a:prstGeom prst="rect">
                <a:avLst/>
              </a:prstGeom>
              <a:noFill/>
            </p:spPr>
            <p:txBody>
              <a:bodyPr wrap="square">
                <a:spAutoFit/>
              </a:bodyPr>
              <a:lstStyle/>
              <a:p>
                <a:pPr>
                  <a:buNone/>
                </a:pPr>
                <a:r>
                  <a:rPr lang="en-IN" b="1" dirty="0"/>
                  <a:t>Temporal Partitioning Protocol:</a:t>
                </a:r>
                <a:endParaRPr lang="en-IN" dirty="0"/>
              </a:p>
              <a:p>
                <a:pPr marL="342900" lvl="0" indent="-342900">
                  <a:buFont typeface="Arial" panose="020B0604020202020204" pitchFamily="34" charset="0"/>
                  <a:buChar char="•"/>
                </a:pPr>
                <a:r>
                  <a:rPr lang="en-IN" b="1" dirty="0"/>
                  <a:t>Training Split (2023):</a:t>
                </a:r>
                <a:r>
                  <a:rPr lang="en-IN" dirty="0"/>
                  <a:t> 131,400 hourly records (39.0% share) across 15 stations; 161 event onsets. Used strictly for fitting tree leaves.</a:t>
                </a:r>
              </a:p>
              <a:p>
                <a:pPr marL="342900" lvl="0" indent="-342900">
                  <a:buFont typeface="Arial" panose="020B0604020202020204" pitchFamily="34" charset="0"/>
                  <a:buChar char="•"/>
                </a:pPr>
                <a:r>
                  <a:rPr lang="en-IN" b="1" dirty="0"/>
                  <a:t>Development/Validation Split (2024):</a:t>
                </a:r>
                <a:r>
                  <a:rPr lang="en-IN" dirty="0"/>
                  <a:t> 129,240 hourly records (38.3% share); 145 event onsets. Used for hyperparameter tuning, ensemble weights (</a:t>
                </a:r>
                <a14:m>
                  <m:oMath xmlns:m="http://schemas.openxmlformats.org/officeDocument/2006/math">
                    <m:r>
                      <a:rPr lang="en-IN" i="1">
                        <a:latin typeface="Cambria Math" panose="02040503050406030204" pitchFamily="18" charset="0"/>
                      </a:rPr>
                      <m:t>𝛽</m:t>
                    </m:r>
                  </m:oMath>
                </a14:m>
                <a:r>
                  <a:rPr lang="en-IN" dirty="0"/>
                  <a:t>), and threshold selection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𝜏</m:t>
                        </m:r>
                      </m:e>
                      <m:sup>
                        <m:r>
                          <a:rPr lang="en-IN" i="0">
                            <a:latin typeface="Cambria Math" panose="02040503050406030204" pitchFamily="18" charset="0"/>
                          </a:rPr>
                          <m:t>∗</m:t>
                        </m:r>
                      </m:sup>
                    </m:sSup>
                  </m:oMath>
                </a14:m>
                <a:r>
                  <a:rPr lang="en-IN" dirty="0"/>
                  <a:t>).</a:t>
                </a:r>
              </a:p>
              <a:p>
                <a:pPr marL="342900" lvl="0" indent="-342900">
                  <a:buFont typeface="Arial" panose="020B0604020202020204" pitchFamily="34" charset="0"/>
                  <a:buChar char="•"/>
                </a:pPr>
                <a:r>
                  <a:rPr lang="en-IN" b="1" dirty="0"/>
                  <a:t>Frozen Hold-Out Split (2025):</a:t>
                </a:r>
                <a:r>
                  <a:rPr lang="en-IN" dirty="0"/>
                  <a:t> 76,608 hourly records (22.7% share); 81 event onsets. Evaluated once without feedback.</a:t>
                </a:r>
              </a:p>
            </p:txBody>
          </p:sp>
        </mc:Choice>
        <mc:Fallback xmlns="">
          <p:sp>
            <p:nvSpPr>
              <p:cNvPr id="4" name="TextBox 3">
                <a:extLst>
                  <a:ext uri="{FF2B5EF4-FFF2-40B4-BE49-F238E27FC236}">
                    <a16:creationId xmlns:a16="http://schemas.microsoft.com/office/drawing/2014/main" id="{AC037265-D324-2EDA-4938-E1CC8A227EED}"/>
                  </a:ext>
                </a:extLst>
              </p:cNvPr>
              <p:cNvSpPr txBox="1">
                <a:spLocks noRot="1" noChangeAspect="1" noMove="1" noResize="1" noEditPoints="1" noAdjustHandles="1" noChangeArrowheads="1" noChangeShapeType="1" noTextEdit="1"/>
              </p:cNvSpPr>
              <p:nvPr/>
            </p:nvSpPr>
            <p:spPr>
              <a:xfrm>
                <a:off x="457200" y="1592104"/>
                <a:ext cx="8229600" cy="1600438"/>
              </a:xfrm>
              <a:prstGeom prst="rect">
                <a:avLst/>
              </a:prstGeom>
              <a:blipFill>
                <a:blip r:embed="rId3"/>
                <a:stretch>
                  <a:fillRect l="-222" t="-760" b="-304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C789DBC3-5483-7F40-F948-D19FF5DB5313}"/>
                  </a:ext>
                </a:extLst>
              </p:cNvPr>
              <p:cNvGraphicFramePr>
                <a:graphicFrameLocks noGrp="1"/>
              </p:cNvGraphicFramePr>
              <p:nvPr>
                <p:extLst>
                  <p:ext uri="{D42A27DB-BD31-4B8C-83A1-F6EECF244321}">
                    <p14:modId xmlns:p14="http://schemas.microsoft.com/office/powerpoint/2010/main" val="580127561"/>
                  </p:ext>
                </p:extLst>
              </p:nvPr>
            </p:nvGraphicFramePr>
            <p:xfrm>
              <a:off x="457200" y="4012446"/>
              <a:ext cx="8229600" cy="1524000"/>
            </p:xfrm>
            <a:graphic>
              <a:graphicData uri="http://schemas.openxmlformats.org/drawingml/2006/table">
                <a:tbl>
                  <a:tblPr>
                    <a:tableStyleId>{F9BC6C1E-BED5-463D-9D9D-55BB47110D15}</a:tableStyleId>
                  </a:tblPr>
                  <a:tblGrid>
                    <a:gridCol w="1645920">
                      <a:extLst>
                        <a:ext uri="{9D8B030D-6E8A-4147-A177-3AD203B41FA5}">
                          <a16:colId xmlns:a16="http://schemas.microsoft.com/office/drawing/2014/main" val="1866894108"/>
                        </a:ext>
                      </a:extLst>
                    </a:gridCol>
                    <a:gridCol w="1645920">
                      <a:extLst>
                        <a:ext uri="{9D8B030D-6E8A-4147-A177-3AD203B41FA5}">
                          <a16:colId xmlns:a16="http://schemas.microsoft.com/office/drawing/2014/main" val="2918870937"/>
                        </a:ext>
                      </a:extLst>
                    </a:gridCol>
                    <a:gridCol w="1645920">
                      <a:extLst>
                        <a:ext uri="{9D8B030D-6E8A-4147-A177-3AD203B41FA5}">
                          <a16:colId xmlns:a16="http://schemas.microsoft.com/office/drawing/2014/main" val="3726425172"/>
                        </a:ext>
                      </a:extLst>
                    </a:gridCol>
                    <a:gridCol w="1645920">
                      <a:extLst>
                        <a:ext uri="{9D8B030D-6E8A-4147-A177-3AD203B41FA5}">
                          <a16:colId xmlns:a16="http://schemas.microsoft.com/office/drawing/2014/main" val="1892494501"/>
                        </a:ext>
                      </a:extLst>
                    </a:gridCol>
                    <a:gridCol w="1645920">
                      <a:extLst>
                        <a:ext uri="{9D8B030D-6E8A-4147-A177-3AD203B41FA5}">
                          <a16:colId xmlns:a16="http://schemas.microsoft.com/office/drawing/2014/main" val="4293133880"/>
                        </a:ext>
                      </a:extLst>
                    </a:gridCol>
                  </a:tblGrid>
                  <a:tr h="0">
                    <a:tc>
                      <a:txBody>
                        <a:bodyPr/>
                        <a:lstStyle/>
                        <a:p>
                          <a:pPr>
                            <a:buNone/>
                          </a:pPr>
                          <a:r>
                            <a:rPr lang="en-IN"/>
                            <a:t>Horizon (</a:t>
                          </a:r>
                          <a14:m>
                            <m:oMath xmlns:m="http://schemas.openxmlformats.org/officeDocument/2006/math">
                              <m:r>
                                <a:rPr lang="en-IN">
                                  <a:latin typeface="Cambria Math" panose="02040503050406030204" pitchFamily="18" charset="0"/>
                                </a:rPr>
                                <m:t>𝐻</m:t>
                              </m:r>
                            </m:oMath>
                          </a14:m>
                          <a:r>
                            <a:rPr lang="en-IN"/>
                            <a:t>)</a:t>
                          </a:r>
                        </a:p>
                      </a:txBody>
                      <a:tcPr anchor="ctr"/>
                    </a:tc>
                    <a:tc>
                      <a:txBody>
                        <a:bodyPr/>
                        <a:lstStyle/>
                        <a:p>
                          <a:pPr>
                            <a:buNone/>
                          </a:pPr>
                          <a:r>
                            <a:rPr lang="en-IN"/>
                            <a:t>Eligible Rows</a:t>
                          </a:r>
                        </a:p>
                      </a:txBody>
                      <a:tcPr anchor="ctr"/>
                    </a:tc>
                    <a:tc>
                      <a:txBody>
                        <a:bodyPr/>
                        <a:lstStyle/>
                        <a:p>
                          <a:pPr>
                            <a:buNone/>
                          </a:pPr>
                          <a:r>
                            <a:rPr lang="en-IN"/>
                            <a:t>Positive Onsets</a:t>
                          </a:r>
                        </a:p>
                      </a:txBody>
                      <a:tcPr anchor="ctr"/>
                    </a:tc>
                    <a:tc>
                      <a:txBody>
                        <a:bodyPr/>
                        <a:lstStyle/>
                        <a:p>
                          <a:pPr>
                            <a:buNone/>
                          </a:pPr>
                          <a:r>
                            <a:rPr lang="en-IN"/>
                            <a:t>Positive Rate (%)</a:t>
                          </a:r>
                        </a:p>
                      </a:txBody>
                      <a:tcPr anchor="ctr"/>
                    </a:tc>
                    <a:tc>
                      <a:txBody>
                        <a:bodyPr/>
                        <a:lstStyle/>
                        <a:p>
                          <a:pPr>
                            <a:buNone/>
                          </a:pPr>
                          <a:r>
                            <a:rPr lang="en-IN"/>
                            <a:t>Imbalance Ratio</a:t>
                          </a:r>
                        </a:p>
                      </a:txBody>
                      <a:tcPr anchor="ctr"/>
                    </a:tc>
                    <a:extLst>
                      <a:ext uri="{0D108BD9-81ED-4DB2-BD59-A6C34878D82A}">
                        <a16:rowId xmlns:a16="http://schemas.microsoft.com/office/drawing/2014/main" val="2158613849"/>
                      </a:ext>
                    </a:extLst>
                  </a:tr>
                  <a:tr h="0">
                    <a:tc>
                      <a:txBody>
                        <a:bodyPr/>
                        <a:lstStyle/>
                        <a:p>
                          <a:pPr>
                            <a:buNone/>
                          </a:pPr>
                          <a:r>
                            <a:rPr lang="en-IN"/>
                            <a:t>6 h</a:t>
                          </a:r>
                        </a:p>
                      </a:txBody>
                      <a:tcPr anchor="ctr"/>
                    </a:tc>
                    <a:tc>
                      <a:txBody>
                        <a:bodyPr/>
                        <a:lstStyle/>
                        <a:p>
                          <a:pPr>
                            <a:buNone/>
                          </a:pPr>
                          <a:r>
                            <a:rPr lang="en-IN"/>
                            <a:t>40,301</a:t>
                          </a:r>
                        </a:p>
                      </a:txBody>
                      <a:tcPr anchor="ctr"/>
                    </a:tc>
                    <a:tc>
                      <a:txBody>
                        <a:bodyPr/>
                        <a:lstStyle/>
                        <a:p>
                          <a:pPr>
                            <a:buNone/>
                          </a:pPr>
                          <a:r>
                            <a:rPr lang="en-IN"/>
                            <a:t>459</a:t>
                          </a:r>
                        </a:p>
                      </a:txBody>
                      <a:tcPr anchor="ctr"/>
                    </a:tc>
                    <a:tc>
                      <a:txBody>
                        <a:bodyPr/>
                        <a:lstStyle/>
                        <a:p>
                          <a:pPr>
                            <a:buNone/>
                          </a:pPr>
                          <a:r>
                            <a:rPr lang="en-IN"/>
                            <a:t>1.14%</a:t>
                          </a:r>
                        </a:p>
                      </a:txBody>
                      <a:tcPr anchor="ctr"/>
                    </a:tc>
                    <a:tc>
                      <a:txBody>
                        <a:bodyPr/>
                        <a:lstStyle/>
                        <a:p>
                          <a:pPr>
                            <a:buNone/>
                          </a:pPr>
                          <a:r>
                            <a:rPr lang="en-IN"/>
                            <a:t>~1 : 88</a:t>
                          </a:r>
                        </a:p>
                      </a:txBody>
                      <a:tcPr anchor="ctr"/>
                    </a:tc>
                    <a:extLst>
                      <a:ext uri="{0D108BD9-81ED-4DB2-BD59-A6C34878D82A}">
                        <a16:rowId xmlns:a16="http://schemas.microsoft.com/office/drawing/2014/main" val="680470455"/>
                      </a:ext>
                    </a:extLst>
                  </a:tr>
                  <a:tr h="0">
                    <a:tc>
                      <a:txBody>
                        <a:bodyPr/>
                        <a:lstStyle/>
                        <a:p>
                          <a:pPr>
                            <a:buNone/>
                          </a:pPr>
                          <a:r>
                            <a:rPr lang="en-IN"/>
                            <a:t>12 h</a:t>
                          </a:r>
                        </a:p>
                      </a:txBody>
                      <a:tcPr anchor="ctr"/>
                    </a:tc>
                    <a:tc>
                      <a:txBody>
                        <a:bodyPr/>
                        <a:lstStyle/>
                        <a:p>
                          <a:pPr>
                            <a:buNone/>
                          </a:pPr>
                          <a:r>
                            <a:rPr lang="en-IN"/>
                            <a:t>40,261</a:t>
                          </a:r>
                        </a:p>
                      </a:txBody>
                      <a:tcPr anchor="ctr"/>
                    </a:tc>
                    <a:tc>
                      <a:txBody>
                        <a:bodyPr/>
                        <a:lstStyle/>
                        <a:p>
                          <a:pPr>
                            <a:buNone/>
                          </a:pPr>
                          <a:r>
                            <a:rPr lang="en-IN" dirty="0"/>
                            <a:t>890</a:t>
                          </a:r>
                        </a:p>
                      </a:txBody>
                      <a:tcPr anchor="ctr"/>
                    </a:tc>
                    <a:tc>
                      <a:txBody>
                        <a:bodyPr/>
                        <a:lstStyle/>
                        <a:p>
                          <a:pPr>
                            <a:buNone/>
                          </a:pPr>
                          <a:r>
                            <a:rPr lang="en-IN"/>
                            <a:t>2.21%</a:t>
                          </a:r>
                        </a:p>
                      </a:txBody>
                      <a:tcPr anchor="ctr"/>
                    </a:tc>
                    <a:tc>
                      <a:txBody>
                        <a:bodyPr/>
                        <a:lstStyle/>
                        <a:p>
                          <a:pPr>
                            <a:buNone/>
                          </a:pPr>
                          <a:r>
                            <a:rPr lang="en-IN"/>
                            <a:t>~1 : 45</a:t>
                          </a:r>
                        </a:p>
                      </a:txBody>
                      <a:tcPr anchor="ctr"/>
                    </a:tc>
                    <a:extLst>
                      <a:ext uri="{0D108BD9-81ED-4DB2-BD59-A6C34878D82A}">
                        <a16:rowId xmlns:a16="http://schemas.microsoft.com/office/drawing/2014/main" val="939052242"/>
                      </a:ext>
                    </a:extLst>
                  </a:tr>
                  <a:tr h="0">
                    <a:tc>
                      <a:txBody>
                        <a:bodyPr/>
                        <a:lstStyle/>
                        <a:p>
                          <a:pPr>
                            <a:buNone/>
                          </a:pPr>
                          <a:r>
                            <a:rPr lang="en-IN"/>
                            <a:t>24 h</a:t>
                          </a:r>
                        </a:p>
                      </a:txBody>
                      <a:tcPr anchor="ctr"/>
                    </a:tc>
                    <a:tc>
                      <a:txBody>
                        <a:bodyPr/>
                        <a:lstStyle/>
                        <a:p>
                          <a:pPr>
                            <a:buNone/>
                          </a:pPr>
                          <a:r>
                            <a:rPr lang="en-IN"/>
                            <a:t>40,178</a:t>
                          </a:r>
                        </a:p>
                      </a:txBody>
                      <a:tcPr anchor="ctr"/>
                    </a:tc>
                    <a:tc>
                      <a:txBody>
                        <a:bodyPr/>
                        <a:lstStyle/>
                        <a:p>
                          <a:pPr>
                            <a:buNone/>
                          </a:pPr>
                          <a:r>
                            <a:rPr lang="en-IN"/>
                            <a:t>1,652</a:t>
                          </a:r>
                        </a:p>
                      </a:txBody>
                      <a:tcPr anchor="ctr"/>
                    </a:tc>
                    <a:tc>
                      <a:txBody>
                        <a:bodyPr/>
                        <a:lstStyle/>
                        <a:p>
                          <a:pPr>
                            <a:buNone/>
                          </a:pPr>
                          <a:r>
                            <a:rPr lang="en-IN"/>
                            <a:t>4.11%</a:t>
                          </a:r>
                        </a:p>
                      </a:txBody>
                      <a:tcPr anchor="ctr"/>
                    </a:tc>
                    <a:tc>
                      <a:txBody>
                        <a:bodyPr/>
                        <a:lstStyle/>
                        <a:p>
                          <a:pPr>
                            <a:buNone/>
                          </a:pPr>
                          <a:r>
                            <a:rPr lang="en-IN"/>
                            <a:t>~1 : 24</a:t>
                          </a:r>
                        </a:p>
                      </a:txBody>
                      <a:tcPr anchor="ctr"/>
                    </a:tc>
                    <a:extLst>
                      <a:ext uri="{0D108BD9-81ED-4DB2-BD59-A6C34878D82A}">
                        <a16:rowId xmlns:a16="http://schemas.microsoft.com/office/drawing/2014/main" val="1394999574"/>
                      </a:ext>
                    </a:extLst>
                  </a:tr>
                  <a:tr h="0">
                    <a:tc>
                      <a:txBody>
                        <a:bodyPr/>
                        <a:lstStyle/>
                        <a:p>
                          <a:pPr>
                            <a:buNone/>
                          </a:pPr>
                          <a:r>
                            <a:rPr lang="en-IN"/>
                            <a:t>48 h</a:t>
                          </a:r>
                        </a:p>
                      </a:txBody>
                      <a:tcPr anchor="ctr"/>
                    </a:tc>
                    <a:tc>
                      <a:txBody>
                        <a:bodyPr/>
                        <a:lstStyle/>
                        <a:p>
                          <a:pPr>
                            <a:buNone/>
                          </a:pPr>
                          <a:r>
                            <a:rPr lang="en-IN"/>
                            <a:t>40,053</a:t>
                          </a:r>
                        </a:p>
                      </a:txBody>
                      <a:tcPr anchor="ctr"/>
                    </a:tc>
                    <a:tc>
                      <a:txBody>
                        <a:bodyPr/>
                        <a:lstStyle/>
                        <a:p>
                          <a:pPr>
                            <a:buNone/>
                          </a:pPr>
                          <a:r>
                            <a:rPr lang="en-IN"/>
                            <a:t>3,020</a:t>
                          </a:r>
                        </a:p>
                      </a:txBody>
                      <a:tcPr anchor="ctr"/>
                    </a:tc>
                    <a:tc>
                      <a:txBody>
                        <a:bodyPr/>
                        <a:lstStyle/>
                        <a:p>
                          <a:pPr>
                            <a:buNone/>
                          </a:pPr>
                          <a:r>
                            <a:rPr lang="en-IN"/>
                            <a:t>7.54%</a:t>
                          </a:r>
                        </a:p>
                      </a:txBody>
                      <a:tcPr anchor="ctr"/>
                    </a:tc>
                    <a:tc>
                      <a:txBody>
                        <a:bodyPr/>
                        <a:lstStyle/>
                        <a:p>
                          <a:pPr>
                            <a:buNone/>
                          </a:pPr>
                          <a:r>
                            <a:rPr lang="en-IN" dirty="0"/>
                            <a:t>~1 : 13</a:t>
                          </a:r>
                        </a:p>
                      </a:txBody>
                      <a:tcPr anchor="ctr"/>
                    </a:tc>
                    <a:extLst>
                      <a:ext uri="{0D108BD9-81ED-4DB2-BD59-A6C34878D82A}">
                        <a16:rowId xmlns:a16="http://schemas.microsoft.com/office/drawing/2014/main" val="2575203686"/>
                      </a:ext>
                    </a:extLst>
                  </a:tr>
                </a:tbl>
              </a:graphicData>
            </a:graphic>
          </p:graphicFrame>
        </mc:Choice>
        <mc:Fallback xmlns="">
          <p:graphicFrame>
            <p:nvGraphicFramePr>
              <p:cNvPr id="6" name="Table 5">
                <a:extLst>
                  <a:ext uri="{FF2B5EF4-FFF2-40B4-BE49-F238E27FC236}">
                    <a16:creationId xmlns:a16="http://schemas.microsoft.com/office/drawing/2014/main" id="{C789DBC3-5483-7F40-F948-D19FF5DB5313}"/>
                  </a:ext>
                </a:extLst>
              </p:cNvPr>
              <p:cNvGraphicFramePr>
                <a:graphicFrameLocks noGrp="1"/>
              </p:cNvGraphicFramePr>
              <p:nvPr>
                <p:extLst>
                  <p:ext uri="{D42A27DB-BD31-4B8C-83A1-F6EECF244321}">
                    <p14:modId xmlns:p14="http://schemas.microsoft.com/office/powerpoint/2010/main" val="580127561"/>
                  </p:ext>
                </p:extLst>
              </p:nvPr>
            </p:nvGraphicFramePr>
            <p:xfrm>
              <a:off x="457200" y="4012446"/>
              <a:ext cx="8229600" cy="1524000"/>
            </p:xfrm>
            <a:graphic>
              <a:graphicData uri="http://schemas.openxmlformats.org/drawingml/2006/table">
                <a:tbl>
                  <a:tblPr>
                    <a:tableStyleId>{F9BC6C1E-BED5-463D-9D9D-55BB47110D15}</a:tableStyleId>
                  </a:tblPr>
                  <a:tblGrid>
                    <a:gridCol w="1645920">
                      <a:extLst>
                        <a:ext uri="{9D8B030D-6E8A-4147-A177-3AD203B41FA5}">
                          <a16:colId xmlns:a16="http://schemas.microsoft.com/office/drawing/2014/main" val="1866894108"/>
                        </a:ext>
                      </a:extLst>
                    </a:gridCol>
                    <a:gridCol w="1645920">
                      <a:extLst>
                        <a:ext uri="{9D8B030D-6E8A-4147-A177-3AD203B41FA5}">
                          <a16:colId xmlns:a16="http://schemas.microsoft.com/office/drawing/2014/main" val="2918870937"/>
                        </a:ext>
                      </a:extLst>
                    </a:gridCol>
                    <a:gridCol w="1645920">
                      <a:extLst>
                        <a:ext uri="{9D8B030D-6E8A-4147-A177-3AD203B41FA5}">
                          <a16:colId xmlns:a16="http://schemas.microsoft.com/office/drawing/2014/main" val="3726425172"/>
                        </a:ext>
                      </a:extLst>
                    </a:gridCol>
                    <a:gridCol w="1645920">
                      <a:extLst>
                        <a:ext uri="{9D8B030D-6E8A-4147-A177-3AD203B41FA5}">
                          <a16:colId xmlns:a16="http://schemas.microsoft.com/office/drawing/2014/main" val="1892494501"/>
                        </a:ext>
                      </a:extLst>
                    </a:gridCol>
                    <a:gridCol w="1645920">
                      <a:extLst>
                        <a:ext uri="{9D8B030D-6E8A-4147-A177-3AD203B41FA5}">
                          <a16:colId xmlns:a16="http://schemas.microsoft.com/office/drawing/2014/main" val="4293133880"/>
                        </a:ext>
                      </a:extLst>
                    </a:gridCol>
                  </a:tblGrid>
                  <a:tr h="304800">
                    <a:tc>
                      <a:txBody>
                        <a:bodyPr/>
                        <a:lstStyle/>
                        <a:p>
                          <a:endParaRPr lang="en-US"/>
                        </a:p>
                      </a:txBody>
                      <a:tcPr anchor="ctr">
                        <a:blipFill>
                          <a:blip r:embed="rId4"/>
                          <a:stretch>
                            <a:fillRect l="-741" t="-4000" r="-401111" b="-422000"/>
                          </a:stretch>
                        </a:blipFill>
                      </a:tcPr>
                    </a:tc>
                    <a:tc>
                      <a:txBody>
                        <a:bodyPr/>
                        <a:lstStyle/>
                        <a:p>
                          <a:pPr>
                            <a:buNone/>
                          </a:pPr>
                          <a:r>
                            <a:rPr lang="en-IN"/>
                            <a:t>Eligible Rows</a:t>
                          </a:r>
                        </a:p>
                      </a:txBody>
                      <a:tcPr anchor="ctr"/>
                    </a:tc>
                    <a:tc>
                      <a:txBody>
                        <a:bodyPr/>
                        <a:lstStyle/>
                        <a:p>
                          <a:pPr>
                            <a:buNone/>
                          </a:pPr>
                          <a:r>
                            <a:rPr lang="en-IN"/>
                            <a:t>Positive Onsets</a:t>
                          </a:r>
                        </a:p>
                      </a:txBody>
                      <a:tcPr anchor="ctr"/>
                    </a:tc>
                    <a:tc>
                      <a:txBody>
                        <a:bodyPr/>
                        <a:lstStyle/>
                        <a:p>
                          <a:pPr>
                            <a:buNone/>
                          </a:pPr>
                          <a:r>
                            <a:rPr lang="en-IN"/>
                            <a:t>Positive Rate (%)</a:t>
                          </a:r>
                        </a:p>
                      </a:txBody>
                      <a:tcPr anchor="ctr"/>
                    </a:tc>
                    <a:tc>
                      <a:txBody>
                        <a:bodyPr/>
                        <a:lstStyle/>
                        <a:p>
                          <a:pPr>
                            <a:buNone/>
                          </a:pPr>
                          <a:r>
                            <a:rPr lang="en-IN"/>
                            <a:t>Imbalance Ratio</a:t>
                          </a:r>
                        </a:p>
                      </a:txBody>
                      <a:tcPr anchor="ctr"/>
                    </a:tc>
                    <a:extLst>
                      <a:ext uri="{0D108BD9-81ED-4DB2-BD59-A6C34878D82A}">
                        <a16:rowId xmlns:a16="http://schemas.microsoft.com/office/drawing/2014/main" val="2158613849"/>
                      </a:ext>
                    </a:extLst>
                  </a:tr>
                  <a:tr h="304800">
                    <a:tc>
                      <a:txBody>
                        <a:bodyPr/>
                        <a:lstStyle/>
                        <a:p>
                          <a:pPr>
                            <a:buNone/>
                          </a:pPr>
                          <a:r>
                            <a:rPr lang="en-IN"/>
                            <a:t>6 h</a:t>
                          </a:r>
                        </a:p>
                      </a:txBody>
                      <a:tcPr anchor="ctr"/>
                    </a:tc>
                    <a:tc>
                      <a:txBody>
                        <a:bodyPr/>
                        <a:lstStyle/>
                        <a:p>
                          <a:pPr>
                            <a:buNone/>
                          </a:pPr>
                          <a:r>
                            <a:rPr lang="en-IN"/>
                            <a:t>40,301</a:t>
                          </a:r>
                        </a:p>
                      </a:txBody>
                      <a:tcPr anchor="ctr"/>
                    </a:tc>
                    <a:tc>
                      <a:txBody>
                        <a:bodyPr/>
                        <a:lstStyle/>
                        <a:p>
                          <a:pPr>
                            <a:buNone/>
                          </a:pPr>
                          <a:r>
                            <a:rPr lang="en-IN"/>
                            <a:t>459</a:t>
                          </a:r>
                        </a:p>
                      </a:txBody>
                      <a:tcPr anchor="ctr"/>
                    </a:tc>
                    <a:tc>
                      <a:txBody>
                        <a:bodyPr/>
                        <a:lstStyle/>
                        <a:p>
                          <a:pPr>
                            <a:buNone/>
                          </a:pPr>
                          <a:r>
                            <a:rPr lang="en-IN"/>
                            <a:t>1.14%</a:t>
                          </a:r>
                        </a:p>
                      </a:txBody>
                      <a:tcPr anchor="ctr"/>
                    </a:tc>
                    <a:tc>
                      <a:txBody>
                        <a:bodyPr/>
                        <a:lstStyle/>
                        <a:p>
                          <a:pPr>
                            <a:buNone/>
                          </a:pPr>
                          <a:r>
                            <a:rPr lang="en-IN"/>
                            <a:t>~1 : 88</a:t>
                          </a:r>
                        </a:p>
                      </a:txBody>
                      <a:tcPr anchor="ctr"/>
                    </a:tc>
                    <a:extLst>
                      <a:ext uri="{0D108BD9-81ED-4DB2-BD59-A6C34878D82A}">
                        <a16:rowId xmlns:a16="http://schemas.microsoft.com/office/drawing/2014/main" val="680470455"/>
                      </a:ext>
                    </a:extLst>
                  </a:tr>
                  <a:tr h="304800">
                    <a:tc>
                      <a:txBody>
                        <a:bodyPr/>
                        <a:lstStyle/>
                        <a:p>
                          <a:pPr>
                            <a:buNone/>
                          </a:pPr>
                          <a:r>
                            <a:rPr lang="en-IN"/>
                            <a:t>12 h</a:t>
                          </a:r>
                        </a:p>
                      </a:txBody>
                      <a:tcPr anchor="ctr"/>
                    </a:tc>
                    <a:tc>
                      <a:txBody>
                        <a:bodyPr/>
                        <a:lstStyle/>
                        <a:p>
                          <a:pPr>
                            <a:buNone/>
                          </a:pPr>
                          <a:r>
                            <a:rPr lang="en-IN"/>
                            <a:t>40,261</a:t>
                          </a:r>
                        </a:p>
                      </a:txBody>
                      <a:tcPr anchor="ctr"/>
                    </a:tc>
                    <a:tc>
                      <a:txBody>
                        <a:bodyPr/>
                        <a:lstStyle/>
                        <a:p>
                          <a:pPr>
                            <a:buNone/>
                          </a:pPr>
                          <a:r>
                            <a:rPr lang="en-IN" dirty="0"/>
                            <a:t>890</a:t>
                          </a:r>
                        </a:p>
                      </a:txBody>
                      <a:tcPr anchor="ctr"/>
                    </a:tc>
                    <a:tc>
                      <a:txBody>
                        <a:bodyPr/>
                        <a:lstStyle/>
                        <a:p>
                          <a:pPr>
                            <a:buNone/>
                          </a:pPr>
                          <a:r>
                            <a:rPr lang="en-IN"/>
                            <a:t>2.21%</a:t>
                          </a:r>
                        </a:p>
                      </a:txBody>
                      <a:tcPr anchor="ctr"/>
                    </a:tc>
                    <a:tc>
                      <a:txBody>
                        <a:bodyPr/>
                        <a:lstStyle/>
                        <a:p>
                          <a:pPr>
                            <a:buNone/>
                          </a:pPr>
                          <a:r>
                            <a:rPr lang="en-IN"/>
                            <a:t>~1 : 45</a:t>
                          </a:r>
                        </a:p>
                      </a:txBody>
                      <a:tcPr anchor="ctr"/>
                    </a:tc>
                    <a:extLst>
                      <a:ext uri="{0D108BD9-81ED-4DB2-BD59-A6C34878D82A}">
                        <a16:rowId xmlns:a16="http://schemas.microsoft.com/office/drawing/2014/main" val="939052242"/>
                      </a:ext>
                    </a:extLst>
                  </a:tr>
                  <a:tr h="304800">
                    <a:tc>
                      <a:txBody>
                        <a:bodyPr/>
                        <a:lstStyle/>
                        <a:p>
                          <a:pPr>
                            <a:buNone/>
                          </a:pPr>
                          <a:r>
                            <a:rPr lang="en-IN"/>
                            <a:t>24 h</a:t>
                          </a:r>
                        </a:p>
                      </a:txBody>
                      <a:tcPr anchor="ctr"/>
                    </a:tc>
                    <a:tc>
                      <a:txBody>
                        <a:bodyPr/>
                        <a:lstStyle/>
                        <a:p>
                          <a:pPr>
                            <a:buNone/>
                          </a:pPr>
                          <a:r>
                            <a:rPr lang="en-IN"/>
                            <a:t>40,178</a:t>
                          </a:r>
                        </a:p>
                      </a:txBody>
                      <a:tcPr anchor="ctr"/>
                    </a:tc>
                    <a:tc>
                      <a:txBody>
                        <a:bodyPr/>
                        <a:lstStyle/>
                        <a:p>
                          <a:pPr>
                            <a:buNone/>
                          </a:pPr>
                          <a:r>
                            <a:rPr lang="en-IN"/>
                            <a:t>1,652</a:t>
                          </a:r>
                        </a:p>
                      </a:txBody>
                      <a:tcPr anchor="ctr"/>
                    </a:tc>
                    <a:tc>
                      <a:txBody>
                        <a:bodyPr/>
                        <a:lstStyle/>
                        <a:p>
                          <a:pPr>
                            <a:buNone/>
                          </a:pPr>
                          <a:r>
                            <a:rPr lang="en-IN"/>
                            <a:t>4.11%</a:t>
                          </a:r>
                        </a:p>
                      </a:txBody>
                      <a:tcPr anchor="ctr"/>
                    </a:tc>
                    <a:tc>
                      <a:txBody>
                        <a:bodyPr/>
                        <a:lstStyle/>
                        <a:p>
                          <a:pPr>
                            <a:buNone/>
                          </a:pPr>
                          <a:r>
                            <a:rPr lang="en-IN"/>
                            <a:t>~1 : 24</a:t>
                          </a:r>
                        </a:p>
                      </a:txBody>
                      <a:tcPr anchor="ctr"/>
                    </a:tc>
                    <a:extLst>
                      <a:ext uri="{0D108BD9-81ED-4DB2-BD59-A6C34878D82A}">
                        <a16:rowId xmlns:a16="http://schemas.microsoft.com/office/drawing/2014/main" val="1394999574"/>
                      </a:ext>
                    </a:extLst>
                  </a:tr>
                  <a:tr h="304800">
                    <a:tc>
                      <a:txBody>
                        <a:bodyPr/>
                        <a:lstStyle/>
                        <a:p>
                          <a:pPr>
                            <a:buNone/>
                          </a:pPr>
                          <a:r>
                            <a:rPr lang="en-IN"/>
                            <a:t>48 h</a:t>
                          </a:r>
                        </a:p>
                      </a:txBody>
                      <a:tcPr anchor="ctr"/>
                    </a:tc>
                    <a:tc>
                      <a:txBody>
                        <a:bodyPr/>
                        <a:lstStyle/>
                        <a:p>
                          <a:pPr>
                            <a:buNone/>
                          </a:pPr>
                          <a:r>
                            <a:rPr lang="en-IN"/>
                            <a:t>40,053</a:t>
                          </a:r>
                        </a:p>
                      </a:txBody>
                      <a:tcPr anchor="ctr"/>
                    </a:tc>
                    <a:tc>
                      <a:txBody>
                        <a:bodyPr/>
                        <a:lstStyle/>
                        <a:p>
                          <a:pPr>
                            <a:buNone/>
                          </a:pPr>
                          <a:r>
                            <a:rPr lang="en-IN"/>
                            <a:t>3,020</a:t>
                          </a:r>
                        </a:p>
                      </a:txBody>
                      <a:tcPr anchor="ctr"/>
                    </a:tc>
                    <a:tc>
                      <a:txBody>
                        <a:bodyPr/>
                        <a:lstStyle/>
                        <a:p>
                          <a:pPr>
                            <a:buNone/>
                          </a:pPr>
                          <a:r>
                            <a:rPr lang="en-IN"/>
                            <a:t>7.54%</a:t>
                          </a:r>
                        </a:p>
                      </a:txBody>
                      <a:tcPr anchor="ctr"/>
                    </a:tc>
                    <a:tc>
                      <a:txBody>
                        <a:bodyPr/>
                        <a:lstStyle/>
                        <a:p>
                          <a:pPr>
                            <a:buNone/>
                          </a:pPr>
                          <a:r>
                            <a:rPr lang="en-IN" dirty="0"/>
                            <a:t>~1 : 13</a:t>
                          </a:r>
                        </a:p>
                      </a:txBody>
                      <a:tcPr anchor="ctr"/>
                    </a:tc>
                    <a:extLst>
                      <a:ext uri="{0D108BD9-81ED-4DB2-BD59-A6C34878D82A}">
                        <a16:rowId xmlns:a16="http://schemas.microsoft.com/office/drawing/2014/main" val="2575203686"/>
                      </a:ext>
                    </a:extLst>
                  </a:tr>
                </a:tbl>
              </a:graphicData>
            </a:graphic>
          </p:graphicFrame>
        </mc:Fallback>
      </mc:AlternateContent>
      <p:sp>
        <p:nvSpPr>
          <p:cNvPr id="8" name="TextBox 7">
            <a:extLst>
              <a:ext uri="{FF2B5EF4-FFF2-40B4-BE49-F238E27FC236}">
                <a16:creationId xmlns:a16="http://schemas.microsoft.com/office/drawing/2014/main" id="{A03795AB-977F-7C0C-1F5C-03FFA3036BBA}"/>
              </a:ext>
            </a:extLst>
          </p:cNvPr>
          <p:cNvSpPr txBox="1"/>
          <p:nvPr/>
        </p:nvSpPr>
        <p:spPr>
          <a:xfrm>
            <a:off x="457200" y="3367008"/>
            <a:ext cx="8229600" cy="307777"/>
          </a:xfrm>
          <a:prstGeom prst="rect">
            <a:avLst/>
          </a:prstGeom>
          <a:noFill/>
        </p:spPr>
        <p:txBody>
          <a:bodyPr wrap="square">
            <a:spAutoFit/>
          </a:bodyPr>
          <a:lstStyle/>
          <a:p>
            <a:pPr lvl="0"/>
            <a:r>
              <a:rPr lang="en-IN" b="1" dirty="0"/>
              <a:t>Class Imbalance Distribution (2025 Hold-Out Set):</a:t>
            </a: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573535E5-2309-68FF-0464-DC4B5A2F5C0C}"/>
            </a:ext>
          </a:extLst>
        </p:cNvPr>
        <p:cNvGrpSpPr/>
        <p:nvPr/>
      </p:nvGrpSpPr>
      <p:grpSpPr>
        <a:xfrm>
          <a:off x="0" y="0"/>
          <a:ext cx="0" cy="0"/>
          <a:chOff x="0" y="0"/>
          <a:chExt cx="0" cy="0"/>
        </a:xfrm>
      </p:grpSpPr>
      <p:sp>
        <p:nvSpPr>
          <p:cNvPr id="161" name="Google Shape;161;p12">
            <a:extLst>
              <a:ext uri="{FF2B5EF4-FFF2-40B4-BE49-F238E27FC236}">
                <a16:creationId xmlns:a16="http://schemas.microsoft.com/office/drawing/2014/main" id="{494EAE61-6E09-9213-7BDE-5C11E2CBBEAC}"/>
              </a:ext>
            </a:extLst>
          </p:cNvPr>
          <p:cNvSpPr txBox="1">
            <a:spLocks noGrp="1"/>
          </p:cNvSpPr>
          <p:nvPr>
            <p:ph type="title"/>
          </p:nvPr>
        </p:nvSpPr>
        <p:spPr>
          <a:xfrm>
            <a:off x="457200" y="274638"/>
            <a:ext cx="8229600" cy="1143000"/>
          </a:xfrm>
          <a:noFill/>
          <a:ln>
            <a:noFill/>
          </a:ln>
        </p:spPr>
        <p:txBody>
          <a:bodyPr spcFirstLastPara="1" wrap="square" lIns="91425" tIns="45700" rIns="91425" bIns="45700" anchor="ctr" anchorCtr="0">
            <a:noAutofit/>
          </a:bodyPr>
          <a:lstStyle/>
          <a:p>
            <a:r>
              <a:rPr lang="en-US" sz="2800" dirty="0"/>
              <a:t>Results &amp; Discussion — Dataset Splits &amp; Class Balance And Model Evaluation at 24-Hour Horizon</a:t>
            </a:r>
          </a:p>
        </p:txBody>
      </p:sp>
      <p:sp>
        <p:nvSpPr>
          <p:cNvPr id="163" name="Google Shape;163;p12">
            <a:extLst>
              <a:ext uri="{FF2B5EF4-FFF2-40B4-BE49-F238E27FC236}">
                <a16:creationId xmlns:a16="http://schemas.microsoft.com/office/drawing/2014/main" id="{C0AB9760-367F-5E71-365C-296D9AD9E64E}"/>
              </a:ext>
            </a:extLst>
          </p:cNvPr>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p:sp>
        <p:nvSpPr>
          <p:cNvPr id="3" name="TextBox 2">
            <a:extLst>
              <a:ext uri="{FF2B5EF4-FFF2-40B4-BE49-F238E27FC236}">
                <a16:creationId xmlns:a16="http://schemas.microsoft.com/office/drawing/2014/main" id="{52633439-A328-27F4-56DE-B9A3A0E99A07}"/>
              </a:ext>
            </a:extLst>
          </p:cNvPr>
          <p:cNvSpPr txBox="1"/>
          <p:nvPr/>
        </p:nvSpPr>
        <p:spPr>
          <a:xfrm>
            <a:off x="457200" y="1495494"/>
            <a:ext cx="8229600" cy="954107"/>
          </a:xfrm>
          <a:prstGeom prst="rect">
            <a:avLst/>
          </a:prstGeom>
          <a:noFill/>
        </p:spPr>
        <p:txBody>
          <a:bodyPr wrap="square">
            <a:spAutoFit/>
          </a:bodyPr>
          <a:lstStyle/>
          <a:p>
            <a:pPr marL="342900" lvl="0" indent="-342900">
              <a:buFont typeface="Arial" panose="020B0604020202020204" pitchFamily="34" charset="0"/>
              <a:buChar char="•"/>
            </a:pPr>
            <a:r>
              <a:rPr lang="en-IN" b="1" dirty="0"/>
              <a:t>Feature Breakdown (115 total columns):</a:t>
            </a:r>
            <a:r>
              <a:rPr lang="en-IN" dirty="0"/>
              <a:t> Water sensors (USGS NWIS): </a:t>
            </a:r>
            <a:r>
              <a:rPr lang="en-IN" b="1" dirty="0"/>
              <a:t>80 features</a:t>
            </a:r>
            <a:r>
              <a:rPr lang="en-IN" dirty="0"/>
              <a:t> (70%)</a:t>
            </a:r>
          </a:p>
          <a:p>
            <a:pPr marL="342900" lvl="0" indent="-342900">
              <a:buFont typeface="Arial" panose="020B0604020202020204" pitchFamily="34" charset="0"/>
              <a:buChar char="•"/>
            </a:pPr>
            <a:r>
              <a:rPr lang="en-IN" dirty="0"/>
              <a:t>Weather reanalysis (ERA5): </a:t>
            </a:r>
            <a:r>
              <a:rPr lang="en-IN" b="1" dirty="0"/>
              <a:t>15 features</a:t>
            </a:r>
            <a:r>
              <a:rPr lang="en-IN" dirty="0"/>
              <a:t> (13%)</a:t>
            </a:r>
          </a:p>
          <a:p>
            <a:pPr marL="342900" lvl="0" indent="-342900">
              <a:buFont typeface="Arial" panose="020B0604020202020204" pitchFamily="34" charset="0"/>
              <a:buChar char="•"/>
            </a:pPr>
            <a:r>
              <a:rPr lang="en-IN" dirty="0"/>
              <a:t>Air quality (CAMS): </a:t>
            </a:r>
            <a:r>
              <a:rPr lang="en-IN" b="1" dirty="0"/>
              <a:t>16 features</a:t>
            </a:r>
            <a:r>
              <a:rPr lang="en-IN" dirty="0"/>
              <a:t> (14%)</a:t>
            </a:r>
          </a:p>
          <a:p>
            <a:pPr marL="342900" lvl="0" indent="-342900">
              <a:buFont typeface="Arial" panose="020B0604020202020204" pitchFamily="34" charset="0"/>
              <a:buChar char="•"/>
            </a:pPr>
            <a:r>
              <a:rPr lang="en-IN" dirty="0"/>
              <a:t>Temporal encodings: </a:t>
            </a:r>
            <a:r>
              <a:rPr lang="en-IN" b="1" dirty="0"/>
              <a:t>4 features</a:t>
            </a:r>
            <a:r>
              <a:rPr lang="en-IN" dirty="0"/>
              <a:t> (3%)</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8D773C06-B2F6-1CD1-A59B-519BBA5C4D6C}"/>
                  </a:ext>
                </a:extLst>
              </p:cNvPr>
              <p:cNvGraphicFramePr>
                <a:graphicFrameLocks noGrp="1"/>
              </p:cNvGraphicFramePr>
              <p:nvPr>
                <p:extLst>
                  <p:ext uri="{D42A27DB-BD31-4B8C-83A1-F6EECF244321}">
                    <p14:modId xmlns:p14="http://schemas.microsoft.com/office/powerpoint/2010/main" val="997561014"/>
                  </p:ext>
                </p:extLst>
              </p:nvPr>
            </p:nvGraphicFramePr>
            <p:xfrm>
              <a:off x="457200" y="2939171"/>
              <a:ext cx="8229600" cy="3232244"/>
            </p:xfrm>
            <a:graphic>
              <a:graphicData uri="http://schemas.openxmlformats.org/drawingml/2006/table">
                <a:tbl>
                  <a:tblPr>
                    <a:tableStyleId>{F9BC6C1E-BED5-463D-9D9D-55BB47110D15}</a:tableStyleId>
                  </a:tblPr>
                  <a:tblGrid>
                    <a:gridCol w="2057400">
                      <a:extLst>
                        <a:ext uri="{9D8B030D-6E8A-4147-A177-3AD203B41FA5}">
                          <a16:colId xmlns:a16="http://schemas.microsoft.com/office/drawing/2014/main" val="1779431878"/>
                        </a:ext>
                      </a:extLst>
                    </a:gridCol>
                    <a:gridCol w="2057400">
                      <a:extLst>
                        <a:ext uri="{9D8B030D-6E8A-4147-A177-3AD203B41FA5}">
                          <a16:colId xmlns:a16="http://schemas.microsoft.com/office/drawing/2014/main" val="449006890"/>
                        </a:ext>
                      </a:extLst>
                    </a:gridCol>
                    <a:gridCol w="2057400">
                      <a:extLst>
                        <a:ext uri="{9D8B030D-6E8A-4147-A177-3AD203B41FA5}">
                          <a16:colId xmlns:a16="http://schemas.microsoft.com/office/drawing/2014/main" val="3502137394"/>
                        </a:ext>
                      </a:extLst>
                    </a:gridCol>
                    <a:gridCol w="2057400">
                      <a:extLst>
                        <a:ext uri="{9D8B030D-6E8A-4147-A177-3AD203B41FA5}">
                          <a16:colId xmlns:a16="http://schemas.microsoft.com/office/drawing/2014/main" val="593292243"/>
                        </a:ext>
                      </a:extLst>
                    </a:gridCol>
                  </a:tblGrid>
                  <a:tr h="153184">
                    <a:tc>
                      <a:txBody>
                        <a:bodyPr/>
                        <a:lstStyle/>
                        <a:p>
                          <a:pPr>
                            <a:buNone/>
                          </a:pPr>
                          <a:r>
                            <a:rPr lang="en-IN" sz="900"/>
                            <a:t>Metric</a:t>
                          </a:r>
                        </a:p>
                      </a:txBody>
                      <a:tcPr marL="61858" marR="61858" marT="30929" marB="30929" anchor="ctr"/>
                    </a:tc>
                    <a:tc>
                      <a:txBody>
                        <a:bodyPr/>
                        <a:lstStyle/>
                        <a:p>
                          <a:pPr>
                            <a:buNone/>
                          </a:pPr>
                          <a:r>
                            <a:rPr lang="en-IN" sz="900"/>
                            <a:t>Stacked Ensemble (</a:t>
                          </a:r>
                          <a14:m>
                            <m:oMath xmlns:m="http://schemas.openxmlformats.org/officeDocument/2006/math">
                              <m:sSub>
                                <m:sSubPr>
                                  <m:ctrlPr>
                                    <a:rPr lang="en-IN" sz="900">
                                      <a:latin typeface="Cambria Math" panose="02040503050406030204" pitchFamily="18" charset="0"/>
                                    </a:rPr>
                                  </m:ctrlPr>
                                </m:sSubPr>
                                <m:e>
                                  <m:r>
                                    <a:rPr lang="en-IN" sz="900">
                                      <a:latin typeface="Cambria Math" panose="02040503050406030204" pitchFamily="18" charset="0"/>
                                    </a:rPr>
                                    <m:t>𝐸</m:t>
                                  </m:r>
                                </m:e>
                                <m:sub>
                                  <m:r>
                                    <m:rPr>
                                      <m:nor/>
                                    </m:rPr>
                                    <a:rPr lang="en-IN" sz="900" i="0"/>
                                    <m:t>stack</m:t>
                                  </m:r>
                                </m:sub>
                              </m:sSub>
                            </m:oMath>
                          </a14:m>
                          <a:r>
                            <a:rPr lang="en-IN" sz="900"/>
                            <a:t>)</a:t>
                          </a:r>
                        </a:p>
                      </a:txBody>
                      <a:tcPr marL="61858" marR="61858" marT="30929" marB="30929" anchor="ctr"/>
                    </a:tc>
                    <a:tc>
                      <a:txBody>
                        <a:bodyPr/>
                        <a:lstStyle/>
                        <a:p>
                          <a:pPr>
                            <a:buNone/>
                          </a:pPr>
                          <a:r>
                            <a:rPr lang="en-IN" sz="900"/>
                            <a:t>Threshold Baseline Rule</a:t>
                          </a:r>
                        </a:p>
                      </a:txBody>
                      <a:tcPr marL="61858" marR="61858" marT="30929" marB="30929" anchor="ctr"/>
                    </a:tc>
                    <a:tc>
                      <a:txBody>
                        <a:bodyPr/>
                        <a:lstStyle/>
                        <a:p>
                          <a:pPr>
                            <a:buNone/>
                          </a:pPr>
                          <a:r>
                            <a:rPr lang="en-IN" sz="900"/>
                            <a:t>Operational Impact</a:t>
                          </a:r>
                        </a:p>
                      </a:txBody>
                      <a:tcPr marL="61858" marR="61858" marT="30929" marB="30929" anchor="ctr"/>
                    </a:tc>
                    <a:extLst>
                      <a:ext uri="{0D108BD9-81ED-4DB2-BD59-A6C34878D82A}">
                        <a16:rowId xmlns:a16="http://schemas.microsoft.com/office/drawing/2014/main" val="621217901"/>
                      </a:ext>
                    </a:extLst>
                  </a:tr>
                  <a:tr h="350677">
                    <a:tc>
                      <a:txBody>
                        <a:bodyPr/>
                        <a:lstStyle/>
                        <a:p>
                          <a:pPr>
                            <a:buNone/>
                          </a:pPr>
                          <a:r>
                            <a:rPr lang="en-IN" sz="900"/>
                            <a:t>Precision</a:t>
                          </a:r>
                        </a:p>
                      </a:txBody>
                      <a:tcPr marL="61858" marR="61858" marT="30929" marB="30929" anchor="ctr"/>
                    </a:tc>
                    <a:tc>
                      <a:txBody>
                        <a:bodyPr/>
                        <a:lstStyle/>
                        <a:p>
                          <a:pPr>
                            <a:buNone/>
                          </a:pPr>
                          <a:r>
                            <a:rPr lang="en-IN" sz="900"/>
                            <a:t>0.391</a:t>
                          </a:r>
                        </a:p>
                      </a:txBody>
                      <a:tcPr marL="61858" marR="61858" marT="30929" marB="30929" anchor="ctr"/>
                    </a:tc>
                    <a:tc>
                      <a:txBody>
                        <a:bodyPr/>
                        <a:lstStyle/>
                        <a:p>
                          <a:pPr>
                            <a:buNone/>
                          </a:pPr>
                          <a:r>
                            <a:rPr lang="en-IN" sz="900"/>
                            <a:t>0.743</a:t>
                          </a:r>
                        </a:p>
                      </a:txBody>
                      <a:tcPr marL="61858" marR="61858" marT="30929" marB="30929" anchor="ctr"/>
                    </a:tc>
                    <a:tc>
                      <a:txBody>
                        <a:bodyPr/>
                        <a:lstStyle/>
                        <a:p>
                          <a:pPr>
                            <a:buNone/>
                          </a:pPr>
                          <a:r>
                            <a:rPr lang="en-IN" sz="900"/>
                            <a:t>Baseline has fewer false alarms when water is already low</a:t>
                          </a:r>
                        </a:p>
                      </a:txBody>
                      <a:tcPr marL="61858" marR="61858" marT="30929" marB="30929" anchor="ctr"/>
                    </a:tc>
                    <a:extLst>
                      <a:ext uri="{0D108BD9-81ED-4DB2-BD59-A6C34878D82A}">
                        <a16:rowId xmlns:a16="http://schemas.microsoft.com/office/drawing/2014/main" val="2406677551"/>
                      </a:ext>
                    </a:extLst>
                  </a:tr>
                  <a:tr h="249061">
                    <a:tc>
                      <a:txBody>
                        <a:bodyPr/>
                        <a:lstStyle/>
                        <a:p>
                          <a:pPr>
                            <a:buNone/>
                          </a:pPr>
                          <a:r>
                            <a:rPr lang="en-IN" sz="900"/>
                            <a:t>Recall</a:t>
                          </a:r>
                        </a:p>
                      </a:txBody>
                      <a:tcPr marL="61858" marR="61858" marT="30929" marB="30929" anchor="ctr"/>
                    </a:tc>
                    <a:tc>
                      <a:txBody>
                        <a:bodyPr/>
                        <a:lstStyle/>
                        <a:p>
                          <a:pPr>
                            <a:buNone/>
                          </a:pPr>
                          <a:r>
                            <a:rPr lang="en-IN" sz="900"/>
                            <a:t>0.512</a:t>
                          </a:r>
                        </a:p>
                      </a:txBody>
                      <a:tcPr marL="61858" marR="61858" marT="30929" marB="30929" anchor="ctr"/>
                    </a:tc>
                    <a:tc>
                      <a:txBody>
                        <a:bodyPr/>
                        <a:lstStyle/>
                        <a:p>
                          <a:pPr>
                            <a:buNone/>
                          </a:pPr>
                          <a:r>
                            <a:rPr lang="en-IN" sz="900"/>
                            <a:t>0.121</a:t>
                          </a:r>
                        </a:p>
                      </a:txBody>
                      <a:tcPr marL="61858" marR="61858" marT="30929" marB="30929" anchor="ctr"/>
                    </a:tc>
                    <a:tc>
                      <a:txBody>
                        <a:bodyPr/>
                        <a:lstStyle/>
                        <a:p>
                          <a:pPr>
                            <a:buNone/>
                          </a:pPr>
                          <a:r>
                            <a:rPr lang="en-IN" sz="900" dirty="0"/>
                            <a:t>Model catches 4.2x more deteriorating hours</a:t>
                          </a:r>
                        </a:p>
                      </a:txBody>
                      <a:tcPr marL="61858" marR="61858" marT="30929" marB="30929" anchor="ctr"/>
                    </a:tc>
                    <a:extLst>
                      <a:ext uri="{0D108BD9-81ED-4DB2-BD59-A6C34878D82A}">
                        <a16:rowId xmlns:a16="http://schemas.microsoft.com/office/drawing/2014/main" val="1182485556"/>
                      </a:ext>
                    </a:extLst>
                  </a:tr>
                  <a:tr h="350677">
                    <a:tc>
                      <a:txBody>
                        <a:bodyPr/>
                        <a:lstStyle/>
                        <a:p>
                          <a:pPr>
                            <a:buNone/>
                          </a:pPr>
                          <a:r>
                            <a:rPr lang="en-IN" sz="900"/>
                            <a:t>F1-Score</a:t>
                          </a:r>
                        </a:p>
                      </a:txBody>
                      <a:tcPr marL="61858" marR="61858" marT="30929" marB="30929" anchor="ctr"/>
                    </a:tc>
                    <a:tc>
                      <a:txBody>
                        <a:bodyPr/>
                        <a:lstStyle/>
                        <a:p>
                          <a:pPr>
                            <a:buNone/>
                          </a:pPr>
                          <a:r>
                            <a:rPr lang="en-IN" sz="900"/>
                            <a:t>0.444</a:t>
                          </a:r>
                        </a:p>
                      </a:txBody>
                      <a:tcPr marL="61858" marR="61858" marT="30929" marB="30929" anchor="ctr"/>
                    </a:tc>
                    <a:tc>
                      <a:txBody>
                        <a:bodyPr/>
                        <a:lstStyle/>
                        <a:p>
                          <a:pPr>
                            <a:buNone/>
                          </a:pPr>
                          <a:r>
                            <a:rPr lang="en-IN" sz="900"/>
                            <a:t>0.208</a:t>
                          </a:r>
                        </a:p>
                      </a:txBody>
                      <a:tcPr marL="61858" marR="61858" marT="30929" marB="30929" anchor="ctr"/>
                    </a:tc>
                    <a:tc>
                      <a:txBody>
                        <a:bodyPr/>
                        <a:lstStyle/>
                        <a:p>
                          <a:pPr>
                            <a:buNone/>
                          </a:pPr>
                          <a:r>
                            <a:rPr lang="en-IN" sz="900"/>
                            <a:t>+113% improvement in precision-recall harmonic balance</a:t>
                          </a:r>
                        </a:p>
                      </a:txBody>
                      <a:tcPr marL="61858" marR="61858" marT="30929" marB="30929" anchor="ctr"/>
                    </a:tc>
                    <a:extLst>
                      <a:ext uri="{0D108BD9-81ED-4DB2-BD59-A6C34878D82A}">
                        <a16:rowId xmlns:a16="http://schemas.microsoft.com/office/drawing/2014/main" val="4120687931"/>
                      </a:ext>
                    </a:extLst>
                  </a:tr>
                  <a:tr h="249061">
                    <a:tc>
                      <a:txBody>
                        <a:bodyPr/>
                        <a:lstStyle/>
                        <a:p>
                          <a:pPr>
                            <a:buNone/>
                          </a:pPr>
                          <a:r>
                            <a:rPr lang="en-IN" sz="900"/>
                            <a:t>PR-AUC</a:t>
                          </a:r>
                        </a:p>
                      </a:txBody>
                      <a:tcPr marL="61858" marR="61858" marT="30929" marB="30929" anchor="ctr"/>
                    </a:tc>
                    <a:tc>
                      <a:txBody>
                        <a:bodyPr/>
                        <a:lstStyle/>
                        <a:p>
                          <a:pPr>
                            <a:buNone/>
                          </a:pPr>
                          <a:r>
                            <a:rPr lang="en-IN" sz="900"/>
                            <a:t>0.375</a:t>
                          </a:r>
                        </a:p>
                      </a:txBody>
                      <a:tcPr marL="61858" marR="61858" marT="30929" marB="30929" anchor="ctr"/>
                    </a:tc>
                    <a:tc>
                      <a:txBody>
                        <a:bodyPr/>
                        <a:lstStyle/>
                        <a:p>
                          <a:pPr>
                            <a:buNone/>
                          </a:pPr>
                          <a:r>
                            <a:rPr lang="en-IN" sz="900"/>
                            <a:t>0.343</a:t>
                          </a:r>
                        </a:p>
                      </a:txBody>
                      <a:tcPr marL="61858" marR="61858" marT="30929" marB="30929" anchor="ctr"/>
                    </a:tc>
                    <a:tc>
                      <a:txBody>
                        <a:bodyPr/>
                        <a:lstStyle/>
                        <a:p>
                          <a:pPr>
                            <a:buNone/>
                          </a:pPr>
                          <a:r>
                            <a:rPr lang="en-IN" sz="900"/>
                            <a:t>Superior area under Precision-Recall curve</a:t>
                          </a:r>
                        </a:p>
                      </a:txBody>
                      <a:tcPr marL="61858" marR="61858" marT="30929" marB="30929" anchor="ctr"/>
                    </a:tc>
                    <a:extLst>
                      <a:ext uri="{0D108BD9-81ED-4DB2-BD59-A6C34878D82A}">
                        <a16:rowId xmlns:a16="http://schemas.microsoft.com/office/drawing/2014/main" val="1241720102"/>
                      </a:ext>
                    </a:extLst>
                  </a:tr>
                  <a:tr h="249061">
                    <a:tc>
                      <a:txBody>
                        <a:bodyPr/>
                        <a:lstStyle/>
                        <a:p>
                          <a:pPr>
                            <a:buNone/>
                          </a:pPr>
                          <a:r>
                            <a:rPr lang="en-IN" sz="900"/>
                            <a:t>ROC-AUC</a:t>
                          </a:r>
                        </a:p>
                      </a:txBody>
                      <a:tcPr marL="61858" marR="61858" marT="30929" marB="30929" anchor="ctr"/>
                    </a:tc>
                    <a:tc>
                      <a:txBody>
                        <a:bodyPr/>
                        <a:lstStyle/>
                        <a:p>
                          <a:pPr>
                            <a:buNone/>
                          </a:pPr>
                          <a:r>
                            <a:rPr lang="en-IN" sz="900"/>
                            <a:t>0.926</a:t>
                          </a:r>
                        </a:p>
                      </a:txBody>
                      <a:tcPr marL="61858" marR="61858" marT="30929" marB="30929" anchor="ctr"/>
                    </a:tc>
                    <a:tc>
                      <a:txBody>
                        <a:bodyPr/>
                        <a:lstStyle/>
                        <a:p>
                          <a:pPr>
                            <a:buNone/>
                          </a:pPr>
                          <a:r>
                            <a:rPr lang="en-IN" sz="900"/>
                            <a:t>0.870</a:t>
                          </a:r>
                        </a:p>
                      </a:txBody>
                      <a:tcPr marL="61858" marR="61858" marT="30929" marB="30929" anchor="ctr"/>
                    </a:tc>
                    <a:tc>
                      <a:txBody>
                        <a:bodyPr/>
                        <a:lstStyle/>
                        <a:p>
                          <a:pPr>
                            <a:buNone/>
                          </a:pPr>
                          <a:r>
                            <a:rPr lang="en-IN" sz="900" dirty="0"/>
                            <a:t>Excellent discrimination capability</a:t>
                          </a:r>
                        </a:p>
                      </a:txBody>
                      <a:tcPr marL="61858" marR="61858" marT="30929" marB="30929" anchor="ctr"/>
                    </a:tc>
                    <a:extLst>
                      <a:ext uri="{0D108BD9-81ED-4DB2-BD59-A6C34878D82A}">
                        <a16:rowId xmlns:a16="http://schemas.microsoft.com/office/drawing/2014/main" val="3377108065"/>
                      </a:ext>
                    </a:extLst>
                  </a:tr>
                  <a:tr h="350677">
                    <a:tc>
                      <a:txBody>
                        <a:bodyPr/>
                        <a:lstStyle/>
                        <a:p>
                          <a:pPr>
                            <a:buNone/>
                          </a:pPr>
                          <a:r>
                            <a:rPr lang="en-IN" sz="900" dirty="0"/>
                            <a:t>Accuracy</a:t>
                          </a:r>
                        </a:p>
                      </a:txBody>
                      <a:tcPr marL="61858" marR="61858" marT="30929" marB="30929" anchor="ctr"/>
                    </a:tc>
                    <a:tc>
                      <a:txBody>
                        <a:bodyPr/>
                        <a:lstStyle/>
                        <a:p>
                          <a:pPr>
                            <a:buNone/>
                          </a:pPr>
                          <a:r>
                            <a:rPr lang="en-IN" sz="900"/>
                            <a:t>0.947</a:t>
                          </a:r>
                        </a:p>
                      </a:txBody>
                      <a:tcPr marL="61858" marR="61858" marT="30929" marB="30929" anchor="ctr"/>
                    </a:tc>
                    <a:tc>
                      <a:txBody>
                        <a:bodyPr/>
                        <a:lstStyle/>
                        <a:p>
                          <a:pPr>
                            <a:buNone/>
                          </a:pPr>
                          <a:r>
                            <a:rPr lang="en-IN" sz="900"/>
                            <a:t>0.962</a:t>
                          </a:r>
                        </a:p>
                      </a:txBody>
                      <a:tcPr marL="61858" marR="61858" marT="30929" marB="30929" anchor="ctr"/>
                    </a:tc>
                    <a:tc>
                      <a:txBody>
                        <a:bodyPr/>
                        <a:lstStyle/>
                        <a:p>
                          <a:pPr>
                            <a:buNone/>
                          </a:pPr>
                          <a:r>
                            <a:rPr lang="en-IN" sz="900"/>
                            <a:t>High overall accuracy (driven by true negative dominance)</a:t>
                          </a:r>
                        </a:p>
                      </a:txBody>
                      <a:tcPr marL="61858" marR="61858" marT="30929" marB="30929" anchor="ctr"/>
                    </a:tc>
                    <a:extLst>
                      <a:ext uri="{0D108BD9-81ED-4DB2-BD59-A6C34878D82A}">
                        <a16:rowId xmlns:a16="http://schemas.microsoft.com/office/drawing/2014/main" val="2390617463"/>
                      </a:ext>
                    </a:extLst>
                  </a:tr>
                  <a:tr h="350677">
                    <a:tc>
                      <a:txBody>
                        <a:bodyPr/>
                        <a:lstStyle/>
                        <a:p>
                          <a:pPr>
                            <a:buNone/>
                          </a:pPr>
                          <a:r>
                            <a:rPr lang="en-IN" sz="900"/>
                            <a:t>Event Recall</a:t>
                          </a:r>
                        </a:p>
                      </a:txBody>
                      <a:tcPr marL="61858" marR="61858" marT="30929" marB="30929" anchor="ctr"/>
                    </a:tc>
                    <a:tc>
                      <a:txBody>
                        <a:bodyPr/>
                        <a:lstStyle/>
                        <a:p>
                          <a:pPr>
                            <a:buNone/>
                          </a:pPr>
                          <a:r>
                            <a:rPr lang="en-IN" sz="900"/>
                            <a:t>0.840</a:t>
                          </a:r>
                        </a:p>
                      </a:txBody>
                      <a:tcPr marL="61858" marR="61858" marT="30929" marB="30929" anchor="ctr"/>
                    </a:tc>
                    <a:tc>
                      <a:txBody>
                        <a:bodyPr/>
                        <a:lstStyle/>
                        <a:p>
                          <a:pPr>
                            <a:buNone/>
                          </a:pPr>
                          <a:r>
                            <a:rPr lang="en-IN" sz="900"/>
                            <a:t>0.580</a:t>
                          </a:r>
                        </a:p>
                      </a:txBody>
                      <a:tcPr marL="61858" marR="61858" marT="30929" marB="30929" anchor="ctr"/>
                    </a:tc>
                    <a:tc>
                      <a:txBody>
                        <a:bodyPr/>
                        <a:lstStyle/>
                        <a:p>
                          <a:pPr>
                            <a:buNone/>
                          </a:pPr>
                          <a:r>
                            <a:rPr lang="en-IN" sz="900"/>
                            <a:t>84% of true hypoxic episodes detected in advance</a:t>
                          </a:r>
                        </a:p>
                      </a:txBody>
                      <a:tcPr marL="61858" marR="61858" marT="30929" marB="30929" anchor="ctr"/>
                    </a:tc>
                    <a:extLst>
                      <a:ext uri="{0D108BD9-81ED-4DB2-BD59-A6C34878D82A}">
                        <a16:rowId xmlns:a16="http://schemas.microsoft.com/office/drawing/2014/main" val="156626817"/>
                      </a:ext>
                    </a:extLst>
                  </a:tr>
                  <a:tr h="350677">
                    <a:tc>
                      <a:txBody>
                        <a:bodyPr/>
                        <a:lstStyle/>
                        <a:p>
                          <a:pPr>
                            <a:buNone/>
                          </a:pPr>
                          <a:r>
                            <a:rPr lang="en-IN" sz="900"/>
                            <a:t>Median Lead Time</a:t>
                          </a:r>
                        </a:p>
                      </a:txBody>
                      <a:tcPr marL="61858" marR="61858" marT="30929" marB="30929" anchor="ctr"/>
                    </a:tc>
                    <a:tc>
                      <a:txBody>
                        <a:bodyPr/>
                        <a:lstStyle/>
                        <a:p>
                          <a:pPr>
                            <a:buNone/>
                          </a:pPr>
                          <a:r>
                            <a:rPr lang="en-IN" sz="900"/>
                            <a:t>6.0 hours</a:t>
                          </a:r>
                        </a:p>
                      </a:txBody>
                      <a:tcPr marL="61858" marR="61858" marT="30929" marB="30929" anchor="ctr"/>
                    </a:tc>
                    <a:tc>
                      <a:txBody>
                        <a:bodyPr/>
                        <a:lstStyle/>
                        <a:p>
                          <a:pPr>
                            <a:buNone/>
                          </a:pPr>
                          <a:r>
                            <a:rPr lang="en-IN" sz="900"/>
                            <a:t>2.0 hours</a:t>
                          </a:r>
                        </a:p>
                      </a:txBody>
                      <a:tcPr marL="61858" marR="61858" marT="30929" marB="30929" anchor="ctr"/>
                    </a:tc>
                    <a:tc>
                      <a:txBody>
                        <a:bodyPr/>
                        <a:lstStyle/>
                        <a:p>
                          <a:pPr>
                            <a:buNone/>
                          </a:pPr>
                          <a:r>
                            <a:rPr lang="en-IN" sz="900"/>
                            <a:t>+4.0 hours of extra warning buffer for intervention</a:t>
                          </a:r>
                        </a:p>
                      </a:txBody>
                      <a:tcPr marL="61858" marR="61858" marT="30929" marB="30929" anchor="ctr"/>
                    </a:tc>
                    <a:extLst>
                      <a:ext uri="{0D108BD9-81ED-4DB2-BD59-A6C34878D82A}">
                        <a16:rowId xmlns:a16="http://schemas.microsoft.com/office/drawing/2014/main" val="1739691768"/>
                      </a:ext>
                    </a:extLst>
                  </a:tr>
                  <a:tr h="350677">
                    <a:tc>
                      <a:txBody>
                        <a:bodyPr/>
                        <a:lstStyle/>
                        <a:p>
                          <a:pPr>
                            <a:buNone/>
                          </a:pPr>
                          <a:r>
                            <a:rPr lang="en-IN" sz="900"/>
                            <a:t>False Alarm Rate</a:t>
                          </a:r>
                        </a:p>
                      </a:txBody>
                      <a:tcPr marL="61858" marR="61858" marT="30929" marB="30929" anchor="ctr"/>
                    </a:tc>
                    <a:tc>
                      <a:txBody>
                        <a:bodyPr/>
                        <a:lstStyle/>
                        <a:p>
                          <a:pPr>
                            <a:buNone/>
                          </a:pPr>
                          <a:r>
                            <a:rPr lang="en-IN" sz="900"/>
                            <a:t>3.06 / 30 station-days</a:t>
                          </a:r>
                        </a:p>
                      </a:txBody>
                      <a:tcPr marL="61858" marR="61858" marT="30929" marB="30929" anchor="ctr"/>
                    </a:tc>
                    <a:tc>
                      <a:txBody>
                        <a:bodyPr/>
                        <a:lstStyle/>
                        <a:p>
                          <a:pPr>
                            <a:buNone/>
                          </a:pPr>
                          <a:r>
                            <a:rPr lang="en-IN" sz="900"/>
                            <a:t>0.50 / 30 station-days</a:t>
                          </a:r>
                        </a:p>
                      </a:txBody>
                      <a:tcPr marL="61858" marR="61858" marT="30929" marB="30929" anchor="ctr"/>
                    </a:tc>
                    <a:tc>
                      <a:txBody>
                        <a:bodyPr/>
                        <a:lstStyle/>
                        <a:p>
                          <a:pPr>
                            <a:buNone/>
                          </a:pPr>
                          <a:r>
                            <a:rPr lang="en-IN" sz="900" dirty="0"/>
                            <a:t>Safely controlled within practical operational alarm budgets</a:t>
                          </a:r>
                        </a:p>
                      </a:txBody>
                      <a:tcPr marL="61858" marR="61858" marT="30929" marB="30929" anchor="ctr"/>
                    </a:tc>
                    <a:extLst>
                      <a:ext uri="{0D108BD9-81ED-4DB2-BD59-A6C34878D82A}">
                        <a16:rowId xmlns:a16="http://schemas.microsoft.com/office/drawing/2014/main" val="1034736275"/>
                      </a:ext>
                    </a:extLst>
                  </a:tr>
                </a:tbl>
              </a:graphicData>
            </a:graphic>
          </p:graphicFrame>
        </mc:Choice>
        <mc:Fallback xmlns="">
          <p:graphicFrame>
            <p:nvGraphicFramePr>
              <p:cNvPr id="5" name="Table 4">
                <a:extLst>
                  <a:ext uri="{FF2B5EF4-FFF2-40B4-BE49-F238E27FC236}">
                    <a16:creationId xmlns:a16="http://schemas.microsoft.com/office/drawing/2014/main" id="{8D773C06-B2F6-1CD1-A59B-519BBA5C4D6C}"/>
                  </a:ext>
                </a:extLst>
              </p:cNvPr>
              <p:cNvGraphicFramePr>
                <a:graphicFrameLocks noGrp="1"/>
              </p:cNvGraphicFramePr>
              <p:nvPr>
                <p:extLst>
                  <p:ext uri="{D42A27DB-BD31-4B8C-83A1-F6EECF244321}">
                    <p14:modId xmlns:p14="http://schemas.microsoft.com/office/powerpoint/2010/main" val="997561014"/>
                  </p:ext>
                </p:extLst>
              </p:nvPr>
            </p:nvGraphicFramePr>
            <p:xfrm>
              <a:off x="457200" y="2939171"/>
              <a:ext cx="8229600" cy="3232244"/>
            </p:xfrm>
            <a:graphic>
              <a:graphicData uri="http://schemas.openxmlformats.org/drawingml/2006/table">
                <a:tbl>
                  <a:tblPr>
                    <a:tableStyleId>{F9BC6C1E-BED5-463D-9D9D-55BB47110D15}</a:tableStyleId>
                  </a:tblPr>
                  <a:tblGrid>
                    <a:gridCol w="2057400">
                      <a:extLst>
                        <a:ext uri="{9D8B030D-6E8A-4147-A177-3AD203B41FA5}">
                          <a16:colId xmlns:a16="http://schemas.microsoft.com/office/drawing/2014/main" val="1779431878"/>
                        </a:ext>
                      </a:extLst>
                    </a:gridCol>
                    <a:gridCol w="2057400">
                      <a:extLst>
                        <a:ext uri="{9D8B030D-6E8A-4147-A177-3AD203B41FA5}">
                          <a16:colId xmlns:a16="http://schemas.microsoft.com/office/drawing/2014/main" val="449006890"/>
                        </a:ext>
                      </a:extLst>
                    </a:gridCol>
                    <a:gridCol w="2057400">
                      <a:extLst>
                        <a:ext uri="{9D8B030D-6E8A-4147-A177-3AD203B41FA5}">
                          <a16:colId xmlns:a16="http://schemas.microsoft.com/office/drawing/2014/main" val="3502137394"/>
                        </a:ext>
                      </a:extLst>
                    </a:gridCol>
                    <a:gridCol w="2057400">
                      <a:extLst>
                        <a:ext uri="{9D8B030D-6E8A-4147-A177-3AD203B41FA5}">
                          <a16:colId xmlns:a16="http://schemas.microsoft.com/office/drawing/2014/main" val="593292243"/>
                        </a:ext>
                      </a:extLst>
                    </a:gridCol>
                  </a:tblGrid>
                  <a:tr h="206765">
                    <a:tc>
                      <a:txBody>
                        <a:bodyPr/>
                        <a:lstStyle/>
                        <a:p>
                          <a:pPr>
                            <a:buNone/>
                          </a:pPr>
                          <a:r>
                            <a:rPr lang="en-IN" sz="900"/>
                            <a:t>Metric</a:t>
                          </a:r>
                        </a:p>
                      </a:txBody>
                      <a:tcPr marL="61858" marR="61858" marT="30929" marB="30929" anchor="ctr"/>
                    </a:tc>
                    <a:tc>
                      <a:txBody>
                        <a:bodyPr/>
                        <a:lstStyle/>
                        <a:p>
                          <a:endParaRPr lang="en-US"/>
                        </a:p>
                      </a:txBody>
                      <a:tcPr marL="61858" marR="61858" marT="30929" marB="30929" anchor="ctr">
                        <a:blipFill>
                          <a:blip r:embed="rId3"/>
                          <a:stretch>
                            <a:fillRect l="-100890" t="-2941" r="-201187" b="-1476471"/>
                          </a:stretch>
                        </a:blipFill>
                      </a:tcPr>
                    </a:tc>
                    <a:tc>
                      <a:txBody>
                        <a:bodyPr/>
                        <a:lstStyle/>
                        <a:p>
                          <a:pPr>
                            <a:buNone/>
                          </a:pPr>
                          <a:r>
                            <a:rPr lang="en-IN" sz="900"/>
                            <a:t>Threshold Baseline Rule</a:t>
                          </a:r>
                        </a:p>
                      </a:txBody>
                      <a:tcPr marL="61858" marR="61858" marT="30929" marB="30929" anchor="ctr"/>
                    </a:tc>
                    <a:tc>
                      <a:txBody>
                        <a:bodyPr/>
                        <a:lstStyle/>
                        <a:p>
                          <a:pPr>
                            <a:buNone/>
                          </a:pPr>
                          <a:r>
                            <a:rPr lang="en-IN" sz="900"/>
                            <a:t>Operational Impact</a:t>
                          </a:r>
                        </a:p>
                      </a:txBody>
                      <a:tcPr marL="61858" marR="61858" marT="30929" marB="30929" anchor="ctr"/>
                    </a:tc>
                    <a:extLst>
                      <a:ext uri="{0D108BD9-81ED-4DB2-BD59-A6C34878D82A}">
                        <a16:rowId xmlns:a16="http://schemas.microsoft.com/office/drawing/2014/main" val="621217901"/>
                      </a:ext>
                    </a:extLst>
                  </a:tr>
                  <a:tr h="350677">
                    <a:tc>
                      <a:txBody>
                        <a:bodyPr/>
                        <a:lstStyle/>
                        <a:p>
                          <a:pPr>
                            <a:buNone/>
                          </a:pPr>
                          <a:r>
                            <a:rPr lang="en-IN" sz="900"/>
                            <a:t>Precision</a:t>
                          </a:r>
                        </a:p>
                      </a:txBody>
                      <a:tcPr marL="61858" marR="61858" marT="30929" marB="30929" anchor="ctr"/>
                    </a:tc>
                    <a:tc>
                      <a:txBody>
                        <a:bodyPr/>
                        <a:lstStyle/>
                        <a:p>
                          <a:pPr>
                            <a:buNone/>
                          </a:pPr>
                          <a:r>
                            <a:rPr lang="en-IN" sz="900"/>
                            <a:t>0.391</a:t>
                          </a:r>
                        </a:p>
                      </a:txBody>
                      <a:tcPr marL="61858" marR="61858" marT="30929" marB="30929" anchor="ctr"/>
                    </a:tc>
                    <a:tc>
                      <a:txBody>
                        <a:bodyPr/>
                        <a:lstStyle/>
                        <a:p>
                          <a:pPr>
                            <a:buNone/>
                          </a:pPr>
                          <a:r>
                            <a:rPr lang="en-IN" sz="900"/>
                            <a:t>0.743</a:t>
                          </a:r>
                        </a:p>
                      </a:txBody>
                      <a:tcPr marL="61858" marR="61858" marT="30929" marB="30929" anchor="ctr"/>
                    </a:tc>
                    <a:tc>
                      <a:txBody>
                        <a:bodyPr/>
                        <a:lstStyle/>
                        <a:p>
                          <a:pPr>
                            <a:buNone/>
                          </a:pPr>
                          <a:r>
                            <a:rPr lang="en-IN" sz="900"/>
                            <a:t>Baseline has fewer false alarms when water is already low</a:t>
                          </a:r>
                        </a:p>
                      </a:txBody>
                      <a:tcPr marL="61858" marR="61858" marT="30929" marB="30929" anchor="ctr"/>
                    </a:tc>
                    <a:extLst>
                      <a:ext uri="{0D108BD9-81ED-4DB2-BD59-A6C34878D82A}">
                        <a16:rowId xmlns:a16="http://schemas.microsoft.com/office/drawing/2014/main" val="2406677551"/>
                      </a:ext>
                    </a:extLst>
                  </a:tr>
                  <a:tr h="336178">
                    <a:tc>
                      <a:txBody>
                        <a:bodyPr/>
                        <a:lstStyle/>
                        <a:p>
                          <a:pPr>
                            <a:buNone/>
                          </a:pPr>
                          <a:r>
                            <a:rPr lang="en-IN" sz="900"/>
                            <a:t>Recall</a:t>
                          </a:r>
                        </a:p>
                      </a:txBody>
                      <a:tcPr marL="61858" marR="61858" marT="30929" marB="30929" anchor="ctr"/>
                    </a:tc>
                    <a:tc>
                      <a:txBody>
                        <a:bodyPr/>
                        <a:lstStyle/>
                        <a:p>
                          <a:pPr>
                            <a:buNone/>
                          </a:pPr>
                          <a:r>
                            <a:rPr lang="en-IN" sz="900"/>
                            <a:t>0.512</a:t>
                          </a:r>
                        </a:p>
                      </a:txBody>
                      <a:tcPr marL="61858" marR="61858" marT="30929" marB="30929" anchor="ctr"/>
                    </a:tc>
                    <a:tc>
                      <a:txBody>
                        <a:bodyPr/>
                        <a:lstStyle/>
                        <a:p>
                          <a:pPr>
                            <a:buNone/>
                          </a:pPr>
                          <a:r>
                            <a:rPr lang="en-IN" sz="900"/>
                            <a:t>0.121</a:t>
                          </a:r>
                        </a:p>
                      </a:txBody>
                      <a:tcPr marL="61858" marR="61858" marT="30929" marB="30929" anchor="ctr"/>
                    </a:tc>
                    <a:tc>
                      <a:txBody>
                        <a:bodyPr/>
                        <a:lstStyle/>
                        <a:p>
                          <a:pPr>
                            <a:buNone/>
                          </a:pPr>
                          <a:r>
                            <a:rPr lang="en-IN" sz="900" dirty="0"/>
                            <a:t>Model catches 4.2x more deteriorating hours</a:t>
                          </a:r>
                        </a:p>
                      </a:txBody>
                      <a:tcPr marL="61858" marR="61858" marT="30929" marB="30929" anchor="ctr"/>
                    </a:tc>
                    <a:extLst>
                      <a:ext uri="{0D108BD9-81ED-4DB2-BD59-A6C34878D82A}">
                        <a16:rowId xmlns:a16="http://schemas.microsoft.com/office/drawing/2014/main" val="1182485556"/>
                      </a:ext>
                    </a:extLst>
                  </a:tr>
                  <a:tr h="350677">
                    <a:tc>
                      <a:txBody>
                        <a:bodyPr/>
                        <a:lstStyle/>
                        <a:p>
                          <a:pPr>
                            <a:buNone/>
                          </a:pPr>
                          <a:r>
                            <a:rPr lang="en-IN" sz="900"/>
                            <a:t>F1-Score</a:t>
                          </a:r>
                        </a:p>
                      </a:txBody>
                      <a:tcPr marL="61858" marR="61858" marT="30929" marB="30929" anchor="ctr"/>
                    </a:tc>
                    <a:tc>
                      <a:txBody>
                        <a:bodyPr/>
                        <a:lstStyle/>
                        <a:p>
                          <a:pPr>
                            <a:buNone/>
                          </a:pPr>
                          <a:r>
                            <a:rPr lang="en-IN" sz="900"/>
                            <a:t>0.444</a:t>
                          </a:r>
                        </a:p>
                      </a:txBody>
                      <a:tcPr marL="61858" marR="61858" marT="30929" marB="30929" anchor="ctr"/>
                    </a:tc>
                    <a:tc>
                      <a:txBody>
                        <a:bodyPr/>
                        <a:lstStyle/>
                        <a:p>
                          <a:pPr>
                            <a:buNone/>
                          </a:pPr>
                          <a:r>
                            <a:rPr lang="en-IN" sz="900"/>
                            <a:t>0.208</a:t>
                          </a:r>
                        </a:p>
                      </a:txBody>
                      <a:tcPr marL="61858" marR="61858" marT="30929" marB="30929" anchor="ctr"/>
                    </a:tc>
                    <a:tc>
                      <a:txBody>
                        <a:bodyPr/>
                        <a:lstStyle/>
                        <a:p>
                          <a:pPr>
                            <a:buNone/>
                          </a:pPr>
                          <a:r>
                            <a:rPr lang="en-IN" sz="900"/>
                            <a:t>+113% improvement in precision-recall harmonic balance</a:t>
                          </a:r>
                        </a:p>
                      </a:txBody>
                      <a:tcPr marL="61858" marR="61858" marT="30929" marB="30929" anchor="ctr"/>
                    </a:tc>
                    <a:extLst>
                      <a:ext uri="{0D108BD9-81ED-4DB2-BD59-A6C34878D82A}">
                        <a16:rowId xmlns:a16="http://schemas.microsoft.com/office/drawing/2014/main" val="4120687931"/>
                      </a:ext>
                    </a:extLst>
                  </a:tr>
                  <a:tr h="336178">
                    <a:tc>
                      <a:txBody>
                        <a:bodyPr/>
                        <a:lstStyle/>
                        <a:p>
                          <a:pPr>
                            <a:buNone/>
                          </a:pPr>
                          <a:r>
                            <a:rPr lang="en-IN" sz="900"/>
                            <a:t>PR-AUC</a:t>
                          </a:r>
                        </a:p>
                      </a:txBody>
                      <a:tcPr marL="61858" marR="61858" marT="30929" marB="30929" anchor="ctr"/>
                    </a:tc>
                    <a:tc>
                      <a:txBody>
                        <a:bodyPr/>
                        <a:lstStyle/>
                        <a:p>
                          <a:pPr>
                            <a:buNone/>
                          </a:pPr>
                          <a:r>
                            <a:rPr lang="en-IN" sz="900"/>
                            <a:t>0.375</a:t>
                          </a:r>
                        </a:p>
                      </a:txBody>
                      <a:tcPr marL="61858" marR="61858" marT="30929" marB="30929" anchor="ctr"/>
                    </a:tc>
                    <a:tc>
                      <a:txBody>
                        <a:bodyPr/>
                        <a:lstStyle/>
                        <a:p>
                          <a:pPr>
                            <a:buNone/>
                          </a:pPr>
                          <a:r>
                            <a:rPr lang="en-IN" sz="900"/>
                            <a:t>0.343</a:t>
                          </a:r>
                        </a:p>
                      </a:txBody>
                      <a:tcPr marL="61858" marR="61858" marT="30929" marB="30929" anchor="ctr"/>
                    </a:tc>
                    <a:tc>
                      <a:txBody>
                        <a:bodyPr/>
                        <a:lstStyle/>
                        <a:p>
                          <a:pPr>
                            <a:buNone/>
                          </a:pPr>
                          <a:r>
                            <a:rPr lang="en-IN" sz="900"/>
                            <a:t>Superior area under Precision-Recall curve</a:t>
                          </a:r>
                        </a:p>
                      </a:txBody>
                      <a:tcPr marL="61858" marR="61858" marT="30929" marB="30929" anchor="ctr"/>
                    </a:tc>
                    <a:extLst>
                      <a:ext uri="{0D108BD9-81ED-4DB2-BD59-A6C34878D82A}">
                        <a16:rowId xmlns:a16="http://schemas.microsoft.com/office/drawing/2014/main" val="1241720102"/>
                      </a:ext>
                    </a:extLst>
                  </a:tr>
                  <a:tr h="249061">
                    <a:tc>
                      <a:txBody>
                        <a:bodyPr/>
                        <a:lstStyle/>
                        <a:p>
                          <a:pPr>
                            <a:buNone/>
                          </a:pPr>
                          <a:r>
                            <a:rPr lang="en-IN" sz="900"/>
                            <a:t>ROC-AUC</a:t>
                          </a:r>
                        </a:p>
                      </a:txBody>
                      <a:tcPr marL="61858" marR="61858" marT="30929" marB="30929" anchor="ctr"/>
                    </a:tc>
                    <a:tc>
                      <a:txBody>
                        <a:bodyPr/>
                        <a:lstStyle/>
                        <a:p>
                          <a:pPr>
                            <a:buNone/>
                          </a:pPr>
                          <a:r>
                            <a:rPr lang="en-IN" sz="900"/>
                            <a:t>0.926</a:t>
                          </a:r>
                        </a:p>
                      </a:txBody>
                      <a:tcPr marL="61858" marR="61858" marT="30929" marB="30929" anchor="ctr"/>
                    </a:tc>
                    <a:tc>
                      <a:txBody>
                        <a:bodyPr/>
                        <a:lstStyle/>
                        <a:p>
                          <a:pPr>
                            <a:buNone/>
                          </a:pPr>
                          <a:r>
                            <a:rPr lang="en-IN" sz="900"/>
                            <a:t>0.870</a:t>
                          </a:r>
                        </a:p>
                      </a:txBody>
                      <a:tcPr marL="61858" marR="61858" marT="30929" marB="30929" anchor="ctr"/>
                    </a:tc>
                    <a:tc>
                      <a:txBody>
                        <a:bodyPr/>
                        <a:lstStyle/>
                        <a:p>
                          <a:pPr>
                            <a:buNone/>
                          </a:pPr>
                          <a:r>
                            <a:rPr lang="en-IN" sz="900" dirty="0"/>
                            <a:t>Excellent discrimination capability</a:t>
                          </a:r>
                        </a:p>
                      </a:txBody>
                      <a:tcPr marL="61858" marR="61858" marT="30929" marB="30929" anchor="ctr"/>
                    </a:tc>
                    <a:extLst>
                      <a:ext uri="{0D108BD9-81ED-4DB2-BD59-A6C34878D82A}">
                        <a16:rowId xmlns:a16="http://schemas.microsoft.com/office/drawing/2014/main" val="3377108065"/>
                      </a:ext>
                    </a:extLst>
                  </a:tr>
                  <a:tr h="350677">
                    <a:tc>
                      <a:txBody>
                        <a:bodyPr/>
                        <a:lstStyle/>
                        <a:p>
                          <a:pPr>
                            <a:buNone/>
                          </a:pPr>
                          <a:r>
                            <a:rPr lang="en-IN" sz="900" dirty="0"/>
                            <a:t>Accuracy</a:t>
                          </a:r>
                        </a:p>
                      </a:txBody>
                      <a:tcPr marL="61858" marR="61858" marT="30929" marB="30929" anchor="ctr"/>
                    </a:tc>
                    <a:tc>
                      <a:txBody>
                        <a:bodyPr/>
                        <a:lstStyle/>
                        <a:p>
                          <a:pPr>
                            <a:buNone/>
                          </a:pPr>
                          <a:r>
                            <a:rPr lang="en-IN" sz="900"/>
                            <a:t>0.947</a:t>
                          </a:r>
                        </a:p>
                      </a:txBody>
                      <a:tcPr marL="61858" marR="61858" marT="30929" marB="30929" anchor="ctr"/>
                    </a:tc>
                    <a:tc>
                      <a:txBody>
                        <a:bodyPr/>
                        <a:lstStyle/>
                        <a:p>
                          <a:pPr>
                            <a:buNone/>
                          </a:pPr>
                          <a:r>
                            <a:rPr lang="en-IN" sz="900"/>
                            <a:t>0.962</a:t>
                          </a:r>
                        </a:p>
                      </a:txBody>
                      <a:tcPr marL="61858" marR="61858" marT="30929" marB="30929" anchor="ctr"/>
                    </a:tc>
                    <a:tc>
                      <a:txBody>
                        <a:bodyPr/>
                        <a:lstStyle/>
                        <a:p>
                          <a:pPr>
                            <a:buNone/>
                          </a:pPr>
                          <a:r>
                            <a:rPr lang="en-IN" sz="900"/>
                            <a:t>High overall accuracy (driven by true negative dominance)</a:t>
                          </a:r>
                        </a:p>
                      </a:txBody>
                      <a:tcPr marL="61858" marR="61858" marT="30929" marB="30929" anchor="ctr"/>
                    </a:tc>
                    <a:extLst>
                      <a:ext uri="{0D108BD9-81ED-4DB2-BD59-A6C34878D82A}">
                        <a16:rowId xmlns:a16="http://schemas.microsoft.com/office/drawing/2014/main" val="2390617463"/>
                      </a:ext>
                    </a:extLst>
                  </a:tr>
                  <a:tr h="350677">
                    <a:tc>
                      <a:txBody>
                        <a:bodyPr/>
                        <a:lstStyle/>
                        <a:p>
                          <a:pPr>
                            <a:buNone/>
                          </a:pPr>
                          <a:r>
                            <a:rPr lang="en-IN" sz="900"/>
                            <a:t>Event Recall</a:t>
                          </a:r>
                        </a:p>
                      </a:txBody>
                      <a:tcPr marL="61858" marR="61858" marT="30929" marB="30929" anchor="ctr"/>
                    </a:tc>
                    <a:tc>
                      <a:txBody>
                        <a:bodyPr/>
                        <a:lstStyle/>
                        <a:p>
                          <a:pPr>
                            <a:buNone/>
                          </a:pPr>
                          <a:r>
                            <a:rPr lang="en-IN" sz="900"/>
                            <a:t>0.840</a:t>
                          </a:r>
                        </a:p>
                      </a:txBody>
                      <a:tcPr marL="61858" marR="61858" marT="30929" marB="30929" anchor="ctr"/>
                    </a:tc>
                    <a:tc>
                      <a:txBody>
                        <a:bodyPr/>
                        <a:lstStyle/>
                        <a:p>
                          <a:pPr>
                            <a:buNone/>
                          </a:pPr>
                          <a:r>
                            <a:rPr lang="en-IN" sz="900"/>
                            <a:t>0.580</a:t>
                          </a:r>
                        </a:p>
                      </a:txBody>
                      <a:tcPr marL="61858" marR="61858" marT="30929" marB="30929" anchor="ctr"/>
                    </a:tc>
                    <a:tc>
                      <a:txBody>
                        <a:bodyPr/>
                        <a:lstStyle/>
                        <a:p>
                          <a:pPr>
                            <a:buNone/>
                          </a:pPr>
                          <a:r>
                            <a:rPr lang="en-IN" sz="900"/>
                            <a:t>84% of true hypoxic episodes detected in advance</a:t>
                          </a:r>
                        </a:p>
                      </a:txBody>
                      <a:tcPr marL="61858" marR="61858" marT="30929" marB="30929" anchor="ctr"/>
                    </a:tc>
                    <a:extLst>
                      <a:ext uri="{0D108BD9-81ED-4DB2-BD59-A6C34878D82A}">
                        <a16:rowId xmlns:a16="http://schemas.microsoft.com/office/drawing/2014/main" val="156626817"/>
                      </a:ext>
                    </a:extLst>
                  </a:tr>
                  <a:tr h="350677">
                    <a:tc>
                      <a:txBody>
                        <a:bodyPr/>
                        <a:lstStyle/>
                        <a:p>
                          <a:pPr>
                            <a:buNone/>
                          </a:pPr>
                          <a:r>
                            <a:rPr lang="en-IN" sz="900"/>
                            <a:t>Median Lead Time</a:t>
                          </a:r>
                        </a:p>
                      </a:txBody>
                      <a:tcPr marL="61858" marR="61858" marT="30929" marB="30929" anchor="ctr"/>
                    </a:tc>
                    <a:tc>
                      <a:txBody>
                        <a:bodyPr/>
                        <a:lstStyle/>
                        <a:p>
                          <a:pPr>
                            <a:buNone/>
                          </a:pPr>
                          <a:r>
                            <a:rPr lang="en-IN" sz="900"/>
                            <a:t>6.0 hours</a:t>
                          </a:r>
                        </a:p>
                      </a:txBody>
                      <a:tcPr marL="61858" marR="61858" marT="30929" marB="30929" anchor="ctr"/>
                    </a:tc>
                    <a:tc>
                      <a:txBody>
                        <a:bodyPr/>
                        <a:lstStyle/>
                        <a:p>
                          <a:pPr>
                            <a:buNone/>
                          </a:pPr>
                          <a:r>
                            <a:rPr lang="en-IN" sz="900"/>
                            <a:t>2.0 hours</a:t>
                          </a:r>
                        </a:p>
                      </a:txBody>
                      <a:tcPr marL="61858" marR="61858" marT="30929" marB="30929" anchor="ctr"/>
                    </a:tc>
                    <a:tc>
                      <a:txBody>
                        <a:bodyPr/>
                        <a:lstStyle/>
                        <a:p>
                          <a:pPr>
                            <a:buNone/>
                          </a:pPr>
                          <a:r>
                            <a:rPr lang="en-IN" sz="900"/>
                            <a:t>+4.0 hours of extra warning buffer for intervention</a:t>
                          </a:r>
                        </a:p>
                      </a:txBody>
                      <a:tcPr marL="61858" marR="61858" marT="30929" marB="30929" anchor="ctr"/>
                    </a:tc>
                    <a:extLst>
                      <a:ext uri="{0D108BD9-81ED-4DB2-BD59-A6C34878D82A}">
                        <a16:rowId xmlns:a16="http://schemas.microsoft.com/office/drawing/2014/main" val="1739691768"/>
                      </a:ext>
                    </a:extLst>
                  </a:tr>
                  <a:tr h="350677">
                    <a:tc>
                      <a:txBody>
                        <a:bodyPr/>
                        <a:lstStyle/>
                        <a:p>
                          <a:pPr>
                            <a:buNone/>
                          </a:pPr>
                          <a:r>
                            <a:rPr lang="en-IN" sz="900"/>
                            <a:t>False Alarm Rate</a:t>
                          </a:r>
                        </a:p>
                      </a:txBody>
                      <a:tcPr marL="61858" marR="61858" marT="30929" marB="30929" anchor="ctr"/>
                    </a:tc>
                    <a:tc>
                      <a:txBody>
                        <a:bodyPr/>
                        <a:lstStyle/>
                        <a:p>
                          <a:pPr>
                            <a:buNone/>
                          </a:pPr>
                          <a:r>
                            <a:rPr lang="en-IN" sz="900"/>
                            <a:t>3.06 / 30 station-days</a:t>
                          </a:r>
                        </a:p>
                      </a:txBody>
                      <a:tcPr marL="61858" marR="61858" marT="30929" marB="30929" anchor="ctr"/>
                    </a:tc>
                    <a:tc>
                      <a:txBody>
                        <a:bodyPr/>
                        <a:lstStyle/>
                        <a:p>
                          <a:pPr>
                            <a:buNone/>
                          </a:pPr>
                          <a:r>
                            <a:rPr lang="en-IN" sz="900"/>
                            <a:t>0.50 / 30 station-days</a:t>
                          </a:r>
                        </a:p>
                      </a:txBody>
                      <a:tcPr marL="61858" marR="61858" marT="30929" marB="30929" anchor="ctr"/>
                    </a:tc>
                    <a:tc>
                      <a:txBody>
                        <a:bodyPr/>
                        <a:lstStyle/>
                        <a:p>
                          <a:pPr>
                            <a:buNone/>
                          </a:pPr>
                          <a:r>
                            <a:rPr lang="en-IN" sz="900" dirty="0"/>
                            <a:t>Safely controlled within practical operational alarm budgets</a:t>
                          </a:r>
                        </a:p>
                      </a:txBody>
                      <a:tcPr marL="61858" marR="61858" marT="30929" marB="30929" anchor="ctr"/>
                    </a:tc>
                    <a:extLst>
                      <a:ext uri="{0D108BD9-81ED-4DB2-BD59-A6C34878D82A}">
                        <a16:rowId xmlns:a16="http://schemas.microsoft.com/office/drawing/2014/main" val="1034736275"/>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C476D04-031D-E4D1-A28B-7C8FA5BF80BE}"/>
                  </a:ext>
                </a:extLst>
              </p:cNvPr>
              <p:cNvSpPr txBox="1"/>
              <p:nvPr/>
            </p:nvSpPr>
            <p:spPr>
              <a:xfrm>
                <a:off x="457200" y="2396778"/>
                <a:ext cx="8229600" cy="542393"/>
              </a:xfrm>
              <a:prstGeom prst="rect">
                <a:avLst/>
              </a:prstGeom>
              <a:noFill/>
            </p:spPr>
            <p:txBody>
              <a:bodyPr wrap="square">
                <a:spAutoFit/>
              </a:bodyPr>
              <a:lstStyle/>
              <a:p>
                <a:pPr>
                  <a:buNone/>
                </a:pPr>
                <a:r>
                  <a:rPr lang="en-IN" dirty="0"/>
                  <a:t>Comprehensive benchmarking of the Stacked Late-Fusion Ensemble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𝐸</m:t>
                        </m:r>
                      </m:e>
                      <m:sub>
                        <m:r>
                          <m:rPr>
                            <m:nor/>
                          </m:rPr>
                          <a:rPr lang="en-IN" b="0" i="0">
                            <a:latin typeface="Arial"/>
                          </a:rPr>
                          <m:t>stack</m:t>
                        </m:r>
                      </m:sub>
                    </m:sSub>
                  </m:oMath>
                </a14:m>
                <a:r>
                  <a:rPr lang="en-IN" dirty="0"/>
                  <a:t>) against the standard industrial Threshold Baseline (</a:t>
                </a:r>
                <a14:m>
                  <m:oMath xmlns:m="http://schemas.openxmlformats.org/officeDocument/2006/math">
                    <m:sSub>
                      <m:sSubPr>
                        <m:ctrlPr>
                          <a:rPr lang="en-IN" b="0" i="0"/>
                        </m:ctrlPr>
                      </m:sSubPr>
                      <m:e>
                        <m:r>
                          <m:rPr>
                            <m:nor/>
                          </m:rPr>
                          <a:rPr lang="en-IN" b="0" i="0"/>
                          <m:t>DO</m:t>
                        </m:r>
                      </m:e>
                      <m:sub>
                        <m:r>
                          <a:rPr lang="en-IN" b="0" i="1">
                            <a:latin typeface="Cambria Math" panose="02040503050406030204" pitchFamily="18" charset="0"/>
                          </a:rPr>
                          <m:t>𝑡</m:t>
                        </m:r>
                      </m:sub>
                    </m:sSub>
                    <m:r>
                      <a:rPr lang="en-IN" b="0" i="0">
                        <a:latin typeface="Cambria Math" panose="02040503050406030204" pitchFamily="18" charset="0"/>
                      </a:rPr>
                      <m:t>&lt;5.1</m:t>
                    </m:r>
                    <m:r>
                      <m:rPr>
                        <m:nor/>
                      </m:rPr>
                      <a:rPr lang="en-IN" b="0" i="0">
                        <a:latin typeface="Arial"/>
                      </a:rPr>
                      <m:t> mg/L</m:t>
                    </m:r>
                  </m:oMath>
                </a14:m>
                <a:r>
                  <a:rPr lang="en-IN" dirty="0"/>
                  <a:t>) on the unseen 2025 hold-out:</a:t>
                </a:r>
              </a:p>
            </p:txBody>
          </p:sp>
        </mc:Choice>
        <mc:Fallback xmlns="">
          <p:sp>
            <p:nvSpPr>
              <p:cNvPr id="9" name="TextBox 8">
                <a:extLst>
                  <a:ext uri="{FF2B5EF4-FFF2-40B4-BE49-F238E27FC236}">
                    <a16:creationId xmlns:a16="http://schemas.microsoft.com/office/drawing/2014/main" id="{0C476D04-031D-E4D1-A28B-7C8FA5BF80BE}"/>
                  </a:ext>
                </a:extLst>
              </p:cNvPr>
              <p:cNvSpPr txBox="1">
                <a:spLocks noRot="1" noChangeAspect="1" noMove="1" noResize="1" noEditPoints="1" noAdjustHandles="1" noChangeArrowheads="1" noChangeShapeType="1" noTextEdit="1"/>
              </p:cNvSpPr>
              <p:nvPr/>
            </p:nvSpPr>
            <p:spPr>
              <a:xfrm>
                <a:off x="457200" y="2396778"/>
                <a:ext cx="8229600" cy="542393"/>
              </a:xfrm>
              <a:prstGeom prst="rect">
                <a:avLst/>
              </a:prstGeom>
              <a:blipFill>
                <a:blip r:embed="rId4"/>
                <a:stretch>
                  <a:fillRect l="-222" t="-2247" b="-11236"/>
                </a:stretch>
              </a:blipFill>
            </p:spPr>
            <p:txBody>
              <a:bodyPr/>
              <a:lstStyle/>
              <a:p>
                <a:r>
                  <a:rPr lang="en-IN">
                    <a:noFill/>
                  </a:rPr>
                  <a:t> </a:t>
                </a:r>
              </a:p>
            </p:txBody>
          </p:sp>
        </mc:Fallback>
      </mc:AlternateContent>
    </p:spTree>
    <p:extLst>
      <p:ext uri="{BB962C8B-B14F-4D97-AF65-F5344CB8AC3E}">
        <p14:creationId xmlns:p14="http://schemas.microsoft.com/office/powerpoint/2010/main" val="3160222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D41E704D-943D-BA10-B8EE-1F1255FE1F3F}"/>
            </a:ext>
          </a:extLst>
        </p:cNvPr>
        <p:cNvGrpSpPr/>
        <p:nvPr/>
      </p:nvGrpSpPr>
      <p:grpSpPr>
        <a:xfrm>
          <a:off x="0" y="0"/>
          <a:ext cx="0" cy="0"/>
          <a:chOff x="0" y="0"/>
          <a:chExt cx="0" cy="0"/>
        </a:xfrm>
      </p:grpSpPr>
      <p:sp>
        <p:nvSpPr>
          <p:cNvPr id="161" name="Google Shape;161;p12">
            <a:extLst>
              <a:ext uri="{FF2B5EF4-FFF2-40B4-BE49-F238E27FC236}">
                <a16:creationId xmlns:a16="http://schemas.microsoft.com/office/drawing/2014/main" id="{29296162-56C8-2135-6193-8D5F5823E2F2}"/>
              </a:ext>
            </a:extLst>
          </p:cNvPr>
          <p:cNvSpPr txBox="1">
            <a:spLocks noGrp="1"/>
          </p:cNvSpPr>
          <p:nvPr>
            <p:ph type="title"/>
          </p:nvPr>
        </p:nvSpPr>
        <p:spPr>
          <a:xfrm>
            <a:off x="457200" y="274638"/>
            <a:ext cx="8229600" cy="1143000"/>
          </a:xfrm>
          <a:noFill/>
          <a:ln>
            <a:noFill/>
          </a:ln>
        </p:spPr>
        <p:txBody>
          <a:bodyPr spcFirstLastPara="1" wrap="square" lIns="91425" tIns="45700" rIns="91425" bIns="45700" anchor="ctr" anchorCtr="0">
            <a:noAutofit/>
          </a:bodyPr>
          <a:lstStyle/>
          <a:p>
            <a:r>
              <a:rPr lang="en-US" sz="2800" dirty="0"/>
              <a:t>Results &amp; Discussion — Dataset Splits &amp; Class Balance And Model Evaluation at 24-Hour Horizon</a:t>
            </a:r>
          </a:p>
        </p:txBody>
      </p:sp>
      <p:pic>
        <p:nvPicPr>
          <p:cNvPr id="4" name="Picture 3">
            <a:extLst>
              <a:ext uri="{FF2B5EF4-FFF2-40B4-BE49-F238E27FC236}">
                <a16:creationId xmlns:a16="http://schemas.microsoft.com/office/drawing/2014/main" id="{DF992D50-4D91-28F3-8265-D1B2184B09DB}"/>
              </a:ext>
            </a:extLst>
          </p:cNvPr>
          <p:cNvPicPr>
            <a:picLocks noChangeAspect="1"/>
          </p:cNvPicPr>
          <p:nvPr/>
        </p:nvPicPr>
        <p:blipFill>
          <a:blip r:embed="rId3"/>
          <a:stretch>
            <a:fillRect/>
          </a:stretch>
        </p:blipFill>
        <p:spPr>
          <a:xfrm>
            <a:off x="97155" y="1337310"/>
            <a:ext cx="8949690" cy="5034201"/>
          </a:xfrm>
          <a:prstGeom prst="rect">
            <a:avLst/>
          </a:prstGeom>
        </p:spPr>
      </p:pic>
    </p:spTree>
    <p:extLst>
      <p:ext uri="{BB962C8B-B14F-4D97-AF65-F5344CB8AC3E}">
        <p14:creationId xmlns:p14="http://schemas.microsoft.com/office/powerpoint/2010/main" val="227807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C5A0BD86-8DDE-CB99-C38E-AC1BD42B4C60}"/>
            </a:ext>
          </a:extLst>
        </p:cNvPr>
        <p:cNvGrpSpPr/>
        <p:nvPr/>
      </p:nvGrpSpPr>
      <p:grpSpPr>
        <a:xfrm>
          <a:off x="0" y="0"/>
          <a:ext cx="0" cy="0"/>
          <a:chOff x="0" y="0"/>
          <a:chExt cx="0" cy="0"/>
        </a:xfrm>
      </p:grpSpPr>
      <p:sp>
        <p:nvSpPr>
          <p:cNvPr id="161" name="Google Shape;161;p12">
            <a:extLst>
              <a:ext uri="{FF2B5EF4-FFF2-40B4-BE49-F238E27FC236}">
                <a16:creationId xmlns:a16="http://schemas.microsoft.com/office/drawing/2014/main" id="{B0901B33-D64E-8C85-BA9B-9E242E1A029E}"/>
              </a:ext>
            </a:extLst>
          </p:cNvPr>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fontScale="90000"/>
          </a:bodyPr>
          <a:lstStyle/>
          <a:p>
            <a:r>
              <a:rPr lang="fr-FR"/>
              <a:t>Results &amp; Discussion — Confusion Matrix &amp; ROC/PR Curves</a:t>
            </a:r>
          </a:p>
        </p:txBody>
      </p:sp>
      <p:sp>
        <p:nvSpPr>
          <p:cNvPr id="163" name="Google Shape;163;p12">
            <a:extLst>
              <a:ext uri="{FF2B5EF4-FFF2-40B4-BE49-F238E27FC236}">
                <a16:creationId xmlns:a16="http://schemas.microsoft.com/office/drawing/2014/main" id="{F54E1891-E3F1-FB35-1C94-C36840EFB6EA}"/>
              </a:ext>
            </a:extLst>
          </p:cNvPr>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5BBFE30-7FEC-7653-2670-EA5FC08BD7BD}"/>
                  </a:ext>
                </a:extLst>
              </p:cNvPr>
              <p:cNvSpPr txBox="1"/>
              <p:nvPr/>
            </p:nvSpPr>
            <p:spPr>
              <a:xfrm>
                <a:off x="457200" y="1566978"/>
                <a:ext cx="8229600" cy="3994940"/>
              </a:xfrm>
              <a:prstGeom prst="rect">
                <a:avLst/>
              </a:prstGeom>
              <a:noFill/>
            </p:spPr>
            <p:txBody>
              <a:bodyPr wrap="square">
                <a:spAutoFit/>
              </a:bodyPr>
              <a:lstStyle/>
              <a:p>
                <a:pPr lvl="0"/>
                <a:r>
                  <a:rPr lang="en-IN" sz="1800" b="1" dirty="0"/>
                  <a:t>Confusion Matrix (</a:t>
                </a:r>
                <a14:m>
                  <m:oMath xmlns:m="http://schemas.openxmlformats.org/officeDocument/2006/math">
                    <m:sSub>
                      <m:sSubPr>
                        <m:ctrlPr>
                          <a:rPr lang="en-IN" sz="1800" i="1">
                            <a:latin typeface="Cambria Math" panose="02040503050406030204" pitchFamily="18" charset="0"/>
                          </a:rPr>
                        </m:ctrlPr>
                      </m:sSubPr>
                      <m:e>
                        <m:r>
                          <a:rPr lang="en-IN" sz="1800" i="1">
                            <a:latin typeface="Cambria Math" panose="02040503050406030204" pitchFamily="18" charset="0"/>
                          </a:rPr>
                          <m:t>𝐸</m:t>
                        </m:r>
                      </m:e>
                      <m:sub>
                        <m:r>
                          <m:rPr>
                            <m:nor/>
                          </m:rPr>
                          <a:rPr lang="en-IN" sz="1800" b="0" i="0"/>
                          <m:t>stack</m:t>
                        </m:r>
                      </m:sub>
                    </m:sSub>
                  </m:oMath>
                </a14:m>
                <a:r>
                  <a:rPr lang="en-IN" sz="1800" b="1" dirty="0"/>
                  <a:t>, Horizon = 24 h):</a:t>
                </a:r>
                <a:r>
                  <a:rPr lang="en-IN" sz="1800" dirty="0"/>
                  <a:t> </a:t>
                </a:r>
              </a:p>
              <a:p>
                <a:pPr marL="742950" lvl="1" indent="-285750">
                  <a:buFont typeface="Arial" panose="020B0604020202020204" pitchFamily="34" charset="0"/>
                  <a:buChar char="•"/>
                </a:pPr>
                <a:r>
                  <a:rPr lang="en-IN" sz="1800" b="1" dirty="0"/>
                  <a:t>True Positives (Warned Onsets):</a:t>
                </a:r>
                <a:r>
                  <a:rPr lang="en-IN" sz="1800" dirty="0"/>
                  <a:t> </a:t>
                </a:r>
                <a:r>
                  <a:rPr lang="en-IN" sz="1800" b="1" dirty="0"/>
                  <a:t>846 hours</a:t>
                </a:r>
                <a:r>
                  <a:rPr lang="en-IN" sz="1800" dirty="0"/>
                  <a:t> (51.2% of actual deterioration hours caught).</a:t>
                </a:r>
              </a:p>
              <a:p>
                <a:pPr marL="742950" lvl="1" indent="-285750">
                  <a:buFont typeface="Arial" panose="020B0604020202020204" pitchFamily="34" charset="0"/>
                  <a:buChar char="•"/>
                </a:pPr>
                <a:r>
                  <a:rPr lang="en-IN" sz="1800" b="1" dirty="0"/>
                  <a:t>False Negatives (Silent Misses):</a:t>
                </a:r>
                <a:r>
                  <a:rPr lang="en-IN" sz="1800" dirty="0"/>
                  <a:t> </a:t>
                </a:r>
                <a:r>
                  <a:rPr lang="en-IN" sz="1800" b="1" dirty="0"/>
                  <a:t>806 hours</a:t>
                </a:r>
                <a:r>
                  <a:rPr lang="en-IN" sz="1800" dirty="0"/>
                  <a:t> (48.8% missed).</a:t>
                </a:r>
              </a:p>
              <a:p>
                <a:pPr marL="742950" lvl="1" indent="-285750">
                  <a:buFont typeface="Arial" panose="020B0604020202020204" pitchFamily="34" charset="0"/>
                  <a:buChar char="•"/>
                </a:pPr>
                <a:r>
                  <a:rPr lang="en-IN" sz="1800" b="1" dirty="0"/>
                  <a:t>False Positives (False Alarms):</a:t>
                </a:r>
                <a:r>
                  <a:rPr lang="en-IN" sz="1800" dirty="0"/>
                  <a:t> </a:t>
                </a:r>
                <a:r>
                  <a:rPr lang="en-IN" sz="1800" b="1" dirty="0"/>
                  <a:t>1,315 hours</a:t>
                </a:r>
                <a:r>
                  <a:rPr lang="en-IN" sz="1800" dirty="0"/>
                  <a:t> (Only 3.4% of compliant hours).</a:t>
                </a:r>
              </a:p>
              <a:p>
                <a:pPr marL="742950" lvl="1" indent="-285750">
                  <a:buFont typeface="Arial" panose="020B0604020202020204" pitchFamily="34" charset="0"/>
                  <a:buChar char="•"/>
                </a:pPr>
                <a:r>
                  <a:rPr lang="en-IN" sz="1800" b="1" dirty="0"/>
                  <a:t>True Negatives (Correct Silence):</a:t>
                </a:r>
                <a:r>
                  <a:rPr lang="en-IN" sz="1800" dirty="0"/>
                  <a:t> </a:t>
                </a:r>
                <a:r>
                  <a:rPr lang="en-IN" sz="1800" b="1" dirty="0"/>
                  <a:t>37,211 hours</a:t>
                </a:r>
                <a:r>
                  <a:rPr lang="en-IN" sz="1800" dirty="0"/>
                  <a:t> (96.6% of healthy periods correctly untriggered).</a:t>
                </a:r>
              </a:p>
              <a:p>
                <a:pPr lvl="0"/>
                <a:r>
                  <a:rPr lang="en-IN" sz="1800" b="1" dirty="0"/>
                  <a:t>ROC &amp; Precision-Recall Curve Insights:</a:t>
                </a:r>
                <a:r>
                  <a:rPr lang="en-IN" sz="1800" dirty="0"/>
                  <a:t> </a:t>
                </a:r>
              </a:p>
              <a:p>
                <a:pPr marL="742950" lvl="1" indent="-285750">
                  <a:buFont typeface="Arial" panose="020B0604020202020204" pitchFamily="34" charset="0"/>
                  <a:buChar char="•"/>
                </a:pPr>
                <a:r>
                  <a:rPr lang="en-IN" sz="1800" b="1" dirty="0"/>
                  <a:t>ROC Curve:</a:t>
                </a:r>
                <a:r>
                  <a:rPr lang="en-IN" sz="1800" dirty="0"/>
                  <a:t> Rapid ascent with </a:t>
                </a:r>
                <a14:m>
                  <m:oMath xmlns:m="http://schemas.openxmlformats.org/officeDocument/2006/math">
                    <m:r>
                      <m:rPr>
                        <m:nor/>
                      </m:rPr>
                      <a:rPr lang="en-IN" sz="1800" b="0" i="0"/>
                      <m:t>ROC−AUC</m:t>
                    </m:r>
                    <m:r>
                      <a:rPr lang="en-IN" sz="1800" b="0" i="0">
                        <a:latin typeface="Cambria Math" panose="02040503050406030204" pitchFamily="18" charset="0"/>
                      </a:rPr>
                      <m:t>=0.926</m:t>
                    </m:r>
                  </m:oMath>
                </a14:m>
                <a:r>
                  <a:rPr lang="en-IN" sz="1800" dirty="0"/>
                  <a:t>, showing strong separation against baseline (</a:t>
                </a:r>
                <a14:m>
                  <m:oMath xmlns:m="http://schemas.openxmlformats.org/officeDocument/2006/math">
                    <m:r>
                      <m:rPr>
                        <m:nor/>
                      </m:rPr>
                      <a:rPr lang="en-IN" sz="1800" b="0" i="0"/>
                      <m:t>AUC</m:t>
                    </m:r>
                    <m:r>
                      <a:rPr lang="en-IN" sz="1800" b="0" i="0">
                        <a:latin typeface="Cambria Math" panose="02040503050406030204" pitchFamily="18" charset="0"/>
                      </a:rPr>
                      <m:t>=0.870</m:t>
                    </m:r>
                  </m:oMath>
                </a14:m>
                <a:r>
                  <a:rPr lang="en-IN" sz="1800" dirty="0"/>
                  <a:t>).</a:t>
                </a:r>
              </a:p>
              <a:p>
                <a:pPr marL="742950" lvl="1" indent="-285750">
                  <a:buFont typeface="Arial" panose="020B0604020202020204" pitchFamily="34" charset="0"/>
                  <a:buChar char="•"/>
                </a:pPr>
                <a:r>
                  <a:rPr lang="en-IN" sz="1800" b="1" dirty="0"/>
                  <a:t>Precision-Recall Curve:</a:t>
                </a:r>
                <a:r>
                  <a:rPr lang="en-IN" sz="1800" dirty="0"/>
                  <a:t> In heavy imbalance (</a:t>
                </a:r>
                <a14:m>
                  <m:oMath xmlns:m="http://schemas.openxmlformats.org/officeDocument/2006/math">
                    <m:r>
                      <a:rPr lang="en-IN" sz="1800">
                        <a:latin typeface="Cambria Math" panose="02040503050406030204" pitchFamily="18" charset="0"/>
                      </a:rPr>
                      <m:t>4.11</m:t>
                    </m:r>
                    <m:r>
                      <a:rPr lang="en-IN" sz="1800" i="0">
                        <a:latin typeface="Cambria Math" panose="02040503050406030204" pitchFamily="18" charset="0"/>
                      </a:rPr>
                      <m:t>%</m:t>
                    </m:r>
                  </m:oMath>
                </a14:m>
                <a:r>
                  <a:rPr lang="en-IN" sz="1800" dirty="0"/>
                  <a:t> positives), the PR curve is far more informative than ROC. The stacked model sustains higher precision across all operational recall thresholds (</a:t>
                </a:r>
                <a14:m>
                  <m:oMath xmlns:m="http://schemas.openxmlformats.org/officeDocument/2006/math">
                    <m:r>
                      <a:rPr lang="en-IN" sz="1800">
                        <a:latin typeface="Cambria Math" panose="02040503050406030204" pitchFamily="18" charset="0"/>
                      </a:rPr>
                      <m:t>0.40</m:t>
                    </m:r>
                    <m:r>
                      <a:rPr lang="en-IN" sz="1800" i="0">
                        <a:latin typeface="Cambria Math" panose="02040503050406030204" pitchFamily="18" charset="0"/>
                      </a:rPr>
                      <m:t>−0.85</m:t>
                    </m:r>
                  </m:oMath>
                </a14:m>
                <a:r>
                  <a:rPr lang="en-IN" sz="1800" dirty="0"/>
                  <a:t>).</a:t>
                </a:r>
              </a:p>
            </p:txBody>
          </p:sp>
        </mc:Choice>
        <mc:Fallback xmlns="">
          <p:sp>
            <p:nvSpPr>
              <p:cNvPr id="5" name="TextBox 4">
                <a:extLst>
                  <a:ext uri="{FF2B5EF4-FFF2-40B4-BE49-F238E27FC236}">
                    <a16:creationId xmlns:a16="http://schemas.microsoft.com/office/drawing/2014/main" id="{E5BBFE30-7FEC-7653-2670-EA5FC08BD7BD}"/>
                  </a:ext>
                </a:extLst>
              </p:cNvPr>
              <p:cNvSpPr txBox="1">
                <a:spLocks noRot="1" noChangeAspect="1" noMove="1" noResize="1" noEditPoints="1" noAdjustHandles="1" noChangeArrowheads="1" noChangeShapeType="1" noTextEdit="1"/>
              </p:cNvSpPr>
              <p:nvPr/>
            </p:nvSpPr>
            <p:spPr>
              <a:xfrm>
                <a:off x="457200" y="1566978"/>
                <a:ext cx="8229600" cy="3994940"/>
              </a:xfrm>
              <a:prstGeom prst="rect">
                <a:avLst/>
              </a:prstGeom>
              <a:blipFill>
                <a:blip r:embed="rId3"/>
                <a:stretch>
                  <a:fillRect l="-593" t="-763" r="-444" b="-1527"/>
                </a:stretch>
              </a:blipFill>
            </p:spPr>
            <p:txBody>
              <a:bodyPr/>
              <a:lstStyle/>
              <a:p>
                <a:r>
                  <a:rPr lang="en-IN">
                    <a:noFill/>
                  </a:rPr>
                  <a:t> </a:t>
                </a:r>
              </a:p>
            </p:txBody>
          </p:sp>
        </mc:Fallback>
      </mc:AlternateContent>
    </p:spTree>
    <p:extLst>
      <p:ext uri="{BB962C8B-B14F-4D97-AF65-F5344CB8AC3E}">
        <p14:creationId xmlns:p14="http://schemas.microsoft.com/office/powerpoint/2010/main" val="2563523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344F4BE1-5E27-8580-444D-15DEAFDC6027}"/>
            </a:ext>
          </a:extLst>
        </p:cNvPr>
        <p:cNvGrpSpPr/>
        <p:nvPr/>
      </p:nvGrpSpPr>
      <p:grpSpPr>
        <a:xfrm>
          <a:off x="0" y="0"/>
          <a:ext cx="0" cy="0"/>
          <a:chOff x="0" y="0"/>
          <a:chExt cx="0" cy="0"/>
        </a:xfrm>
      </p:grpSpPr>
      <p:sp>
        <p:nvSpPr>
          <p:cNvPr id="161" name="Google Shape;161;p12">
            <a:extLst>
              <a:ext uri="{FF2B5EF4-FFF2-40B4-BE49-F238E27FC236}">
                <a16:creationId xmlns:a16="http://schemas.microsoft.com/office/drawing/2014/main" id="{25051BA7-2949-0E9F-FA1F-D8FC53250EC1}"/>
              </a:ext>
            </a:extLst>
          </p:cNvPr>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fontScale="90000"/>
          </a:bodyPr>
          <a:lstStyle/>
          <a:p>
            <a:r>
              <a:rPr lang="fr-FR"/>
              <a:t>Results &amp; Discussion — Confusion Matrix &amp; ROC/PR Curves</a:t>
            </a:r>
          </a:p>
        </p:txBody>
      </p:sp>
      <p:sp>
        <p:nvSpPr>
          <p:cNvPr id="163" name="Google Shape;163;p12">
            <a:extLst>
              <a:ext uri="{FF2B5EF4-FFF2-40B4-BE49-F238E27FC236}">
                <a16:creationId xmlns:a16="http://schemas.microsoft.com/office/drawing/2014/main" id="{293F77B0-A7AD-62DB-3212-CB8F8F558173}"/>
              </a:ext>
            </a:extLst>
          </p:cNvPr>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p:pic>
        <p:nvPicPr>
          <p:cNvPr id="3" name="Picture 2">
            <a:extLst>
              <a:ext uri="{FF2B5EF4-FFF2-40B4-BE49-F238E27FC236}">
                <a16:creationId xmlns:a16="http://schemas.microsoft.com/office/drawing/2014/main" id="{AA8A91BD-5129-F1B8-6F64-68F7D977157C}"/>
              </a:ext>
            </a:extLst>
          </p:cNvPr>
          <p:cNvPicPr>
            <a:picLocks noChangeAspect="1"/>
          </p:cNvPicPr>
          <p:nvPr/>
        </p:nvPicPr>
        <p:blipFill>
          <a:blip r:embed="rId3"/>
          <a:srcRect t="19794" b="14193"/>
          <a:stretch>
            <a:fillRect/>
          </a:stretch>
        </p:blipFill>
        <p:spPr>
          <a:xfrm>
            <a:off x="0" y="1417638"/>
            <a:ext cx="9144000" cy="2286000"/>
          </a:xfrm>
          <a:prstGeom prst="rect">
            <a:avLst/>
          </a:prstGeom>
        </p:spPr>
      </p:pic>
      <p:pic>
        <p:nvPicPr>
          <p:cNvPr id="6" name="Picture 5">
            <a:extLst>
              <a:ext uri="{FF2B5EF4-FFF2-40B4-BE49-F238E27FC236}">
                <a16:creationId xmlns:a16="http://schemas.microsoft.com/office/drawing/2014/main" id="{56B58DA3-E3FB-F95D-5B56-469703EC1DCF}"/>
              </a:ext>
            </a:extLst>
          </p:cNvPr>
          <p:cNvPicPr>
            <a:picLocks noChangeAspect="1"/>
          </p:cNvPicPr>
          <p:nvPr/>
        </p:nvPicPr>
        <p:blipFill>
          <a:blip r:embed="rId4"/>
          <a:srcRect l="-500" t="9771" r="500" b="5340"/>
          <a:stretch>
            <a:fillRect/>
          </a:stretch>
        </p:blipFill>
        <p:spPr>
          <a:xfrm>
            <a:off x="0" y="3628708"/>
            <a:ext cx="9144000" cy="2435860"/>
          </a:xfrm>
          <a:prstGeom prst="rect">
            <a:avLst/>
          </a:prstGeom>
        </p:spPr>
      </p:pic>
    </p:spTree>
    <p:extLst>
      <p:ext uri="{BB962C8B-B14F-4D97-AF65-F5344CB8AC3E}">
        <p14:creationId xmlns:p14="http://schemas.microsoft.com/office/powerpoint/2010/main" val="3523914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008BC09C-D316-719C-F8EB-8E2B8CFE7E3D}"/>
            </a:ext>
          </a:extLst>
        </p:cNvPr>
        <p:cNvGrpSpPr/>
        <p:nvPr/>
      </p:nvGrpSpPr>
      <p:grpSpPr>
        <a:xfrm>
          <a:off x="0" y="0"/>
          <a:ext cx="0" cy="0"/>
          <a:chOff x="0" y="0"/>
          <a:chExt cx="0" cy="0"/>
        </a:xfrm>
      </p:grpSpPr>
      <p:sp>
        <p:nvSpPr>
          <p:cNvPr id="161" name="Google Shape;161;p12">
            <a:extLst>
              <a:ext uri="{FF2B5EF4-FFF2-40B4-BE49-F238E27FC236}">
                <a16:creationId xmlns:a16="http://schemas.microsoft.com/office/drawing/2014/main" id="{5183FB76-D728-886B-42F2-E3AF242A0209}"/>
              </a:ext>
            </a:extLst>
          </p:cNvPr>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fontScale="90000"/>
          </a:bodyPr>
          <a:lstStyle/>
          <a:p>
            <a:r>
              <a:rPr lang="en-US"/>
              <a:t>Results &amp; Discussion — Modality Ablation Study</a:t>
            </a:r>
          </a:p>
        </p:txBody>
      </p:sp>
      <p:sp>
        <p:nvSpPr>
          <p:cNvPr id="163" name="Google Shape;163;p12">
            <a:extLst>
              <a:ext uri="{FF2B5EF4-FFF2-40B4-BE49-F238E27FC236}">
                <a16:creationId xmlns:a16="http://schemas.microsoft.com/office/drawing/2014/main" id="{1B571CF3-F8D4-BB5D-A2BA-E4008D88986F}"/>
              </a:ext>
            </a:extLst>
          </p:cNvPr>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85FAE65-B07E-C656-32D9-2760E827B5B8}"/>
                  </a:ext>
                </a:extLst>
              </p:cNvPr>
              <p:cNvGraphicFramePr>
                <a:graphicFrameLocks noGrp="1"/>
              </p:cNvGraphicFramePr>
              <p:nvPr>
                <p:extLst>
                  <p:ext uri="{D42A27DB-BD31-4B8C-83A1-F6EECF244321}">
                    <p14:modId xmlns:p14="http://schemas.microsoft.com/office/powerpoint/2010/main" val="1339702368"/>
                  </p:ext>
                </p:extLst>
              </p:nvPr>
            </p:nvGraphicFramePr>
            <p:xfrm>
              <a:off x="457200" y="2175474"/>
              <a:ext cx="8229600" cy="1749552"/>
            </p:xfrm>
            <a:graphic>
              <a:graphicData uri="http://schemas.openxmlformats.org/drawingml/2006/table">
                <a:tbl>
                  <a:tblPr>
                    <a:tableStyleId>{F9BC6C1E-BED5-463D-9D9D-55BB47110D15}</a:tableStyleId>
                  </a:tblPr>
                  <a:tblGrid>
                    <a:gridCol w="1371600">
                      <a:extLst>
                        <a:ext uri="{9D8B030D-6E8A-4147-A177-3AD203B41FA5}">
                          <a16:colId xmlns:a16="http://schemas.microsoft.com/office/drawing/2014/main" val="3040024398"/>
                        </a:ext>
                      </a:extLst>
                    </a:gridCol>
                    <a:gridCol w="1371600">
                      <a:extLst>
                        <a:ext uri="{9D8B030D-6E8A-4147-A177-3AD203B41FA5}">
                          <a16:colId xmlns:a16="http://schemas.microsoft.com/office/drawing/2014/main" val="2780770485"/>
                        </a:ext>
                      </a:extLst>
                    </a:gridCol>
                    <a:gridCol w="1371600">
                      <a:extLst>
                        <a:ext uri="{9D8B030D-6E8A-4147-A177-3AD203B41FA5}">
                          <a16:colId xmlns:a16="http://schemas.microsoft.com/office/drawing/2014/main" val="1604794813"/>
                        </a:ext>
                      </a:extLst>
                    </a:gridCol>
                    <a:gridCol w="1371600">
                      <a:extLst>
                        <a:ext uri="{9D8B030D-6E8A-4147-A177-3AD203B41FA5}">
                          <a16:colId xmlns:a16="http://schemas.microsoft.com/office/drawing/2014/main" val="654017192"/>
                        </a:ext>
                      </a:extLst>
                    </a:gridCol>
                    <a:gridCol w="1371600">
                      <a:extLst>
                        <a:ext uri="{9D8B030D-6E8A-4147-A177-3AD203B41FA5}">
                          <a16:colId xmlns:a16="http://schemas.microsoft.com/office/drawing/2014/main" val="1349333565"/>
                        </a:ext>
                      </a:extLst>
                    </a:gridCol>
                    <a:gridCol w="1371600">
                      <a:extLst>
                        <a:ext uri="{9D8B030D-6E8A-4147-A177-3AD203B41FA5}">
                          <a16:colId xmlns:a16="http://schemas.microsoft.com/office/drawing/2014/main" val="1380714648"/>
                        </a:ext>
                      </a:extLst>
                    </a:gridCol>
                  </a:tblGrid>
                  <a:tr h="0">
                    <a:tc>
                      <a:txBody>
                        <a:bodyPr/>
                        <a:lstStyle/>
                        <a:p>
                          <a:pPr>
                            <a:buNone/>
                          </a:pPr>
                          <a:r>
                            <a:rPr lang="en-IN" dirty="0"/>
                            <a:t>Horizon (</a:t>
                          </a:r>
                          <a14:m>
                            <m:oMath xmlns:m="http://schemas.openxmlformats.org/officeDocument/2006/math">
                              <m:r>
                                <a:rPr lang="en-IN">
                                  <a:latin typeface="Cambria Math" panose="02040503050406030204" pitchFamily="18" charset="0"/>
                                </a:rPr>
                                <m:t>𝐻</m:t>
                              </m:r>
                            </m:oMath>
                          </a14:m>
                          <a:r>
                            <a:rPr lang="en-IN" dirty="0"/>
                            <a:t>)</a:t>
                          </a:r>
                        </a:p>
                      </a:txBody>
                      <a:tcPr anchor="ctr"/>
                    </a:tc>
                    <a:tc>
                      <a:txBody>
                        <a:bodyPr/>
                        <a:lstStyle/>
                        <a:p>
                          <a:pPr>
                            <a:buNone/>
                          </a:pPr>
                          <a:r>
                            <a:rPr lang="en-IN" dirty="0"/>
                            <a:t>Baseline Rule</a:t>
                          </a:r>
                        </a:p>
                      </a:txBody>
                      <a:tcPr anchor="ctr"/>
                    </a:tc>
                    <a:tc>
                      <a:txBody>
                        <a:bodyPr/>
                        <a:lstStyle/>
                        <a:p>
                          <a:pPr>
                            <a:buNone/>
                          </a:pPr>
                          <a:r>
                            <a:rPr lang="en-IN"/>
                            <a:t>Model A (Water)</a:t>
                          </a:r>
                        </a:p>
                      </a:txBody>
                      <a:tcPr anchor="ctr"/>
                    </a:tc>
                    <a:tc>
                      <a:txBody>
                        <a:bodyPr/>
                        <a:lstStyle/>
                        <a:p>
                          <a:pPr>
                            <a:buNone/>
                          </a:pPr>
                          <a:r>
                            <a:rPr lang="en-IN"/>
                            <a:t>Model B (Water+Met)</a:t>
                          </a:r>
                        </a:p>
                      </a:txBody>
                      <a:tcPr anchor="ctr"/>
                    </a:tc>
                    <a:tc>
                      <a:txBody>
                        <a:bodyPr/>
                        <a:lstStyle/>
                        <a:p>
                          <a:pPr>
                            <a:buNone/>
                          </a:pPr>
                          <a:r>
                            <a:rPr lang="en-IN"/>
                            <a:t>Model C (Full Early)</a:t>
                          </a:r>
                        </a:p>
                      </a:txBody>
                      <a:tcPr anchor="ctr"/>
                    </a:tc>
                    <a:tc>
                      <a:txBody>
                        <a:bodyPr/>
                        <a:lstStyle/>
                        <a:p>
                          <a:pPr>
                            <a:buNone/>
                          </a:pPr>
                          <a14:m>
                            <m:oMath xmlns:m="http://schemas.openxmlformats.org/officeDocument/2006/math">
                              <m:sSub>
                                <m:sSubPr>
                                  <m:ctrlPr>
                                    <a:rPr lang="en-IN">
                                      <a:latin typeface="Cambria Math" panose="02040503050406030204" pitchFamily="18" charset="0"/>
                                    </a:rPr>
                                  </m:ctrlPr>
                                </m:sSubPr>
                                <m:e>
                                  <m:r>
                                    <a:rPr lang="en-IN">
                                      <a:latin typeface="Cambria Math" panose="02040503050406030204" pitchFamily="18" charset="0"/>
                                    </a:rPr>
                                    <m:t>𝐸</m:t>
                                  </m:r>
                                </m:e>
                                <m:sub>
                                  <m:r>
                                    <m:rPr>
                                      <m:nor/>
                                    </m:rPr>
                                    <a:rPr lang="en-IN" i="0"/>
                                    <m:t>stack</m:t>
                                  </m:r>
                                </m:sub>
                              </m:sSub>
                            </m:oMath>
                          </a14:m>
                          <a:r>
                            <a:rPr lang="en-IN"/>
                            <a:t>(Late Fusion)</a:t>
                          </a:r>
                        </a:p>
                      </a:txBody>
                      <a:tcPr anchor="ctr"/>
                    </a:tc>
                    <a:extLst>
                      <a:ext uri="{0D108BD9-81ED-4DB2-BD59-A6C34878D82A}">
                        <a16:rowId xmlns:a16="http://schemas.microsoft.com/office/drawing/2014/main" val="3613742334"/>
                      </a:ext>
                    </a:extLst>
                  </a:tr>
                  <a:tr h="0">
                    <a:tc>
                      <a:txBody>
                        <a:bodyPr/>
                        <a:lstStyle/>
                        <a:p>
                          <a:pPr>
                            <a:buNone/>
                          </a:pPr>
                          <a:r>
                            <a:rPr lang="en-IN"/>
                            <a:t>6 h</a:t>
                          </a:r>
                        </a:p>
                      </a:txBody>
                      <a:tcPr anchor="ctr"/>
                    </a:tc>
                    <a:tc>
                      <a:txBody>
                        <a:bodyPr/>
                        <a:lstStyle/>
                        <a:p>
                          <a:pPr>
                            <a:buNone/>
                          </a:pPr>
                          <a:r>
                            <a:rPr lang="en-IN"/>
                            <a:t>0.45</a:t>
                          </a:r>
                        </a:p>
                      </a:txBody>
                      <a:tcPr anchor="ctr"/>
                    </a:tc>
                    <a:tc>
                      <a:txBody>
                        <a:bodyPr/>
                        <a:lstStyle/>
                        <a:p>
                          <a:pPr>
                            <a:buNone/>
                          </a:pPr>
                          <a:r>
                            <a:rPr lang="en-IN"/>
                            <a:t>0.46</a:t>
                          </a:r>
                        </a:p>
                      </a:txBody>
                      <a:tcPr anchor="ctr"/>
                    </a:tc>
                    <a:tc>
                      <a:txBody>
                        <a:bodyPr/>
                        <a:lstStyle/>
                        <a:p>
                          <a:pPr>
                            <a:buNone/>
                          </a:pPr>
                          <a:r>
                            <a:rPr lang="en-IN"/>
                            <a:t>0.43</a:t>
                          </a:r>
                        </a:p>
                      </a:txBody>
                      <a:tcPr anchor="ctr"/>
                    </a:tc>
                    <a:tc>
                      <a:txBody>
                        <a:bodyPr/>
                        <a:lstStyle/>
                        <a:p>
                          <a:pPr>
                            <a:buNone/>
                          </a:pPr>
                          <a:r>
                            <a:rPr lang="en-IN"/>
                            <a:t>0.42</a:t>
                          </a:r>
                        </a:p>
                      </a:txBody>
                      <a:tcPr anchor="ctr"/>
                    </a:tc>
                    <a:tc>
                      <a:txBody>
                        <a:bodyPr/>
                        <a:lstStyle/>
                        <a:p>
                          <a:pPr>
                            <a:buNone/>
                          </a:pPr>
                          <a:r>
                            <a:rPr lang="en-IN"/>
                            <a:t>0.42</a:t>
                          </a:r>
                        </a:p>
                      </a:txBody>
                      <a:tcPr anchor="ctr"/>
                    </a:tc>
                    <a:extLst>
                      <a:ext uri="{0D108BD9-81ED-4DB2-BD59-A6C34878D82A}">
                        <a16:rowId xmlns:a16="http://schemas.microsoft.com/office/drawing/2014/main" val="3321638191"/>
                      </a:ext>
                    </a:extLst>
                  </a:tr>
                  <a:tr h="0">
                    <a:tc>
                      <a:txBody>
                        <a:bodyPr/>
                        <a:lstStyle/>
                        <a:p>
                          <a:pPr>
                            <a:buNone/>
                          </a:pPr>
                          <a:r>
                            <a:rPr lang="en-IN"/>
                            <a:t>12 h</a:t>
                          </a:r>
                        </a:p>
                      </a:txBody>
                      <a:tcPr anchor="ctr"/>
                    </a:tc>
                    <a:tc>
                      <a:txBody>
                        <a:bodyPr/>
                        <a:lstStyle/>
                        <a:p>
                          <a:pPr>
                            <a:buNone/>
                          </a:pPr>
                          <a:r>
                            <a:rPr lang="en-IN"/>
                            <a:t>0.52</a:t>
                          </a:r>
                        </a:p>
                      </a:txBody>
                      <a:tcPr anchor="ctr"/>
                    </a:tc>
                    <a:tc>
                      <a:txBody>
                        <a:bodyPr/>
                        <a:lstStyle/>
                        <a:p>
                          <a:pPr>
                            <a:buNone/>
                          </a:pPr>
                          <a:r>
                            <a:rPr lang="en-IN"/>
                            <a:t>0.48</a:t>
                          </a:r>
                        </a:p>
                      </a:txBody>
                      <a:tcPr anchor="ctr"/>
                    </a:tc>
                    <a:tc>
                      <a:txBody>
                        <a:bodyPr/>
                        <a:lstStyle/>
                        <a:p>
                          <a:pPr>
                            <a:buNone/>
                          </a:pPr>
                          <a:r>
                            <a:rPr lang="en-IN"/>
                            <a:t>0.46</a:t>
                          </a:r>
                        </a:p>
                      </a:txBody>
                      <a:tcPr anchor="ctr"/>
                    </a:tc>
                    <a:tc>
                      <a:txBody>
                        <a:bodyPr/>
                        <a:lstStyle/>
                        <a:p>
                          <a:pPr>
                            <a:buNone/>
                          </a:pPr>
                          <a:r>
                            <a:rPr lang="en-IN"/>
                            <a:t>0.37</a:t>
                          </a:r>
                        </a:p>
                      </a:txBody>
                      <a:tcPr anchor="ctr"/>
                    </a:tc>
                    <a:tc>
                      <a:txBody>
                        <a:bodyPr/>
                        <a:lstStyle/>
                        <a:p>
                          <a:pPr>
                            <a:buNone/>
                          </a:pPr>
                          <a:r>
                            <a:rPr lang="en-IN"/>
                            <a:t>0.45</a:t>
                          </a:r>
                        </a:p>
                      </a:txBody>
                      <a:tcPr anchor="ctr"/>
                    </a:tc>
                    <a:extLst>
                      <a:ext uri="{0D108BD9-81ED-4DB2-BD59-A6C34878D82A}">
                        <a16:rowId xmlns:a16="http://schemas.microsoft.com/office/drawing/2014/main" val="1225369322"/>
                      </a:ext>
                    </a:extLst>
                  </a:tr>
                  <a:tr h="0">
                    <a:tc>
                      <a:txBody>
                        <a:bodyPr/>
                        <a:lstStyle/>
                        <a:p>
                          <a:pPr>
                            <a:buNone/>
                          </a:pPr>
                          <a:r>
                            <a:rPr lang="en-IN"/>
                            <a:t>24 h</a:t>
                          </a:r>
                        </a:p>
                      </a:txBody>
                      <a:tcPr anchor="ctr"/>
                    </a:tc>
                    <a:tc>
                      <a:txBody>
                        <a:bodyPr/>
                        <a:lstStyle/>
                        <a:p>
                          <a:pPr>
                            <a:buNone/>
                          </a:pPr>
                          <a:r>
                            <a:rPr lang="en-IN"/>
                            <a:t>0.65</a:t>
                          </a:r>
                        </a:p>
                      </a:txBody>
                      <a:tcPr anchor="ctr"/>
                    </a:tc>
                    <a:tc>
                      <a:txBody>
                        <a:bodyPr/>
                        <a:lstStyle/>
                        <a:p>
                          <a:pPr>
                            <a:buNone/>
                          </a:pPr>
                          <a:r>
                            <a:rPr lang="en-IN"/>
                            <a:t>0.57</a:t>
                          </a:r>
                        </a:p>
                      </a:txBody>
                      <a:tcPr anchor="ctr"/>
                    </a:tc>
                    <a:tc>
                      <a:txBody>
                        <a:bodyPr/>
                        <a:lstStyle/>
                        <a:p>
                          <a:pPr>
                            <a:buNone/>
                          </a:pPr>
                          <a:r>
                            <a:rPr lang="en-IN"/>
                            <a:t>0.59</a:t>
                          </a:r>
                        </a:p>
                      </a:txBody>
                      <a:tcPr anchor="ctr"/>
                    </a:tc>
                    <a:tc>
                      <a:txBody>
                        <a:bodyPr/>
                        <a:lstStyle/>
                        <a:p>
                          <a:pPr>
                            <a:buNone/>
                          </a:pPr>
                          <a:r>
                            <a:rPr lang="en-IN"/>
                            <a:t>0.56</a:t>
                          </a:r>
                        </a:p>
                      </a:txBody>
                      <a:tcPr anchor="ctr"/>
                    </a:tc>
                    <a:tc>
                      <a:txBody>
                        <a:bodyPr/>
                        <a:lstStyle/>
                        <a:p>
                          <a:pPr>
                            <a:buNone/>
                          </a:pPr>
                          <a:r>
                            <a:rPr lang="en-IN"/>
                            <a:t>0.52</a:t>
                          </a:r>
                        </a:p>
                      </a:txBody>
                      <a:tcPr anchor="ctr"/>
                    </a:tc>
                    <a:extLst>
                      <a:ext uri="{0D108BD9-81ED-4DB2-BD59-A6C34878D82A}">
                        <a16:rowId xmlns:a16="http://schemas.microsoft.com/office/drawing/2014/main" val="409017964"/>
                      </a:ext>
                    </a:extLst>
                  </a:tr>
                  <a:tr h="0">
                    <a:tc>
                      <a:txBody>
                        <a:bodyPr/>
                        <a:lstStyle/>
                        <a:p>
                          <a:pPr>
                            <a:buNone/>
                          </a:pPr>
                          <a:r>
                            <a:rPr lang="en-IN"/>
                            <a:t>48 h</a:t>
                          </a:r>
                        </a:p>
                      </a:txBody>
                      <a:tcPr anchor="ctr"/>
                    </a:tc>
                    <a:tc>
                      <a:txBody>
                        <a:bodyPr/>
                        <a:lstStyle/>
                        <a:p>
                          <a:pPr>
                            <a:buNone/>
                          </a:pPr>
                          <a:r>
                            <a:rPr lang="en-IN"/>
                            <a:t>0.73</a:t>
                          </a:r>
                        </a:p>
                      </a:txBody>
                      <a:tcPr anchor="ctr"/>
                    </a:tc>
                    <a:tc>
                      <a:txBody>
                        <a:bodyPr/>
                        <a:lstStyle/>
                        <a:p>
                          <a:pPr>
                            <a:buNone/>
                          </a:pPr>
                          <a:r>
                            <a:rPr lang="en-IN"/>
                            <a:t>0.55</a:t>
                          </a:r>
                        </a:p>
                      </a:txBody>
                      <a:tcPr anchor="ctr"/>
                    </a:tc>
                    <a:tc>
                      <a:txBody>
                        <a:bodyPr/>
                        <a:lstStyle/>
                        <a:p>
                          <a:pPr>
                            <a:buNone/>
                          </a:pPr>
                          <a:r>
                            <a:rPr lang="en-IN"/>
                            <a:t>0.58</a:t>
                          </a:r>
                        </a:p>
                      </a:txBody>
                      <a:tcPr anchor="ctr"/>
                    </a:tc>
                    <a:tc>
                      <a:txBody>
                        <a:bodyPr/>
                        <a:lstStyle/>
                        <a:p>
                          <a:pPr>
                            <a:buNone/>
                          </a:pPr>
                          <a:r>
                            <a:rPr lang="en-IN"/>
                            <a:t>0.56</a:t>
                          </a:r>
                        </a:p>
                      </a:txBody>
                      <a:tcPr anchor="ctr"/>
                    </a:tc>
                    <a:tc>
                      <a:txBody>
                        <a:bodyPr/>
                        <a:lstStyle/>
                        <a:p>
                          <a:pPr>
                            <a:buNone/>
                          </a:pPr>
                          <a:r>
                            <a:rPr lang="en-IN" dirty="0"/>
                            <a:t>0.58</a:t>
                          </a:r>
                        </a:p>
                      </a:txBody>
                      <a:tcPr anchor="ctr"/>
                    </a:tc>
                    <a:extLst>
                      <a:ext uri="{0D108BD9-81ED-4DB2-BD59-A6C34878D82A}">
                        <a16:rowId xmlns:a16="http://schemas.microsoft.com/office/drawing/2014/main" val="3410242313"/>
                      </a:ext>
                    </a:extLst>
                  </a:tr>
                </a:tbl>
              </a:graphicData>
            </a:graphic>
          </p:graphicFrame>
        </mc:Choice>
        <mc:Fallback xmlns="">
          <p:graphicFrame>
            <p:nvGraphicFramePr>
              <p:cNvPr id="2" name="Table 1">
                <a:extLst>
                  <a:ext uri="{FF2B5EF4-FFF2-40B4-BE49-F238E27FC236}">
                    <a16:creationId xmlns:a16="http://schemas.microsoft.com/office/drawing/2014/main" id="{E85FAE65-B07E-C656-32D9-2760E827B5B8}"/>
                  </a:ext>
                </a:extLst>
              </p:cNvPr>
              <p:cNvGraphicFramePr>
                <a:graphicFrameLocks noGrp="1"/>
              </p:cNvGraphicFramePr>
              <p:nvPr>
                <p:extLst>
                  <p:ext uri="{D42A27DB-BD31-4B8C-83A1-F6EECF244321}">
                    <p14:modId xmlns:p14="http://schemas.microsoft.com/office/powerpoint/2010/main" val="1339702368"/>
                  </p:ext>
                </p:extLst>
              </p:nvPr>
            </p:nvGraphicFramePr>
            <p:xfrm>
              <a:off x="457200" y="2175474"/>
              <a:ext cx="8229600" cy="1749552"/>
            </p:xfrm>
            <a:graphic>
              <a:graphicData uri="http://schemas.openxmlformats.org/drawingml/2006/table">
                <a:tbl>
                  <a:tblPr>
                    <a:tableStyleId>{F9BC6C1E-BED5-463D-9D9D-55BB47110D15}</a:tableStyleId>
                  </a:tblPr>
                  <a:tblGrid>
                    <a:gridCol w="1371600">
                      <a:extLst>
                        <a:ext uri="{9D8B030D-6E8A-4147-A177-3AD203B41FA5}">
                          <a16:colId xmlns:a16="http://schemas.microsoft.com/office/drawing/2014/main" val="3040024398"/>
                        </a:ext>
                      </a:extLst>
                    </a:gridCol>
                    <a:gridCol w="1371600">
                      <a:extLst>
                        <a:ext uri="{9D8B030D-6E8A-4147-A177-3AD203B41FA5}">
                          <a16:colId xmlns:a16="http://schemas.microsoft.com/office/drawing/2014/main" val="2780770485"/>
                        </a:ext>
                      </a:extLst>
                    </a:gridCol>
                    <a:gridCol w="1371600">
                      <a:extLst>
                        <a:ext uri="{9D8B030D-6E8A-4147-A177-3AD203B41FA5}">
                          <a16:colId xmlns:a16="http://schemas.microsoft.com/office/drawing/2014/main" val="1604794813"/>
                        </a:ext>
                      </a:extLst>
                    </a:gridCol>
                    <a:gridCol w="1371600">
                      <a:extLst>
                        <a:ext uri="{9D8B030D-6E8A-4147-A177-3AD203B41FA5}">
                          <a16:colId xmlns:a16="http://schemas.microsoft.com/office/drawing/2014/main" val="654017192"/>
                        </a:ext>
                      </a:extLst>
                    </a:gridCol>
                    <a:gridCol w="1371600">
                      <a:extLst>
                        <a:ext uri="{9D8B030D-6E8A-4147-A177-3AD203B41FA5}">
                          <a16:colId xmlns:a16="http://schemas.microsoft.com/office/drawing/2014/main" val="1349333565"/>
                        </a:ext>
                      </a:extLst>
                    </a:gridCol>
                    <a:gridCol w="1371600">
                      <a:extLst>
                        <a:ext uri="{9D8B030D-6E8A-4147-A177-3AD203B41FA5}">
                          <a16:colId xmlns:a16="http://schemas.microsoft.com/office/drawing/2014/main" val="1380714648"/>
                        </a:ext>
                      </a:extLst>
                    </a:gridCol>
                  </a:tblGrid>
                  <a:tr h="530352">
                    <a:tc>
                      <a:txBody>
                        <a:bodyPr/>
                        <a:lstStyle/>
                        <a:p>
                          <a:endParaRPr lang="en-US"/>
                        </a:p>
                      </a:txBody>
                      <a:tcPr anchor="ctr">
                        <a:blipFill>
                          <a:blip r:embed="rId3"/>
                          <a:stretch>
                            <a:fillRect l="-889" t="-1149" r="-501333" b="-242529"/>
                          </a:stretch>
                        </a:blipFill>
                      </a:tcPr>
                    </a:tc>
                    <a:tc>
                      <a:txBody>
                        <a:bodyPr/>
                        <a:lstStyle/>
                        <a:p>
                          <a:pPr>
                            <a:buNone/>
                          </a:pPr>
                          <a:r>
                            <a:rPr lang="en-IN" dirty="0"/>
                            <a:t>Baseline Rule</a:t>
                          </a:r>
                        </a:p>
                      </a:txBody>
                      <a:tcPr anchor="ctr"/>
                    </a:tc>
                    <a:tc>
                      <a:txBody>
                        <a:bodyPr/>
                        <a:lstStyle/>
                        <a:p>
                          <a:pPr>
                            <a:buNone/>
                          </a:pPr>
                          <a:r>
                            <a:rPr lang="en-IN"/>
                            <a:t>Model A (Water)</a:t>
                          </a:r>
                        </a:p>
                      </a:txBody>
                      <a:tcPr anchor="ctr"/>
                    </a:tc>
                    <a:tc>
                      <a:txBody>
                        <a:bodyPr/>
                        <a:lstStyle/>
                        <a:p>
                          <a:pPr>
                            <a:buNone/>
                          </a:pPr>
                          <a:r>
                            <a:rPr lang="en-IN"/>
                            <a:t>Model B (Water+Met)</a:t>
                          </a:r>
                        </a:p>
                      </a:txBody>
                      <a:tcPr anchor="ctr"/>
                    </a:tc>
                    <a:tc>
                      <a:txBody>
                        <a:bodyPr/>
                        <a:lstStyle/>
                        <a:p>
                          <a:pPr>
                            <a:buNone/>
                          </a:pPr>
                          <a:r>
                            <a:rPr lang="en-IN"/>
                            <a:t>Model C (Full Early)</a:t>
                          </a:r>
                        </a:p>
                      </a:txBody>
                      <a:tcPr anchor="ctr"/>
                    </a:tc>
                    <a:tc>
                      <a:txBody>
                        <a:bodyPr/>
                        <a:lstStyle/>
                        <a:p>
                          <a:endParaRPr lang="en-US"/>
                        </a:p>
                      </a:txBody>
                      <a:tcPr anchor="ctr">
                        <a:blipFill>
                          <a:blip r:embed="rId3"/>
                          <a:stretch>
                            <a:fillRect l="-500889" t="-1149" r="-1333" b="-242529"/>
                          </a:stretch>
                        </a:blipFill>
                      </a:tcPr>
                    </a:tc>
                    <a:extLst>
                      <a:ext uri="{0D108BD9-81ED-4DB2-BD59-A6C34878D82A}">
                        <a16:rowId xmlns:a16="http://schemas.microsoft.com/office/drawing/2014/main" val="3613742334"/>
                      </a:ext>
                    </a:extLst>
                  </a:tr>
                  <a:tr h="304800">
                    <a:tc>
                      <a:txBody>
                        <a:bodyPr/>
                        <a:lstStyle/>
                        <a:p>
                          <a:pPr>
                            <a:buNone/>
                          </a:pPr>
                          <a:r>
                            <a:rPr lang="en-IN"/>
                            <a:t>6 h</a:t>
                          </a:r>
                        </a:p>
                      </a:txBody>
                      <a:tcPr anchor="ctr"/>
                    </a:tc>
                    <a:tc>
                      <a:txBody>
                        <a:bodyPr/>
                        <a:lstStyle/>
                        <a:p>
                          <a:pPr>
                            <a:buNone/>
                          </a:pPr>
                          <a:r>
                            <a:rPr lang="en-IN"/>
                            <a:t>0.45</a:t>
                          </a:r>
                        </a:p>
                      </a:txBody>
                      <a:tcPr anchor="ctr"/>
                    </a:tc>
                    <a:tc>
                      <a:txBody>
                        <a:bodyPr/>
                        <a:lstStyle/>
                        <a:p>
                          <a:pPr>
                            <a:buNone/>
                          </a:pPr>
                          <a:r>
                            <a:rPr lang="en-IN"/>
                            <a:t>0.46</a:t>
                          </a:r>
                        </a:p>
                      </a:txBody>
                      <a:tcPr anchor="ctr"/>
                    </a:tc>
                    <a:tc>
                      <a:txBody>
                        <a:bodyPr/>
                        <a:lstStyle/>
                        <a:p>
                          <a:pPr>
                            <a:buNone/>
                          </a:pPr>
                          <a:r>
                            <a:rPr lang="en-IN"/>
                            <a:t>0.43</a:t>
                          </a:r>
                        </a:p>
                      </a:txBody>
                      <a:tcPr anchor="ctr"/>
                    </a:tc>
                    <a:tc>
                      <a:txBody>
                        <a:bodyPr/>
                        <a:lstStyle/>
                        <a:p>
                          <a:pPr>
                            <a:buNone/>
                          </a:pPr>
                          <a:r>
                            <a:rPr lang="en-IN"/>
                            <a:t>0.42</a:t>
                          </a:r>
                        </a:p>
                      </a:txBody>
                      <a:tcPr anchor="ctr"/>
                    </a:tc>
                    <a:tc>
                      <a:txBody>
                        <a:bodyPr/>
                        <a:lstStyle/>
                        <a:p>
                          <a:pPr>
                            <a:buNone/>
                          </a:pPr>
                          <a:r>
                            <a:rPr lang="en-IN"/>
                            <a:t>0.42</a:t>
                          </a:r>
                        </a:p>
                      </a:txBody>
                      <a:tcPr anchor="ctr"/>
                    </a:tc>
                    <a:extLst>
                      <a:ext uri="{0D108BD9-81ED-4DB2-BD59-A6C34878D82A}">
                        <a16:rowId xmlns:a16="http://schemas.microsoft.com/office/drawing/2014/main" val="3321638191"/>
                      </a:ext>
                    </a:extLst>
                  </a:tr>
                  <a:tr h="304800">
                    <a:tc>
                      <a:txBody>
                        <a:bodyPr/>
                        <a:lstStyle/>
                        <a:p>
                          <a:pPr>
                            <a:buNone/>
                          </a:pPr>
                          <a:r>
                            <a:rPr lang="en-IN"/>
                            <a:t>12 h</a:t>
                          </a:r>
                        </a:p>
                      </a:txBody>
                      <a:tcPr anchor="ctr"/>
                    </a:tc>
                    <a:tc>
                      <a:txBody>
                        <a:bodyPr/>
                        <a:lstStyle/>
                        <a:p>
                          <a:pPr>
                            <a:buNone/>
                          </a:pPr>
                          <a:r>
                            <a:rPr lang="en-IN"/>
                            <a:t>0.52</a:t>
                          </a:r>
                        </a:p>
                      </a:txBody>
                      <a:tcPr anchor="ctr"/>
                    </a:tc>
                    <a:tc>
                      <a:txBody>
                        <a:bodyPr/>
                        <a:lstStyle/>
                        <a:p>
                          <a:pPr>
                            <a:buNone/>
                          </a:pPr>
                          <a:r>
                            <a:rPr lang="en-IN"/>
                            <a:t>0.48</a:t>
                          </a:r>
                        </a:p>
                      </a:txBody>
                      <a:tcPr anchor="ctr"/>
                    </a:tc>
                    <a:tc>
                      <a:txBody>
                        <a:bodyPr/>
                        <a:lstStyle/>
                        <a:p>
                          <a:pPr>
                            <a:buNone/>
                          </a:pPr>
                          <a:r>
                            <a:rPr lang="en-IN"/>
                            <a:t>0.46</a:t>
                          </a:r>
                        </a:p>
                      </a:txBody>
                      <a:tcPr anchor="ctr"/>
                    </a:tc>
                    <a:tc>
                      <a:txBody>
                        <a:bodyPr/>
                        <a:lstStyle/>
                        <a:p>
                          <a:pPr>
                            <a:buNone/>
                          </a:pPr>
                          <a:r>
                            <a:rPr lang="en-IN"/>
                            <a:t>0.37</a:t>
                          </a:r>
                        </a:p>
                      </a:txBody>
                      <a:tcPr anchor="ctr"/>
                    </a:tc>
                    <a:tc>
                      <a:txBody>
                        <a:bodyPr/>
                        <a:lstStyle/>
                        <a:p>
                          <a:pPr>
                            <a:buNone/>
                          </a:pPr>
                          <a:r>
                            <a:rPr lang="en-IN"/>
                            <a:t>0.45</a:t>
                          </a:r>
                        </a:p>
                      </a:txBody>
                      <a:tcPr anchor="ctr"/>
                    </a:tc>
                    <a:extLst>
                      <a:ext uri="{0D108BD9-81ED-4DB2-BD59-A6C34878D82A}">
                        <a16:rowId xmlns:a16="http://schemas.microsoft.com/office/drawing/2014/main" val="1225369322"/>
                      </a:ext>
                    </a:extLst>
                  </a:tr>
                  <a:tr h="304800">
                    <a:tc>
                      <a:txBody>
                        <a:bodyPr/>
                        <a:lstStyle/>
                        <a:p>
                          <a:pPr>
                            <a:buNone/>
                          </a:pPr>
                          <a:r>
                            <a:rPr lang="en-IN"/>
                            <a:t>24 h</a:t>
                          </a:r>
                        </a:p>
                      </a:txBody>
                      <a:tcPr anchor="ctr"/>
                    </a:tc>
                    <a:tc>
                      <a:txBody>
                        <a:bodyPr/>
                        <a:lstStyle/>
                        <a:p>
                          <a:pPr>
                            <a:buNone/>
                          </a:pPr>
                          <a:r>
                            <a:rPr lang="en-IN"/>
                            <a:t>0.65</a:t>
                          </a:r>
                        </a:p>
                      </a:txBody>
                      <a:tcPr anchor="ctr"/>
                    </a:tc>
                    <a:tc>
                      <a:txBody>
                        <a:bodyPr/>
                        <a:lstStyle/>
                        <a:p>
                          <a:pPr>
                            <a:buNone/>
                          </a:pPr>
                          <a:r>
                            <a:rPr lang="en-IN"/>
                            <a:t>0.57</a:t>
                          </a:r>
                        </a:p>
                      </a:txBody>
                      <a:tcPr anchor="ctr"/>
                    </a:tc>
                    <a:tc>
                      <a:txBody>
                        <a:bodyPr/>
                        <a:lstStyle/>
                        <a:p>
                          <a:pPr>
                            <a:buNone/>
                          </a:pPr>
                          <a:r>
                            <a:rPr lang="en-IN"/>
                            <a:t>0.59</a:t>
                          </a:r>
                        </a:p>
                      </a:txBody>
                      <a:tcPr anchor="ctr"/>
                    </a:tc>
                    <a:tc>
                      <a:txBody>
                        <a:bodyPr/>
                        <a:lstStyle/>
                        <a:p>
                          <a:pPr>
                            <a:buNone/>
                          </a:pPr>
                          <a:r>
                            <a:rPr lang="en-IN"/>
                            <a:t>0.56</a:t>
                          </a:r>
                        </a:p>
                      </a:txBody>
                      <a:tcPr anchor="ctr"/>
                    </a:tc>
                    <a:tc>
                      <a:txBody>
                        <a:bodyPr/>
                        <a:lstStyle/>
                        <a:p>
                          <a:pPr>
                            <a:buNone/>
                          </a:pPr>
                          <a:r>
                            <a:rPr lang="en-IN"/>
                            <a:t>0.52</a:t>
                          </a:r>
                        </a:p>
                      </a:txBody>
                      <a:tcPr anchor="ctr"/>
                    </a:tc>
                    <a:extLst>
                      <a:ext uri="{0D108BD9-81ED-4DB2-BD59-A6C34878D82A}">
                        <a16:rowId xmlns:a16="http://schemas.microsoft.com/office/drawing/2014/main" val="409017964"/>
                      </a:ext>
                    </a:extLst>
                  </a:tr>
                  <a:tr h="304800">
                    <a:tc>
                      <a:txBody>
                        <a:bodyPr/>
                        <a:lstStyle/>
                        <a:p>
                          <a:pPr>
                            <a:buNone/>
                          </a:pPr>
                          <a:r>
                            <a:rPr lang="en-IN"/>
                            <a:t>48 h</a:t>
                          </a:r>
                        </a:p>
                      </a:txBody>
                      <a:tcPr anchor="ctr"/>
                    </a:tc>
                    <a:tc>
                      <a:txBody>
                        <a:bodyPr/>
                        <a:lstStyle/>
                        <a:p>
                          <a:pPr>
                            <a:buNone/>
                          </a:pPr>
                          <a:r>
                            <a:rPr lang="en-IN"/>
                            <a:t>0.73</a:t>
                          </a:r>
                        </a:p>
                      </a:txBody>
                      <a:tcPr anchor="ctr"/>
                    </a:tc>
                    <a:tc>
                      <a:txBody>
                        <a:bodyPr/>
                        <a:lstStyle/>
                        <a:p>
                          <a:pPr>
                            <a:buNone/>
                          </a:pPr>
                          <a:r>
                            <a:rPr lang="en-IN"/>
                            <a:t>0.55</a:t>
                          </a:r>
                        </a:p>
                      </a:txBody>
                      <a:tcPr anchor="ctr"/>
                    </a:tc>
                    <a:tc>
                      <a:txBody>
                        <a:bodyPr/>
                        <a:lstStyle/>
                        <a:p>
                          <a:pPr>
                            <a:buNone/>
                          </a:pPr>
                          <a:r>
                            <a:rPr lang="en-IN"/>
                            <a:t>0.58</a:t>
                          </a:r>
                        </a:p>
                      </a:txBody>
                      <a:tcPr anchor="ctr"/>
                    </a:tc>
                    <a:tc>
                      <a:txBody>
                        <a:bodyPr/>
                        <a:lstStyle/>
                        <a:p>
                          <a:pPr>
                            <a:buNone/>
                          </a:pPr>
                          <a:r>
                            <a:rPr lang="en-IN"/>
                            <a:t>0.56</a:t>
                          </a:r>
                        </a:p>
                      </a:txBody>
                      <a:tcPr anchor="ctr"/>
                    </a:tc>
                    <a:tc>
                      <a:txBody>
                        <a:bodyPr/>
                        <a:lstStyle/>
                        <a:p>
                          <a:pPr>
                            <a:buNone/>
                          </a:pPr>
                          <a:r>
                            <a:rPr lang="en-IN" dirty="0"/>
                            <a:t>0.58</a:t>
                          </a:r>
                        </a:p>
                      </a:txBody>
                      <a:tcPr anchor="ctr"/>
                    </a:tc>
                    <a:extLst>
                      <a:ext uri="{0D108BD9-81ED-4DB2-BD59-A6C34878D82A}">
                        <a16:rowId xmlns:a16="http://schemas.microsoft.com/office/drawing/2014/main" val="3410242313"/>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D68F40F-3A9C-AF0C-C321-B606B2795D59}"/>
                  </a:ext>
                </a:extLst>
              </p:cNvPr>
              <p:cNvSpPr txBox="1"/>
              <p:nvPr/>
            </p:nvSpPr>
            <p:spPr>
              <a:xfrm>
                <a:off x="457200" y="1417638"/>
                <a:ext cx="8229600" cy="757836"/>
              </a:xfrm>
              <a:prstGeom prst="rect">
                <a:avLst/>
              </a:prstGeom>
              <a:noFill/>
            </p:spPr>
            <p:txBody>
              <a:bodyPr wrap="square">
                <a:spAutoFit/>
              </a:bodyPr>
              <a:lstStyle/>
              <a:p>
                <a:pPr>
                  <a:buNone/>
                </a:pPr>
                <a:r>
                  <a:rPr lang="en-IN" dirty="0"/>
                  <a:t>Controlled ablation study comparing the Baseline, Model A (Water-only), Model B (Water + Weather), Model C (Water + Weather + Air), and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𝐸</m:t>
                        </m:r>
                      </m:e>
                      <m:sub>
                        <m:r>
                          <m:rPr>
                            <m:nor/>
                          </m:rPr>
                          <a:rPr lang="en-IN" b="0" i="0">
                            <a:latin typeface="Arial"/>
                          </a:rPr>
                          <m:t>stack</m:t>
                        </m:r>
                      </m:sub>
                    </m:sSub>
                  </m:oMath>
                </a14:m>
                <a:r>
                  <a:rPr lang="en-IN" dirty="0"/>
                  <a:t>(Stacked Late Fusion):</a:t>
                </a:r>
              </a:p>
              <a:p>
                <a:pPr>
                  <a:buNone/>
                </a:pPr>
                <a:r>
                  <a:rPr lang="en-IN" b="1" dirty="0"/>
                  <a:t>Event F1-Score Across Horizons</a:t>
                </a:r>
              </a:p>
            </p:txBody>
          </p:sp>
        </mc:Choice>
        <mc:Fallback xmlns="">
          <p:sp>
            <p:nvSpPr>
              <p:cNvPr id="6" name="TextBox 5">
                <a:extLst>
                  <a:ext uri="{FF2B5EF4-FFF2-40B4-BE49-F238E27FC236}">
                    <a16:creationId xmlns:a16="http://schemas.microsoft.com/office/drawing/2014/main" id="{4D68F40F-3A9C-AF0C-C321-B606B2795D59}"/>
                  </a:ext>
                </a:extLst>
              </p:cNvPr>
              <p:cNvSpPr txBox="1">
                <a:spLocks noRot="1" noChangeAspect="1" noMove="1" noResize="1" noEditPoints="1" noAdjustHandles="1" noChangeArrowheads="1" noChangeShapeType="1" noTextEdit="1"/>
              </p:cNvSpPr>
              <p:nvPr/>
            </p:nvSpPr>
            <p:spPr>
              <a:xfrm>
                <a:off x="457200" y="1417638"/>
                <a:ext cx="8229600" cy="757836"/>
              </a:xfrm>
              <a:prstGeom prst="rect">
                <a:avLst/>
              </a:prstGeom>
              <a:blipFill>
                <a:blip r:embed="rId4"/>
                <a:stretch>
                  <a:fillRect l="-222" t="-1613" b="-72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D7DAE6BE-5437-6172-8D77-EFB6DDE94426}"/>
                  </a:ext>
                </a:extLst>
              </p:cNvPr>
              <p:cNvGraphicFramePr>
                <a:graphicFrameLocks noGrp="1"/>
              </p:cNvGraphicFramePr>
              <p:nvPr>
                <p:extLst>
                  <p:ext uri="{D42A27DB-BD31-4B8C-83A1-F6EECF244321}">
                    <p14:modId xmlns:p14="http://schemas.microsoft.com/office/powerpoint/2010/main" val="3318250296"/>
                  </p:ext>
                </p:extLst>
              </p:nvPr>
            </p:nvGraphicFramePr>
            <p:xfrm>
              <a:off x="457200" y="4435603"/>
              <a:ext cx="8229600" cy="1749552"/>
            </p:xfrm>
            <a:graphic>
              <a:graphicData uri="http://schemas.openxmlformats.org/drawingml/2006/table">
                <a:tbl>
                  <a:tblPr>
                    <a:tableStyleId>{F9BC6C1E-BED5-463D-9D9D-55BB47110D15}</a:tableStyleId>
                  </a:tblPr>
                  <a:tblGrid>
                    <a:gridCol w="1371600">
                      <a:extLst>
                        <a:ext uri="{9D8B030D-6E8A-4147-A177-3AD203B41FA5}">
                          <a16:colId xmlns:a16="http://schemas.microsoft.com/office/drawing/2014/main" val="1443584172"/>
                        </a:ext>
                      </a:extLst>
                    </a:gridCol>
                    <a:gridCol w="1371600">
                      <a:extLst>
                        <a:ext uri="{9D8B030D-6E8A-4147-A177-3AD203B41FA5}">
                          <a16:colId xmlns:a16="http://schemas.microsoft.com/office/drawing/2014/main" val="2514967980"/>
                        </a:ext>
                      </a:extLst>
                    </a:gridCol>
                    <a:gridCol w="1371600">
                      <a:extLst>
                        <a:ext uri="{9D8B030D-6E8A-4147-A177-3AD203B41FA5}">
                          <a16:colId xmlns:a16="http://schemas.microsoft.com/office/drawing/2014/main" val="1978016401"/>
                        </a:ext>
                      </a:extLst>
                    </a:gridCol>
                    <a:gridCol w="1371600">
                      <a:extLst>
                        <a:ext uri="{9D8B030D-6E8A-4147-A177-3AD203B41FA5}">
                          <a16:colId xmlns:a16="http://schemas.microsoft.com/office/drawing/2014/main" val="2194099864"/>
                        </a:ext>
                      </a:extLst>
                    </a:gridCol>
                    <a:gridCol w="1371600">
                      <a:extLst>
                        <a:ext uri="{9D8B030D-6E8A-4147-A177-3AD203B41FA5}">
                          <a16:colId xmlns:a16="http://schemas.microsoft.com/office/drawing/2014/main" val="611582629"/>
                        </a:ext>
                      </a:extLst>
                    </a:gridCol>
                    <a:gridCol w="1371600">
                      <a:extLst>
                        <a:ext uri="{9D8B030D-6E8A-4147-A177-3AD203B41FA5}">
                          <a16:colId xmlns:a16="http://schemas.microsoft.com/office/drawing/2014/main" val="481905209"/>
                        </a:ext>
                      </a:extLst>
                    </a:gridCol>
                  </a:tblGrid>
                  <a:tr h="0">
                    <a:tc>
                      <a:txBody>
                        <a:bodyPr/>
                        <a:lstStyle/>
                        <a:p>
                          <a:pPr>
                            <a:buNone/>
                          </a:pPr>
                          <a:r>
                            <a:rPr lang="en-IN"/>
                            <a:t>Horizon (</a:t>
                          </a:r>
                          <a14:m>
                            <m:oMath xmlns:m="http://schemas.openxmlformats.org/officeDocument/2006/math">
                              <m:r>
                                <a:rPr lang="en-IN">
                                  <a:latin typeface="Cambria Math" panose="02040503050406030204" pitchFamily="18" charset="0"/>
                                </a:rPr>
                                <m:t>𝐻</m:t>
                              </m:r>
                            </m:oMath>
                          </a14:m>
                          <a:r>
                            <a:rPr lang="en-IN"/>
                            <a:t>)</a:t>
                          </a:r>
                        </a:p>
                      </a:txBody>
                      <a:tcPr anchor="ctr"/>
                    </a:tc>
                    <a:tc>
                      <a:txBody>
                        <a:bodyPr/>
                        <a:lstStyle/>
                        <a:p>
                          <a:pPr>
                            <a:buNone/>
                          </a:pPr>
                          <a:r>
                            <a:rPr lang="en-IN"/>
                            <a:t>Baseline Rule</a:t>
                          </a:r>
                        </a:p>
                      </a:txBody>
                      <a:tcPr anchor="ctr"/>
                    </a:tc>
                    <a:tc>
                      <a:txBody>
                        <a:bodyPr/>
                        <a:lstStyle/>
                        <a:p>
                          <a:pPr>
                            <a:buNone/>
                          </a:pPr>
                          <a:r>
                            <a:rPr lang="en-IN"/>
                            <a:t>Model A (Water)</a:t>
                          </a:r>
                        </a:p>
                      </a:txBody>
                      <a:tcPr anchor="ctr"/>
                    </a:tc>
                    <a:tc>
                      <a:txBody>
                        <a:bodyPr/>
                        <a:lstStyle/>
                        <a:p>
                          <a:pPr>
                            <a:buNone/>
                          </a:pPr>
                          <a:r>
                            <a:rPr lang="en-IN"/>
                            <a:t>Model B (Water+Met)</a:t>
                          </a:r>
                        </a:p>
                      </a:txBody>
                      <a:tcPr anchor="ctr"/>
                    </a:tc>
                    <a:tc>
                      <a:txBody>
                        <a:bodyPr/>
                        <a:lstStyle/>
                        <a:p>
                          <a:pPr>
                            <a:buNone/>
                          </a:pPr>
                          <a:r>
                            <a:rPr lang="en-IN"/>
                            <a:t>Model C (Full Early)</a:t>
                          </a:r>
                        </a:p>
                      </a:txBody>
                      <a:tcPr anchor="ctr"/>
                    </a:tc>
                    <a:tc>
                      <a:txBody>
                        <a:bodyPr/>
                        <a:lstStyle/>
                        <a:p>
                          <a:pPr>
                            <a:buNone/>
                          </a:pPr>
                          <a14:m>
                            <m:oMath xmlns:m="http://schemas.openxmlformats.org/officeDocument/2006/math">
                              <m:sSub>
                                <m:sSubPr>
                                  <m:ctrlPr>
                                    <a:rPr lang="en-IN">
                                      <a:latin typeface="Cambria Math" panose="02040503050406030204" pitchFamily="18" charset="0"/>
                                    </a:rPr>
                                  </m:ctrlPr>
                                </m:sSubPr>
                                <m:e>
                                  <m:r>
                                    <a:rPr lang="en-IN">
                                      <a:latin typeface="Cambria Math" panose="02040503050406030204" pitchFamily="18" charset="0"/>
                                    </a:rPr>
                                    <m:t>𝐸</m:t>
                                  </m:r>
                                </m:e>
                                <m:sub>
                                  <m:r>
                                    <m:rPr>
                                      <m:nor/>
                                    </m:rPr>
                                    <a:rPr lang="en-IN" i="0"/>
                                    <m:t>stack</m:t>
                                  </m:r>
                                </m:sub>
                              </m:sSub>
                            </m:oMath>
                          </a14:m>
                          <a:r>
                            <a:rPr lang="en-IN"/>
                            <a:t>(Late Fusion)</a:t>
                          </a:r>
                        </a:p>
                      </a:txBody>
                      <a:tcPr anchor="ctr"/>
                    </a:tc>
                    <a:extLst>
                      <a:ext uri="{0D108BD9-81ED-4DB2-BD59-A6C34878D82A}">
                        <a16:rowId xmlns:a16="http://schemas.microsoft.com/office/drawing/2014/main" val="1827160776"/>
                      </a:ext>
                    </a:extLst>
                  </a:tr>
                  <a:tr h="0">
                    <a:tc>
                      <a:txBody>
                        <a:bodyPr/>
                        <a:lstStyle/>
                        <a:p>
                          <a:pPr>
                            <a:buNone/>
                          </a:pPr>
                          <a:r>
                            <a:rPr lang="en-IN"/>
                            <a:t>6 h</a:t>
                          </a:r>
                        </a:p>
                      </a:txBody>
                      <a:tcPr anchor="ctr"/>
                    </a:tc>
                    <a:tc>
                      <a:txBody>
                        <a:bodyPr/>
                        <a:lstStyle/>
                        <a:p>
                          <a:pPr>
                            <a:buNone/>
                          </a:pPr>
                          <a:r>
                            <a:rPr lang="en-IN"/>
                            <a:t>2.0 h</a:t>
                          </a:r>
                        </a:p>
                      </a:txBody>
                      <a:tcPr anchor="ctr"/>
                    </a:tc>
                    <a:tc>
                      <a:txBody>
                        <a:bodyPr/>
                        <a:lstStyle/>
                        <a:p>
                          <a:pPr>
                            <a:buNone/>
                          </a:pPr>
                          <a:r>
                            <a:rPr lang="en-IN"/>
                            <a:t>3.0 h</a:t>
                          </a:r>
                        </a:p>
                      </a:txBody>
                      <a:tcPr anchor="ctr"/>
                    </a:tc>
                    <a:tc>
                      <a:txBody>
                        <a:bodyPr/>
                        <a:lstStyle/>
                        <a:p>
                          <a:pPr>
                            <a:buNone/>
                          </a:pPr>
                          <a:r>
                            <a:rPr lang="en-IN"/>
                            <a:t>3.0 h</a:t>
                          </a:r>
                        </a:p>
                      </a:txBody>
                      <a:tcPr anchor="ctr"/>
                    </a:tc>
                    <a:tc>
                      <a:txBody>
                        <a:bodyPr/>
                        <a:lstStyle/>
                        <a:p>
                          <a:pPr>
                            <a:buNone/>
                          </a:pPr>
                          <a:r>
                            <a:rPr lang="en-IN"/>
                            <a:t>3.0 h</a:t>
                          </a:r>
                        </a:p>
                      </a:txBody>
                      <a:tcPr anchor="ctr"/>
                    </a:tc>
                    <a:tc>
                      <a:txBody>
                        <a:bodyPr/>
                        <a:lstStyle/>
                        <a:p>
                          <a:pPr>
                            <a:buNone/>
                          </a:pPr>
                          <a:r>
                            <a:rPr lang="en-IN"/>
                            <a:t>3.0 h</a:t>
                          </a:r>
                        </a:p>
                      </a:txBody>
                      <a:tcPr anchor="ctr"/>
                    </a:tc>
                    <a:extLst>
                      <a:ext uri="{0D108BD9-81ED-4DB2-BD59-A6C34878D82A}">
                        <a16:rowId xmlns:a16="http://schemas.microsoft.com/office/drawing/2014/main" val="1968367384"/>
                      </a:ext>
                    </a:extLst>
                  </a:tr>
                  <a:tr h="0">
                    <a:tc>
                      <a:txBody>
                        <a:bodyPr/>
                        <a:lstStyle/>
                        <a:p>
                          <a:pPr>
                            <a:buNone/>
                          </a:pPr>
                          <a:r>
                            <a:rPr lang="en-IN"/>
                            <a:t>12 h</a:t>
                          </a:r>
                        </a:p>
                      </a:txBody>
                      <a:tcPr anchor="ctr"/>
                    </a:tc>
                    <a:tc>
                      <a:txBody>
                        <a:bodyPr/>
                        <a:lstStyle/>
                        <a:p>
                          <a:pPr>
                            <a:buNone/>
                          </a:pPr>
                          <a:r>
                            <a:rPr lang="en-IN"/>
                            <a:t>2.0 h</a:t>
                          </a:r>
                        </a:p>
                      </a:txBody>
                      <a:tcPr anchor="ctr"/>
                    </a:tc>
                    <a:tc>
                      <a:txBody>
                        <a:bodyPr/>
                        <a:lstStyle/>
                        <a:p>
                          <a:pPr>
                            <a:buNone/>
                          </a:pPr>
                          <a:r>
                            <a:rPr lang="en-IN"/>
                            <a:t>4.0 h</a:t>
                          </a:r>
                        </a:p>
                      </a:txBody>
                      <a:tcPr anchor="ctr"/>
                    </a:tc>
                    <a:tc>
                      <a:txBody>
                        <a:bodyPr/>
                        <a:lstStyle/>
                        <a:p>
                          <a:pPr>
                            <a:buNone/>
                          </a:pPr>
                          <a:r>
                            <a:rPr lang="en-IN"/>
                            <a:t>3.5 h</a:t>
                          </a:r>
                        </a:p>
                      </a:txBody>
                      <a:tcPr anchor="ctr"/>
                    </a:tc>
                    <a:tc>
                      <a:txBody>
                        <a:bodyPr/>
                        <a:lstStyle/>
                        <a:p>
                          <a:pPr>
                            <a:buNone/>
                          </a:pPr>
                          <a:r>
                            <a:rPr lang="en-IN"/>
                            <a:t>4.0 h</a:t>
                          </a:r>
                        </a:p>
                      </a:txBody>
                      <a:tcPr anchor="ctr"/>
                    </a:tc>
                    <a:tc>
                      <a:txBody>
                        <a:bodyPr/>
                        <a:lstStyle/>
                        <a:p>
                          <a:pPr>
                            <a:buNone/>
                          </a:pPr>
                          <a:r>
                            <a:rPr lang="en-IN"/>
                            <a:t>4.0 h</a:t>
                          </a:r>
                        </a:p>
                      </a:txBody>
                      <a:tcPr anchor="ctr"/>
                    </a:tc>
                    <a:extLst>
                      <a:ext uri="{0D108BD9-81ED-4DB2-BD59-A6C34878D82A}">
                        <a16:rowId xmlns:a16="http://schemas.microsoft.com/office/drawing/2014/main" val="3809374517"/>
                      </a:ext>
                    </a:extLst>
                  </a:tr>
                  <a:tr h="0">
                    <a:tc>
                      <a:txBody>
                        <a:bodyPr/>
                        <a:lstStyle/>
                        <a:p>
                          <a:pPr>
                            <a:buNone/>
                          </a:pPr>
                          <a:r>
                            <a:rPr lang="en-IN"/>
                            <a:t>24 h</a:t>
                          </a:r>
                        </a:p>
                      </a:txBody>
                      <a:tcPr anchor="ctr"/>
                    </a:tc>
                    <a:tc>
                      <a:txBody>
                        <a:bodyPr/>
                        <a:lstStyle/>
                        <a:p>
                          <a:pPr>
                            <a:buNone/>
                          </a:pPr>
                          <a:r>
                            <a:rPr lang="en-IN"/>
                            <a:t>2.0 h</a:t>
                          </a:r>
                        </a:p>
                      </a:txBody>
                      <a:tcPr anchor="ctr"/>
                    </a:tc>
                    <a:tc>
                      <a:txBody>
                        <a:bodyPr/>
                        <a:lstStyle/>
                        <a:p>
                          <a:pPr>
                            <a:buNone/>
                          </a:pPr>
                          <a:r>
                            <a:rPr lang="en-IN"/>
                            <a:t>5.0 h</a:t>
                          </a:r>
                        </a:p>
                      </a:txBody>
                      <a:tcPr anchor="ctr"/>
                    </a:tc>
                    <a:tc>
                      <a:txBody>
                        <a:bodyPr/>
                        <a:lstStyle/>
                        <a:p>
                          <a:pPr>
                            <a:buNone/>
                          </a:pPr>
                          <a:r>
                            <a:rPr lang="en-IN"/>
                            <a:t>5.0 h</a:t>
                          </a:r>
                        </a:p>
                      </a:txBody>
                      <a:tcPr anchor="ctr"/>
                    </a:tc>
                    <a:tc>
                      <a:txBody>
                        <a:bodyPr/>
                        <a:lstStyle/>
                        <a:p>
                          <a:pPr>
                            <a:buNone/>
                          </a:pPr>
                          <a:r>
                            <a:rPr lang="en-IN"/>
                            <a:t>4.5 h</a:t>
                          </a:r>
                        </a:p>
                      </a:txBody>
                      <a:tcPr anchor="ctr"/>
                    </a:tc>
                    <a:tc>
                      <a:txBody>
                        <a:bodyPr/>
                        <a:lstStyle/>
                        <a:p>
                          <a:pPr>
                            <a:buNone/>
                          </a:pPr>
                          <a:r>
                            <a:rPr lang="en-IN"/>
                            <a:t>6.0 h</a:t>
                          </a:r>
                        </a:p>
                      </a:txBody>
                      <a:tcPr anchor="ctr"/>
                    </a:tc>
                    <a:extLst>
                      <a:ext uri="{0D108BD9-81ED-4DB2-BD59-A6C34878D82A}">
                        <a16:rowId xmlns:a16="http://schemas.microsoft.com/office/drawing/2014/main" val="4103188271"/>
                      </a:ext>
                    </a:extLst>
                  </a:tr>
                  <a:tr h="0">
                    <a:tc>
                      <a:txBody>
                        <a:bodyPr/>
                        <a:lstStyle/>
                        <a:p>
                          <a:pPr>
                            <a:buNone/>
                          </a:pPr>
                          <a:r>
                            <a:rPr lang="en-IN"/>
                            <a:t>48 h</a:t>
                          </a:r>
                        </a:p>
                      </a:txBody>
                      <a:tcPr anchor="ctr"/>
                    </a:tc>
                    <a:tc>
                      <a:txBody>
                        <a:bodyPr/>
                        <a:lstStyle/>
                        <a:p>
                          <a:pPr>
                            <a:buNone/>
                          </a:pPr>
                          <a:r>
                            <a:rPr lang="en-IN"/>
                            <a:t>2.0 h</a:t>
                          </a:r>
                        </a:p>
                      </a:txBody>
                      <a:tcPr anchor="ctr"/>
                    </a:tc>
                    <a:tc>
                      <a:txBody>
                        <a:bodyPr/>
                        <a:lstStyle/>
                        <a:p>
                          <a:pPr>
                            <a:buNone/>
                          </a:pPr>
                          <a:r>
                            <a:rPr lang="en-IN"/>
                            <a:t>4.0 h</a:t>
                          </a:r>
                        </a:p>
                      </a:txBody>
                      <a:tcPr anchor="ctr"/>
                    </a:tc>
                    <a:tc>
                      <a:txBody>
                        <a:bodyPr/>
                        <a:lstStyle/>
                        <a:p>
                          <a:pPr>
                            <a:buNone/>
                          </a:pPr>
                          <a:r>
                            <a:rPr lang="en-IN"/>
                            <a:t>7.0 h</a:t>
                          </a:r>
                        </a:p>
                      </a:txBody>
                      <a:tcPr anchor="ctr"/>
                    </a:tc>
                    <a:tc>
                      <a:txBody>
                        <a:bodyPr/>
                        <a:lstStyle/>
                        <a:p>
                          <a:pPr>
                            <a:buNone/>
                          </a:pPr>
                          <a:r>
                            <a:rPr lang="en-IN"/>
                            <a:t>5.0 h</a:t>
                          </a:r>
                        </a:p>
                      </a:txBody>
                      <a:tcPr anchor="ctr"/>
                    </a:tc>
                    <a:tc>
                      <a:txBody>
                        <a:bodyPr/>
                        <a:lstStyle/>
                        <a:p>
                          <a:pPr>
                            <a:buNone/>
                          </a:pPr>
                          <a:r>
                            <a:rPr lang="en-IN" dirty="0"/>
                            <a:t>10.0 h</a:t>
                          </a:r>
                        </a:p>
                      </a:txBody>
                      <a:tcPr anchor="ctr"/>
                    </a:tc>
                    <a:extLst>
                      <a:ext uri="{0D108BD9-81ED-4DB2-BD59-A6C34878D82A}">
                        <a16:rowId xmlns:a16="http://schemas.microsoft.com/office/drawing/2014/main" val="849142789"/>
                      </a:ext>
                    </a:extLst>
                  </a:tr>
                </a:tbl>
              </a:graphicData>
            </a:graphic>
          </p:graphicFrame>
        </mc:Choice>
        <mc:Fallback xmlns="">
          <p:graphicFrame>
            <p:nvGraphicFramePr>
              <p:cNvPr id="7" name="Table 6">
                <a:extLst>
                  <a:ext uri="{FF2B5EF4-FFF2-40B4-BE49-F238E27FC236}">
                    <a16:creationId xmlns:a16="http://schemas.microsoft.com/office/drawing/2014/main" id="{D7DAE6BE-5437-6172-8D77-EFB6DDE94426}"/>
                  </a:ext>
                </a:extLst>
              </p:cNvPr>
              <p:cNvGraphicFramePr>
                <a:graphicFrameLocks noGrp="1"/>
              </p:cNvGraphicFramePr>
              <p:nvPr>
                <p:extLst>
                  <p:ext uri="{D42A27DB-BD31-4B8C-83A1-F6EECF244321}">
                    <p14:modId xmlns:p14="http://schemas.microsoft.com/office/powerpoint/2010/main" val="3318250296"/>
                  </p:ext>
                </p:extLst>
              </p:nvPr>
            </p:nvGraphicFramePr>
            <p:xfrm>
              <a:off x="457200" y="4435603"/>
              <a:ext cx="8229600" cy="1749552"/>
            </p:xfrm>
            <a:graphic>
              <a:graphicData uri="http://schemas.openxmlformats.org/drawingml/2006/table">
                <a:tbl>
                  <a:tblPr>
                    <a:tableStyleId>{F9BC6C1E-BED5-463D-9D9D-55BB47110D15}</a:tableStyleId>
                  </a:tblPr>
                  <a:tblGrid>
                    <a:gridCol w="1371600">
                      <a:extLst>
                        <a:ext uri="{9D8B030D-6E8A-4147-A177-3AD203B41FA5}">
                          <a16:colId xmlns:a16="http://schemas.microsoft.com/office/drawing/2014/main" val="1443584172"/>
                        </a:ext>
                      </a:extLst>
                    </a:gridCol>
                    <a:gridCol w="1371600">
                      <a:extLst>
                        <a:ext uri="{9D8B030D-6E8A-4147-A177-3AD203B41FA5}">
                          <a16:colId xmlns:a16="http://schemas.microsoft.com/office/drawing/2014/main" val="2514967980"/>
                        </a:ext>
                      </a:extLst>
                    </a:gridCol>
                    <a:gridCol w="1371600">
                      <a:extLst>
                        <a:ext uri="{9D8B030D-6E8A-4147-A177-3AD203B41FA5}">
                          <a16:colId xmlns:a16="http://schemas.microsoft.com/office/drawing/2014/main" val="1978016401"/>
                        </a:ext>
                      </a:extLst>
                    </a:gridCol>
                    <a:gridCol w="1371600">
                      <a:extLst>
                        <a:ext uri="{9D8B030D-6E8A-4147-A177-3AD203B41FA5}">
                          <a16:colId xmlns:a16="http://schemas.microsoft.com/office/drawing/2014/main" val="2194099864"/>
                        </a:ext>
                      </a:extLst>
                    </a:gridCol>
                    <a:gridCol w="1371600">
                      <a:extLst>
                        <a:ext uri="{9D8B030D-6E8A-4147-A177-3AD203B41FA5}">
                          <a16:colId xmlns:a16="http://schemas.microsoft.com/office/drawing/2014/main" val="611582629"/>
                        </a:ext>
                      </a:extLst>
                    </a:gridCol>
                    <a:gridCol w="1371600">
                      <a:extLst>
                        <a:ext uri="{9D8B030D-6E8A-4147-A177-3AD203B41FA5}">
                          <a16:colId xmlns:a16="http://schemas.microsoft.com/office/drawing/2014/main" val="481905209"/>
                        </a:ext>
                      </a:extLst>
                    </a:gridCol>
                  </a:tblGrid>
                  <a:tr h="530352">
                    <a:tc>
                      <a:txBody>
                        <a:bodyPr/>
                        <a:lstStyle/>
                        <a:p>
                          <a:endParaRPr lang="en-US"/>
                        </a:p>
                      </a:txBody>
                      <a:tcPr anchor="ctr">
                        <a:blipFill>
                          <a:blip r:embed="rId5"/>
                          <a:stretch>
                            <a:fillRect l="-889" t="-1149" r="-501333" b="-242529"/>
                          </a:stretch>
                        </a:blipFill>
                      </a:tcPr>
                    </a:tc>
                    <a:tc>
                      <a:txBody>
                        <a:bodyPr/>
                        <a:lstStyle/>
                        <a:p>
                          <a:pPr>
                            <a:buNone/>
                          </a:pPr>
                          <a:r>
                            <a:rPr lang="en-IN"/>
                            <a:t>Baseline Rule</a:t>
                          </a:r>
                        </a:p>
                      </a:txBody>
                      <a:tcPr anchor="ctr"/>
                    </a:tc>
                    <a:tc>
                      <a:txBody>
                        <a:bodyPr/>
                        <a:lstStyle/>
                        <a:p>
                          <a:pPr>
                            <a:buNone/>
                          </a:pPr>
                          <a:r>
                            <a:rPr lang="en-IN"/>
                            <a:t>Model A (Water)</a:t>
                          </a:r>
                        </a:p>
                      </a:txBody>
                      <a:tcPr anchor="ctr"/>
                    </a:tc>
                    <a:tc>
                      <a:txBody>
                        <a:bodyPr/>
                        <a:lstStyle/>
                        <a:p>
                          <a:pPr>
                            <a:buNone/>
                          </a:pPr>
                          <a:r>
                            <a:rPr lang="en-IN"/>
                            <a:t>Model B (Water+Met)</a:t>
                          </a:r>
                        </a:p>
                      </a:txBody>
                      <a:tcPr anchor="ctr"/>
                    </a:tc>
                    <a:tc>
                      <a:txBody>
                        <a:bodyPr/>
                        <a:lstStyle/>
                        <a:p>
                          <a:pPr>
                            <a:buNone/>
                          </a:pPr>
                          <a:r>
                            <a:rPr lang="en-IN"/>
                            <a:t>Model C (Full Early)</a:t>
                          </a:r>
                        </a:p>
                      </a:txBody>
                      <a:tcPr anchor="ctr"/>
                    </a:tc>
                    <a:tc>
                      <a:txBody>
                        <a:bodyPr/>
                        <a:lstStyle/>
                        <a:p>
                          <a:endParaRPr lang="en-US"/>
                        </a:p>
                      </a:txBody>
                      <a:tcPr anchor="ctr">
                        <a:blipFill>
                          <a:blip r:embed="rId5"/>
                          <a:stretch>
                            <a:fillRect l="-500889" t="-1149" r="-1333" b="-242529"/>
                          </a:stretch>
                        </a:blipFill>
                      </a:tcPr>
                    </a:tc>
                    <a:extLst>
                      <a:ext uri="{0D108BD9-81ED-4DB2-BD59-A6C34878D82A}">
                        <a16:rowId xmlns:a16="http://schemas.microsoft.com/office/drawing/2014/main" val="1827160776"/>
                      </a:ext>
                    </a:extLst>
                  </a:tr>
                  <a:tr h="304800">
                    <a:tc>
                      <a:txBody>
                        <a:bodyPr/>
                        <a:lstStyle/>
                        <a:p>
                          <a:pPr>
                            <a:buNone/>
                          </a:pPr>
                          <a:r>
                            <a:rPr lang="en-IN"/>
                            <a:t>6 h</a:t>
                          </a:r>
                        </a:p>
                      </a:txBody>
                      <a:tcPr anchor="ctr"/>
                    </a:tc>
                    <a:tc>
                      <a:txBody>
                        <a:bodyPr/>
                        <a:lstStyle/>
                        <a:p>
                          <a:pPr>
                            <a:buNone/>
                          </a:pPr>
                          <a:r>
                            <a:rPr lang="en-IN"/>
                            <a:t>2.0 h</a:t>
                          </a:r>
                        </a:p>
                      </a:txBody>
                      <a:tcPr anchor="ctr"/>
                    </a:tc>
                    <a:tc>
                      <a:txBody>
                        <a:bodyPr/>
                        <a:lstStyle/>
                        <a:p>
                          <a:pPr>
                            <a:buNone/>
                          </a:pPr>
                          <a:r>
                            <a:rPr lang="en-IN"/>
                            <a:t>3.0 h</a:t>
                          </a:r>
                        </a:p>
                      </a:txBody>
                      <a:tcPr anchor="ctr"/>
                    </a:tc>
                    <a:tc>
                      <a:txBody>
                        <a:bodyPr/>
                        <a:lstStyle/>
                        <a:p>
                          <a:pPr>
                            <a:buNone/>
                          </a:pPr>
                          <a:r>
                            <a:rPr lang="en-IN"/>
                            <a:t>3.0 h</a:t>
                          </a:r>
                        </a:p>
                      </a:txBody>
                      <a:tcPr anchor="ctr"/>
                    </a:tc>
                    <a:tc>
                      <a:txBody>
                        <a:bodyPr/>
                        <a:lstStyle/>
                        <a:p>
                          <a:pPr>
                            <a:buNone/>
                          </a:pPr>
                          <a:r>
                            <a:rPr lang="en-IN"/>
                            <a:t>3.0 h</a:t>
                          </a:r>
                        </a:p>
                      </a:txBody>
                      <a:tcPr anchor="ctr"/>
                    </a:tc>
                    <a:tc>
                      <a:txBody>
                        <a:bodyPr/>
                        <a:lstStyle/>
                        <a:p>
                          <a:pPr>
                            <a:buNone/>
                          </a:pPr>
                          <a:r>
                            <a:rPr lang="en-IN"/>
                            <a:t>3.0 h</a:t>
                          </a:r>
                        </a:p>
                      </a:txBody>
                      <a:tcPr anchor="ctr"/>
                    </a:tc>
                    <a:extLst>
                      <a:ext uri="{0D108BD9-81ED-4DB2-BD59-A6C34878D82A}">
                        <a16:rowId xmlns:a16="http://schemas.microsoft.com/office/drawing/2014/main" val="1968367384"/>
                      </a:ext>
                    </a:extLst>
                  </a:tr>
                  <a:tr h="304800">
                    <a:tc>
                      <a:txBody>
                        <a:bodyPr/>
                        <a:lstStyle/>
                        <a:p>
                          <a:pPr>
                            <a:buNone/>
                          </a:pPr>
                          <a:r>
                            <a:rPr lang="en-IN"/>
                            <a:t>12 h</a:t>
                          </a:r>
                        </a:p>
                      </a:txBody>
                      <a:tcPr anchor="ctr"/>
                    </a:tc>
                    <a:tc>
                      <a:txBody>
                        <a:bodyPr/>
                        <a:lstStyle/>
                        <a:p>
                          <a:pPr>
                            <a:buNone/>
                          </a:pPr>
                          <a:r>
                            <a:rPr lang="en-IN"/>
                            <a:t>2.0 h</a:t>
                          </a:r>
                        </a:p>
                      </a:txBody>
                      <a:tcPr anchor="ctr"/>
                    </a:tc>
                    <a:tc>
                      <a:txBody>
                        <a:bodyPr/>
                        <a:lstStyle/>
                        <a:p>
                          <a:pPr>
                            <a:buNone/>
                          </a:pPr>
                          <a:r>
                            <a:rPr lang="en-IN"/>
                            <a:t>4.0 h</a:t>
                          </a:r>
                        </a:p>
                      </a:txBody>
                      <a:tcPr anchor="ctr"/>
                    </a:tc>
                    <a:tc>
                      <a:txBody>
                        <a:bodyPr/>
                        <a:lstStyle/>
                        <a:p>
                          <a:pPr>
                            <a:buNone/>
                          </a:pPr>
                          <a:r>
                            <a:rPr lang="en-IN"/>
                            <a:t>3.5 h</a:t>
                          </a:r>
                        </a:p>
                      </a:txBody>
                      <a:tcPr anchor="ctr"/>
                    </a:tc>
                    <a:tc>
                      <a:txBody>
                        <a:bodyPr/>
                        <a:lstStyle/>
                        <a:p>
                          <a:pPr>
                            <a:buNone/>
                          </a:pPr>
                          <a:r>
                            <a:rPr lang="en-IN"/>
                            <a:t>4.0 h</a:t>
                          </a:r>
                        </a:p>
                      </a:txBody>
                      <a:tcPr anchor="ctr"/>
                    </a:tc>
                    <a:tc>
                      <a:txBody>
                        <a:bodyPr/>
                        <a:lstStyle/>
                        <a:p>
                          <a:pPr>
                            <a:buNone/>
                          </a:pPr>
                          <a:r>
                            <a:rPr lang="en-IN"/>
                            <a:t>4.0 h</a:t>
                          </a:r>
                        </a:p>
                      </a:txBody>
                      <a:tcPr anchor="ctr"/>
                    </a:tc>
                    <a:extLst>
                      <a:ext uri="{0D108BD9-81ED-4DB2-BD59-A6C34878D82A}">
                        <a16:rowId xmlns:a16="http://schemas.microsoft.com/office/drawing/2014/main" val="3809374517"/>
                      </a:ext>
                    </a:extLst>
                  </a:tr>
                  <a:tr h="304800">
                    <a:tc>
                      <a:txBody>
                        <a:bodyPr/>
                        <a:lstStyle/>
                        <a:p>
                          <a:pPr>
                            <a:buNone/>
                          </a:pPr>
                          <a:r>
                            <a:rPr lang="en-IN"/>
                            <a:t>24 h</a:t>
                          </a:r>
                        </a:p>
                      </a:txBody>
                      <a:tcPr anchor="ctr"/>
                    </a:tc>
                    <a:tc>
                      <a:txBody>
                        <a:bodyPr/>
                        <a:lstStyle/>
                        <a:p>
                          <a:pPr>
                            <a:buNone/>
                          </a:pPr>
                          <a:r>
                            <a:rPr lang="en-IN"/>
                            <a:t>2.0 h</a:t>
                          </a:r>
                        </a:p>
                      </a:txBody>
                      <a:tcPr anchor="ctr"/>
                    </a:tc>
                    <a:tc>
                      <a:txBody>
                        <a:bodyPr/>
                        <a:lstStyle/>
                        <a:p>
                          <a:pPr>
                            <a:buNone/>
                          </a:pPr>
                          <a:r>
                            <a:rPr lang="en-IN"/>
                            <a:t>5.0 h</a:t>
                          </a:r>
                        </a:p>
                      </a:txBody>
                      <a:tcPr anchor="ctr"/>
                    </a:tc>
                    <a:tc>
                      <a:txBody>
                        <a:bodyPr/>
                        <a:lstStyle/>
                        <a:p>
                          <a:pPr>
                            <a:buNone/>
                          </a:pPr>
                          <a:r>
                            <a:rPr lang="en-IN"/>
                            <a:t>5.0 h</a:t>
                          </a:r>
                        </a:p>
                      </a:txBody>
                      <a:tcPr anchor="ctr"/>
                    </a:tc>
                    <a:tc>
                      <a:txBody>
                        <a:bodyPr/>
                        <a:lstStyle/>
                        <a:p>
                          <a:pPr>
                            <a:buNone/>
                          </a:pPr>
                          <a:r>
                            <a:rPr lang="en-IN"/>
                            <a:t>4.5 h</a:t>
                          </a:r>
                        </a:p>
                      </a:txBody>
                      <a:tcPr anchor="ctr"/>
                    </a:tc>
                    <a:tc>
                      <a:txBody>
                        <a:bodyPr/>
                        <a:lstStyle/>
                        <a:p>
                          <a:pPr>
                            <a:buNone/>
                          </a:pPr>
                          <a:r>
                            <a:rPr lang="en-IN"/>
                            <a:t>6.0 h</a:t>
                          </a:r>
                        </a:p>
                      </a:txBody>
                      <a:tcPr anchor="ctr"/>
                    </a:tc>
                    <a:extLst>
                      <a:ext uri="{0D108BD9-81ED-4DB2-BD59-A6C34878D82A}">
                        <a16:rowId xmlns:a16="http://schemas.microsoft.com/office/drawing/2014/main" val="4103188271"/>
                      </a:ext>
                    </a:extLst>
                  </a:tr>
                  <a:tr h="304800">
                    <a:tc>
                      <a:txBody>
                        <a:bodyPr/>
                        <a:lstStyle/>
                        <a:p>
                          <a:pPr>
                            <a:buNone/>
                          </a:pPr>
                          <a:r>
                            <a:rPr lang="en-IN"/>
                            <a:t>48 h</a:t>
                          </a:r>
                        </a:p>
                      </a:txBody>
                      <a:tcPr anchor="ctr"/>
                    </a:tc>
                    <a:tc>
                      <a:txBody>
                        <a:bodyPr/>
                        <a:lstStyle/>
                        <a:p>
                          <a:pPr>
                            <a:buNone/>
                          </a:pPr>
                          <a:r>
                            <a:rPr lang="en-IN"/>
                            <a:t>2.0 h</a:t>
                          </a:r>
                        </a:p>
                      </a:txBody>
                      <a:tcPr anchor="ctr"/>
                    </a:tc>
                    <a:tc>
                      <a:txBody>
                        <a:bodyPr/>
                        <a:lstStyle/>
                        <a:p>
                          <a:pPr>
                            <a:buNone/>
                          </a:pPr>
                          <a:r>
                            <a:rPr lang="en-IN"/>
                            <a:t>4.0 h</a:t>
                          </a:r>
                        </a:p>
                      </a:txBody>
                      <a:tcPr anchor="ctr"/>
                    </a:tc>
                    <a:tc>
                      <a:txBody>
                        <a:bodyPr/>
                        <a:lstStyle/>
                        <a:p>
                          <a:pPr>
                            <a:buNone/>
                          </a:pPr>
                          <a:r>
                            <a:rPr lang="en-IN"/>
                            <a:t>7.0 h</a:t>
                          </a:r>
                        </a:p>
                      </a:txBody>
                      <a:tcPr anchor="ctr"/>
                    </a:tc>
                    <a:tc>
                      <a:txBody>
                        <a:bodyPr/>
                        <a:lstStyle/>
                        <a:p>
                          <a:pPr>
                            <a:buNone/>
                          </a:pPr>
                          <a:r>
                            <a:rPr lang="en-IN"/>
                            <a:t>5.0 h</a:t>
                          </a:r>
                        </a:p>
                      </a:txBody>
                      <a:tcPr anchor="ctr"/>
                    </a:tc>
                    <a:tc>
                      <a:txBody>
                        <a:bodyPr/>
                        <a:lstStyle/>
                        <a:p>
                          <a:pPr>
                            <a:buNone/>
                          </a:pPr>
                          <a:r>
                            <a:rPr lang="en-IN" dirty="0"/>
                            <a:t>10.0 h</a:t>
                          </a:r>
                        </a:p>
                      </a:txBody>
                      <a:tcPr anchor="ctr"/>
                    </a:tc>
                    <a:extLst>
                      <a:ext uri="{0D108BD9-81ED-4DB2-BD59-A6C34878D82A}">
                        <a16:rowId xmlns:a16="http://schemas.microsoft.com/office/drawing/2014/main" val="849142789"/>
                      </a:ext>
                    </a:extLst>
                  </a:tr>
                </a:tbl>
              </a:graphicData>
            </a:graphic>
          </p:graphicFrame>
        </mc:Fallback>
      </mc:AlternateContent>
      <p:sp>
        <p:nvSpPr>
          <p:cNvPr id="9" name="TextBox 8">
            <a:extLst>
              <a:ext uri="{FF2B5EF4-FFF2-40B4-BE49-F238E27FC236}">
                <a16:creationId xmlns:a16="http://schemas.microsoft.com/office/drawing/2014/main" id="{CDD8C388-5630-3282-F8C8-37858033E02B}"/>
              </a:ext>
            </a:extLst>
          </p:cNvPr>
          <p:cNvSpPr txBox="1"/>
          <p:nvPr/>
        </p:nvSpPr>
        <p:spPr>
          <a:xfrm>
            <a:off x="457200" y="4026426"/>
            <a:ext cx="4572000" cy="307777"/>
          </a:xfrm>
          <a:prstGeom prst="rect">
            <a:avLst/>
          </a:prstGeom>
          <a:noFill/>
        </p:spPr>
        <p:txBody>
          <a:bodyPr wrap="square">
            <a:spAutoFit/>
          </a:bodyPr>
          <a:lstStyle/>
          <a:p>
            <a:pPr>
              <a:buNone/>
            </a:pPr>
            <a:r>
              <a:rPr lang="en-IN" b="1" dirty="0"/>
              <a:t>Median Anticipation Lead Time (Hours)</a:t>
            </a:r>
          </a:p>
        </p:txBody>
      </p:sp>
    </p:spTree>
    <p:extLst>
      <p:ext uri="{BB962C8B-B14F-4D97-AF65-F5344CB8AC3E}">
        <p14:creationId xmlns:p14="http://schemas.microsoft.com/office/powerpoint/2010/main" val="2189567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BCEBD987-C4AB-C1B6-2C6D-7FA3102275E6}"/>
            </a:ext>
          </a:extLst>
        </p:cNvPr>
        <p:cNvGrpSpPr/>
        <p:nvPr/>
      </p:nvGrpSpPr>
      <p:grpSpPr>
        <a:xfrm>
          <a:off x="0" y="0"/>
          <a:ext cx="0" cy="0"/>
          <a:chOff x="0" y="0"/>
          <a:chExt cx="0" cy="0"/>
        </a:xfrm>
      </p:grpSpPr>
      <p:sp>
        <p:nvSpPr>
          <p:cNvPr id="161" name="Google Shape;161;p12">
            <a:extLst>
              <a:ext uri="{FF2B5EF4-FFF2-40B4-BE49-F238E27FC236}">
                <a16:creationId xmlns:a16="http://schemas.microsoft.com/office/drawing/2014/main" id="{BBF91150-866A-450D-09D5-3E60029854AE}"/>
              </a:ext>
            </a:extLst>
          </p:cNvPr>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fontScale="90000"/>
          </a:bodyPr>
          <a:lstStyle/>
          <a:p>
            <a:r>
              <a:rPr lang="en-US"/>
              <a:t>Results &amp; Discussion — Modality Ablation Study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16D1C1F-16F1-1695-C5BB-77EB64F1365B}"/>
                  </a:ext>
                </a:extLst>
              </p:cNvPr>
              <p:cNvSpPr txBox="1"/>
              <p:nvPr/>
            </p:nvSpPr>
            <p:spPr>
              <a:xfrm>
                <a:off x="457200" y="1417638"/>
                <a:ext cx="8229600" cy="1815882"/>
              </a:xfrm>
              <a:prstGeom prst="rect">
                <a:avLst/>
              </a:prstGeom>
              <a:noFill/>
            </p:spPr>
            <p:txBody>
              <a:bodyPr wrap="square">
                <a:spAutoFit/>
              </a:bodyPr>
              <a:lstStyle/>
              <a:p>
                <a:pPr>
                  <a:buNone/>
                </a:pPr>
                <a:r>
                  <a:rPr lang="en-IN" sz="1600" b="1" dirty="0"/>
                  <a:t>Critical Takeaways</a:t>
                </a:r>
              </a:p>
              <a:p>
                <a:pPr marL="342900" lvl="0" indent="-342900">
                  <a:buFont typeface="+mj-lt"/>
                  <a:buAutoNum type="arabicPeriod"/>
                </a:pPr>
                <a:r>
                  <a:rPr lang="en-IN" sz="1600" b="1" dirty="0"/>
                  <a:t>Auxiliary Modalities Provide No Significant Gain:</a:t>
                </a:r>
                <a:r>
                  <a:rPr lang="en-IN" sz="1600" dirty="0"/>
                  <a:t> 95% bootstrap confidence intervals for adding weather/air quality to water features include zero.</a:t>
                </a:r>
              </a:p>
              <a:p>
                <a:pPr marL="342900" lvl="0" indent="-342900">
                  <a:buFont typeface="+mj-lt"/>
                  <a:buAutoNum type="arabicPeriod"/>
                </a:pPr>
                <a:r>
                  <a:rPr lang="en-IN" sz="1600" b="1" dirty="0"/>
                  <a:t>Late Fusion Resists Noise:</a:t>
                </a:r>
                <a:r>
                  <a:rPr lang="en-IN" sz="1600" dirty="0"/>
                  <a:t> At </a:t>
                </a:r>
                <a14:m>
                  <m:oMath xmlns:m="http://schemas.openxmlformats.org/officeDocument/2006/math">
                    <m:r>
                      <a:rPr lang="en-IN" sz="1600" i="1">
                        <a:latin typeface="Cambria Math" panose="02040503050406030204" pitchFamily="18" charset="0"/>
                      </a:rPr>
                      <m:t>𝐻</m:t>
                    </m:r>
                    <m:r>
                      <a:rPr lang="en-IN" sz="1600" i="0">
                        <a:latin typeface="Cambria Math" panose="02040503050406030204" pitchFamily="18" charset="0"/>
                      </a:rPr>
                      <m:t>=12</m:t>
                    </m:r>
                    <m:r>
                      <m:rPr>
                        <m:nor/>
                      </m:rPr>
                      <a:rPr lang="en-IN" sz="1600" b="0" i="0">
                        <a:latin typeface="Arial"/>
                      </a:rPr>
                      <m:t> h</m:t>
                    </m:r>
                  </m:oMath>
                </a14:m>
                <a:r>
                  <a:rPr lang="en-IN" sz="1600" dirty="0"/>
                  <a:t>, early fusion degrades (</a:t>
                </a:r>
                <a14:m>
                  <m:oMath xmlns:m="http://schemas.openxmlformats.org/officeDocument/2006/math">
                    <m:sSub>
                      <m:sSubPr>
                        <m:ctrlPr>
                          <a:rPr lang="en-IN" sz="1600" i="1">
                            <a:latin typeface="Cambria Math" panose="02040503050406030204" pitchFamily="18" charset="0"/>
                          </a:rPr>
                        </m:ctrlPr>
                      </m:sSubPr>
                      <m:e>
                        <m:r>
                          <a:rPr lang="en-IN" sz="1600" i="1">
                            <a:latin typeface="Cambria Math" panose="02040503050406030204" pitchFamily="18" charset="0"/>
                          </a:rPr>
                          <m:t>𝐹</m:t>
                        </m:r>
                      </m:e>
                      <m:sub>
                        <m:r>
                          <a:rPr lang="en-IN" sz="1600" i="0">
                            <a:latin typeface="Cambria Math" panose="02040503050406030204" pitchFamily="18" charset="0"/>
                          </a:rPr>
                          <m:t>1</m:t>
                        </m:r>
                      </m:sub>
                    </m:sSub>
                    <m:r>
                      <a:rPr lang="en-IN" sz="1600" i="0">
                        <a:latin typeface="Cambria Math" panose="02040503050406030204" pitchFamily="18" charset="0"/>
                      </a:rPr>
                      <m:t>=0.37</m:t>
                    </m:r>
                  </m:oMath>
                </a14:m>
                <a:r>
                  <a:rPr lang="en-IN" sz="1600" dirty="0"/>
                  <a:t>) due to noisy inputs, whereas late fusion preserves stability (</a:t>
                </a:r>
                <a14:m>
                  <m:oMath xmlns:m="http://schemas.openxmlformats.org/officeDocument/2006/math">
                    <m:sSub>
                      <m:sSubPr>
                        <m:ctrlPr>
                          <a:rPr lang="en-IN" sz="1600" i="1">
                            <a:latin typeface="Cambria Math" panose="02040503050406030204" pitchFamily="18" charset="0"/>
                          </a:rPr>
                        </m:ctrlPr>
                      </m:sSubPr>
                      <m:e>
                        <m:r>
                          <a:rPr lang="en-IN" sz="1600" i="1">
                            <a:latin typeface="Cambria Math" panose="02040503050406030204" pitchFamily="18" charset="0"/>
                          </a:rPr>
                          <m:t>𝐹</m:t>
                        </m:r>
                      </m:e>
                      <m:sub>
                        <m:r>
                          <a:rPr lang="en-IN" sz="1600" i="0">
                            <a:latin typeface="Cambria Math" panose="02040503050406030204" pitchFamily="18" charset="0"/>
                          </a:rPr>
                          <m:t>1</m:t>
                        </m:r>
                      </m:sub>
                    </m:sSub>
                    <m:r>
                      <a:rPr lang="en-IN" sz="1600" i="0">
                        <a:latin typeface="Cambria Math" panose="02040503050406030204" pitchFamily="18" charset="0"/>
                      </a:rPr>
                      <m:t>=0.45</m:t>
                    </m:r>
                  </m:oMath>
                </a14:m>
                <a:r>
                  <a:rPr lang="en-IN" sz="1600" dirty="0"/>
                  <a:t>).</a:t>
                </a:r>
              </a:p>
              <a:p>
                <a:pPr marL="342900" lvl="0" indent="-342900">
                  <a:buFont typeface="+mj-lt"/>
                  <a:buAutoNum type="arabicPeriod"/>
                </a:pPr>
                <a:r>
                  <a:rPr lang="en-IN" sz="1600" b="1" dirty="0"/>
                  <a:t>Substantial Lead-Time Extension:</a:t>
                </a:r>
                <a:r>
                  <a:rPr lang="en-IN" sz="1600" dirty="0"/>
                  <a:t> Machine learning models double to quintuple warning anticipation lead times (reaching </a:t>
                </a:r>
                <a:r>
                  <a:rPr lang="en-IN" sz="1600" b="1" dirty="0"/>
                  <a:t>10 hours</a:t>
                </a:r>
                <a:r>
                  <a:rPr lang="en-IN" sz="1600" dirty="0"/>
                  <a:t> at </a:t>
                </a:r>
                <a14:m>
                  <m:oMath xmlns:m="http://schemas.openxmlformats.org/officeDocument/2006/math">
                    <m:r>
                      <a:rPr lang="en-IN" sz="1600" i="1">
                        <a:latin typeface="Cambria Math" panose="02040503050406030204" pitchFamily="18" charset="0"/>
                      </a:rPr>
                      <m:t>𝐻</m:t>
                    </m:r>
                    <m:r>
                      <a:rPr lang="en-IN" sz="1600" i="0">
                        <a:latin typeface="Cambria Math" panose="02040503050406030204" pitchFamily="18" charset="0"/>
                      </a:rPr>
                      <m:t>=48</m:t>
                    </m:r>
                    <m:r>
                      <m:rPr>
                        <m:nor/>
                      </m:rPr>
                      <a:rPr lang="en-IN" sz="1600" b="0" i="0">
                        <a:latin typeface="Arial"/>
                      </a:rPr>
                      <m:t> h</m:t>
                    </m:r>
                  </m:oMath>
                </a14:m>
                <a:r>
                  <a:rPr lang="en-IN" sz="1600" dirty="0"/>
                  <a:t>).</a:t>
                </a:r>
              </a:p>
            </p:txBody>
          </p:sp>
        </mc:Choice>
        <mc:Fallback xmlns="">
          <p:sp>
            <p:nvSpPr>
              <p:cNvPr id="4" name="TextBox 3">
                <a:extLst>
                  <a:ext uri="{FF2B5EF4-FFF2-40B4-BE49-F238E27FC236}">
                    <a16:creationId xmlns:a16="http://schemas.microsoft.com/office/drawing/2014/main" id="{616D1C1F-16F1-1695-C5BB-77EB64F1365B}"/>
                  </a:ext>
                </a:extLst>
              </p:cNvPr>
              <p:cNvSpPr txBox="1">
                <a:spLocks noRot="1" noChangeAspect="1" noMove="1" noResize="1" noEditPoints="1" noAdjustHandles="1" noChangeArrowheads="1" noChangeShapeType="1" noTextEdit="1"/>
              </p:cNvSpPr>
              <p:nvPr/>
            </p:nvSpPr>
            <p:spPr>
              <a:xfrm>
                <a:off x="457200" y="1417638"/>
                <a:ext cx="8229600" cy="1815882"/>
              </a:xfrm>
              <a:prstGeom prst="rect">
                <a:avLst/>
              </a:prstGeom>
              <a:blipFill>
                <a:blip r:embed="rId3"/>
                <a:stretch>
                  <a:fillRect l="-370" t="-1010" b="-3704"/>
                </a:stretch>
              </a:blipFill>
            </p:spPr>
            <p:txBody>
              <a:bodyPr/>
              <a:lstStyle/>
              <a:p>
                <a:r>
                  <a:rPr lang="en-IN">
                    <a:noFill/>
                  </a:rPr>
                  <a:t> </a:t>
                </a:r>
              </a:p>
            </p:txBody>
          </p:sp>
        </mc:Fallback>
      </mc:AlternateContent>
      <p:pic>
        <p:nvPicPr>
          <p:cNvPr id="13" name="Picture 12">
            <a:extLst>
              <a:ext uri="{FF2B5EF4-FFF2-40B4-BE49-F238E27FC236}">
                <a16:creationId xmlns:a16="http://schemas.microsoft.com/office/drawing/2014/main" id="{B64D027F-BA38-0116-AB2B-27ABBDF3659F}"/>
              </a:ext>
            </a:extLst>
          </p:cNvPr>
          <p:cNvPicPr>
            <a:picLocks noChangeAspect="1"/>
          </p:cNvPicPr>
          <p:nvPr/>
        </p:nvPicPr>
        <p:blipFill>
          <a:blip r:embed="rId4"/>
          <a:stretch>
            <a:fillRect/>
          </a:stretch>
        </p:blipFill>
        <p:spPr>
          <a:xfrm>
            <a:off x="0" y="3542130"/>
            <a:ext cx="9144000" cy="2657176"/>
          </a:xfrm>
          <a:prstGeom prst="rect">
            <a:avLst/>
          </a:prstGeom>
        </p:spPr>
      </p:pic>
    </p:spTree>
    <p:extLst>
      <p:ext uri="{BB962C8B-B14F-4D97-AF65-F5344CB8AC3E}">
        <p14:creationId xmlns:p14="http://schemas.microsoft.com/office/powerpoint/2010/main" val="3547659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CF576DF6-C2D3-D567-CA91-A7E9DA4F63DD}"/>
            </a:ext>
          </a:extLst>
        </p:cNvPr>
        <p:cNvGrpSpPr/>
        <p:nvPr/>
      </p:nvGrpSpPr>
      <p:grpSpPr>
        <a:xfrm>
          <a:off x="0" y="0"/>
          <a:ext cx="0" cy="0"/>
          <a:chOff x="0" y="0"/>
          <a:chExt cx="0" cy="0"/>
        </a:xfrm>
      </p:grpSpPr>
      <p:sp>
        <p:nvSpPr>
          <p:cNvPr id="161" name="Google Shape;161;p12">
            <a:extLst>
              <a:ext uri="{FF2B5EF4-FFF2-40B4-BE49-F238E27FC236}">
                <a16:creationId xmlns:a16="http://schemas.microsoft.com/office/drawing/2014/main" id="{E0AC43D7-BD3D-FFBE-C4CD-C15AE9226120}"/>
              </a:ext>
            </a:extLst>
          </p:cNvPr>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fontScale="90000"/>
          </a:bodyPr>
          <a:lstStyle/>
          <a:p>
            <a:r>
              <a:rPr lang="en-US"/>
              <a:t>Results &amp; Discussion — Global Feature Importance (SHAP)</a:t>
            </a:r>
          </a:p>
        </p:txBody>
      </p:sp>
      <p:sp>
        <p:nvSpPr>
          <p:cNvPr id="163" name="Google Shape;163;p12">
            <a:extLst>
              <a:ext uri="{FF2B5EF4-FFF2-40B4-BE49-F238E27FC236}">
                <a16:creationId xmlns:a16="http://schemas.microsoft.com/office/drawing/2014/main" id="{6E512D12-2549-1FAD-0E2F-0E79137E838E}"/>
              </a:ext>
            </a:extLst>
          </p:cNvPr>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A667A24-FFF9-1AF6-DE82-04BF7D4BDE64}"/>
                  </a:ext>
                </a:extLst>
              </p:cNvPr>
              <p:cNvGraphicFramePr>
                <a:graphicFrameLocks noGrp="1"/>
              </p:cNvGraphicFramePr>
              <p:nvPr>
                <p:extLst>
                  <p:ext uri="{D42A27DB-BD31-4B8C-83A1-F6EECF244321}">
                    <p14:modId xmlns:p14="http://schemas.microsoft.com/office/powerpoint/2010/main" val="2733655236"/>
                  </p:ext>
                </p:extLst>
              </p:nvPr>
            </p:nvGraphicFramePr>
            <p:xfrm>
              <a:off x="457200" y="1733728"/>
              <a:ext cx="8229600" cy="4844607"/>
            </p:xfrm>
            <a:graphic>
              <a:graphicData uri="http://schemas.openxmlformats.org/drawingml/2006/table">
                <a:tbl>
                  <a:tblPr>
                    <a:tableStyleId>{F9BC6C1E-BED5-463D-9D9D-55BB47110D15}</a:tableStyleId>
                  </a:tblPr>
                  <a:tblGrid>
                    <a:gridCol w="1645920">
                      <a:extLst>
                        <a:ext uri="{9D8B030D-6E8A-4147-A177-3AD203B41FA5}">
                          <a16:colId xmlns:a16="http://schemas.microsoft.com/office/drawing/2014/main" val="1778528290"/>
                        </a:ext>
                      </a:extLst>
                    </a:gridCol>
                    <a:gridCol w="1645920">
                      <a:extLst>
                        <a:ext uri="{9D8B030D-6E8A-4147-A177-3AD203B41FA5}">
                          <a16:colId xmlns:a16="http://schemas.microsoft.com/office/drawing/2014/main" val="2827115471"/>
                        </a:ext>
                      </a:extLst>
                    </a:gridCol>
                    <a:gridCol w="1645920">
                      <a:extLst>
                        <a:ext uri="{9D8B030D-6E8A-4147-A177-3AD203B41FA5}">
                          <a16:colId xmlns:a16="http://schemas.microsoft.com/office/drawing/2014/main" val="4219005758"/>
                        </a:ext>
                      </a:extLst>
                    </a:gridCol>
                    <a:gridCol w="1645920">
                      <a:extLst>
                        <a:ext uri="{9D8B030D-6E8A-4147-A177-3AD203B41FA5}">
                          <a16:colId xmlns:a16="http://schemas.microsoft.com/office/drawing/2014/main" val="3808835286"/>
                        </a:ext>
                      </a:extLst>
                    </a:gridCol>
                    <a:gridCol w="1645920">
                      <a:extLst>
                        <a:ext uri="{9D8B030D-6E8A-4147-A177-3AD203B41FA5}">
                          <a16:colId xmlns:a16="http://schemas.microsoft.com/office/drawing/2014/main" val="3808554491"/>
                        </a:ext>
                      </a:extLst>
                    </a:gridCol>
                  </a:tblGrid>
                  <a:tr h="210226">
                    <a:tc>
                      <a:txBody>
                        <a:bodyPr/>
                        <a:lstStyle/>
                        <a:p>
                          <a:pPr>
                            <a:buNone/>
                          </a:pPr>
                          <a:r>
                            <a:rPr lang="en-IN" sz="1000" dirty="0"/>
                            <a:t>Rank</a:t>
                          </a:r>
                        </a:p>
                      </a:txBody>
                      <a:tcPr marL="37098" marR="37098" marT="18549" marB="18549" anchor="ctr"/>
                    </a:tc>
                    <a:tc>
                      <a:txBody>
                        <a:bodyPr/>
                        <a:lstStyle/>
                        <a:p>
                          <a:pPr>
                            <a:buNone/>
                          </a:pPr>
                          <a:r>
                            <a:rPr lang="en-IN" sz="1000"/>
                            <a:t>Feature Description</a:t>
                          </a:r>
                        </a:p>
                      </a:txBody>
                      <a:tcPr marL="37098" marR="37098" marT="18549" marB="18549" anchor="ctr"/>
                    </a:tc>
                    <a:tc>
                      <a:txBody>
                        <a:bodyPr/>
                        <a:lstStyle/>
                        <a:p>
                          <a:pPr>
                            <a:buNone/>
                          </a:pPr>
                          <a:r>
                            <a:rPr lang="en-IN" sz="1000"/>
                            <a:t>Modality</a:t>
                          </a:r>
                        </a:p>
                      </a:txBody>
                      <a:tcPr marL="37098" marR="37098" marT="18549" marB="18549" anchor="ctr"/>
                    </a:tc>
                    <a:tc>
                      <a:txBody>
                        <a:bodyPr/>
                        <a:lstStyle/>
                        <a:p>
                          <a:pPr>
                            <a:buNone/>
                          </a:pPr>
                          <a:r>
                            <a:rPr lang="en-IN" sz="1000"/>
                            <a:t>Mean SHAP Value</a:t>
                          </a:r>
                        </a:p>
                      </a:txBody>
                      <a:tcPr marL="37098" marR="37098" marT="18549" marB="18549" anchor="ctr"/>
                    </a:tc>
                    <a:tc>
                      <a:txBody>
                        <a:bodyPr/>
                        <a:lstStyle/>
                        <a:p>
                          <a:pPr>
                            <a:buNone/>
                          </a:pPr>
                          <a:r>
                            <a:rPr lang="en-IN" sz="1000"/>
                            <a:t>Biogeochemical Rationale</a:t>
                          </a:r>
                        </a:p>
                      </a:txBody>
                      <a:tcPr marL="37098" marR="37098" marT="18549" marB="18549" anchor="ctr"/>
                    </a:tc>
                    <a:extLst>
                      <a:ext uri="{0D108BD9-81ED-4DB2-BD59-A6C34878D82A}">
                        <a16:rowId xmlns:a16="http://schemas.microsoft.com/office/drawing/2014/main" val="74471075"/>
                      </a:ext>
                    </a:extLst>
                  </a:tr>
                  <a:tr h="614525">
                    <a:tc>
                      <a:txBody>
                        <a:bodyPr/>
                        <a:lstStyle/>
                        <a:p>
                          <a:pPr>
                            <a:buNone/>
                          </a:pPr>
                          <a:r>
                            <a:rPr lang="en-IN" sz="1000" dirty="0"/>
                            <a:t>1</a:t>
                          </a:r>
                        </a:p>
                      </a:txBody>
                      <a:tcPr marL="37098" marR="37098" marT="18549" marB="18549" anchor="ctr"/>
                    </a:tc>
                    <a:tc>
                      <a:txBody>
                        <a:bodyPr/>
                        <a:lstStyle/>
                        <a:p>
                          <a:pPr>
                            <a:buNone/>
                          </a:pPr>
                          <a:r>
                            <a:rPr lang="en-IN" sz="1000" dirty="0"/>
                            <a:t>DO 24 h Minimum</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1.19</a:t>
                          </a:r>
                        </a:p>
                      </a:txBody>
                      <a:tcPr marL="37098" marR="37098" marT="18549" marB="18549" anchor="ctr"/>
                    </a:tc>
                    <a:tc>
                      <a:txBody>
                        <a:bodyPr/>
                        <a:lstStyle/>
                        <a:p>
                          <a:pPr>
                            <a:buNone/>
                          </a:pPr>
                          <a:r>
                            <a:rPr lang="en-IN" sz="1000"/>
                            <a:t>Strongest predictor; measures proximity to hypoxia threshold over the last cycle.</a:t>
                          </a:r>
                        </a:p>
                      </a:txBody>
                      <a:tcPr marL="37098" marR="37098" marT="18549" marB="18549" anchor="ctr"/>
                    </a:tc>
                    <a:extLst>
                      <a:ext uri="{0D108BD9-81ED-4DB2-BD59-A6C34878D82A}">
                        <a16:rowId xmlns:a16="http://schemas.microsoft.com/office/drawing/2014/main" val="2049234146"/>
                      </a:ext>
                    </a:extLst>
                  </a:tr>
                  <a:tr h="384998">
                    <a:tc>
                      <a:txBody>
                        <a:bodyPr/>
                        <a:lstStyle/>
                        <a:p>
                          <a:pPr>
                            <a:buNone/>
                          </a:pPr>
                          <a:r>
                            <a:rPr lang="en-IN" sz="1000" dirty="0"/>
                            <a:t>2</a:t>
                          </a:r>
                        </a:p>
                      </a:txBody>
                      <a:tcPr marL="37098" marR="37098" marT="18549" marB="18549" anchor="ctr"/>
                    </a:tc>
                    <a:tc>
                      <a:txBody>
                        <a:bodyPr/>
                        <a:lstStyle/>
                        <a:p>
                          <a:pPr>
                            <a:buNone/>
                          </a:pPr>
                          <a:r>
                            <a:rPr lang="en-IN" sz="1000" dirty="0"/>
                            <a:t>DO 24 h Mean</a:t>
                          </a:r>
                        </a:p>
                      </a:txBody>
                      <a:tcPr marL="37098" marR="37098" marT="18549" marB="18549" anchor="ctr"/>
                    </a:tc>
                    <a:tc>
                      <a:txBody>
                        <a:bodyPr/>
                        <a:lstStyle/>
                        <a:p>
                          <a:pPr>
                            <a:buNone/>
                          </a:pPr>
                          <a:r>
                            <a:rPr lang="en-IN" sz="1000" dirty="0"/>
                            <a:t>Water</a:t>
                          </a:r>
                        </a:p>
                      </a:txBody>
                      <a:tcPr marL="37098" marR="37098" marT="18549" marB="18549" anchor="ctr"/>
                    </a:tc>
                    <a:tc>
                      <a:txBody>
                        <a:bodyPr/>
                        <a:lstStyle/>
                        <a:p>
                          <a:pPr>
                            <a:buNone/>
                          </a:pPr>
                          <a:r>
                            <a:rPr lang="en-IN" sz="1000" dirty="0"/>
                            <a:t>0.43</a:t>
                          </a:r>
                        </a:p>
                      </a:txBody>
                      <a:tcPr marL="37098" marR="37098" marT="18549" marB="18549" anchor="ctr"/>
                    </a:tc>
                    <a:tc>
                      <a:txBody>
                        <a:bodyPr/>
                        <a:lstStyle/>
                        <a:p>
                          <a:pPr>
                            <a:buNone/>
                          </a:pPr>
                          <a:r>
                            <a:rPr lang="en-IN" sz="1000"/>
                            <a:t>Represents the baseline oxygen reserve of the river section.</a:t>
                          </a:r>
                        </a:p>
                      </a:txBody>
                      <a:tcPr marL="37098" marR="37098" marT="18549" marB="18549" anchor="ctr"/>
                    </a:tc>
                    <a:extLst>
                      <a:ext uri="{0D108BD9-81ED-4DB2-BD59-A6C34878D82A}">
                        <a16:rowId xmlns:a16="http://schemas.microsoft.com/office/drawing/2014/main" val="3179342268"/>
                      </a:ext>
                    </a:extLst>
                  </a:tr>
                  <a:tr h="472384">
                    <a:tc>
                      <a:txBody>
                        <a:bodyPr/>
                        <a:lstStyle/>
                        <a:p>
                          <a:pPr>
                            <a:buNone/>
                          </a:pPr>
                          <a:r>
                            <a:rPr lang="en-IN" sz="1000" dirty="0"/>
                            <a:t>3</a:t>
                          </a:r>
                        </a:p>
                      </a:txBody>
                      <a:tcPr marL="37098" marR="37098" marT="18549" marB="18549" anchor="ctr"/>
                    </a:tc>
                    <a:tc>
                      <a:txBody>
                        <a:bodyPr/>
                        <a:lstStyle/>
                        <a:p>
                          <a:pPr>
                            <a:buNone/>
                          </a:pPr>
                          <a:r>
                            <a:rPr lang="en-IN" sz="1000" dirty="0"/>
                            <a:t>Day of Year</a:t>
                          </a:r>
                        </a:p>
                      </a:txBody>
                      <a:tcPr marL="37098" marR="37098" marT="18549" marB="18549" anchor="ctr"/>
                    </a:tc>
                    <a:tc>
                      <a:txBody>
                        <a:bodyPr/>
                        <a:lstStyle/>
                        <a:p>
                          <a:pPr>
                            <a:buNone/>
                          </a:pPr>
                          <a:r>
                            <a:rPr lang="en-IN" sz="1000" dirty="0"/>
                            <a:t>Temporal</a:t>
                          </a:r>
                        </a:p>
                      </a:txBody>
                      <a:tcPr marL="37098" marR="37098" marT="18549" marB="18549" anchor="ctr"/>
                    </a:tc>
                    <a:tc>
                      <a:txBody>
                        <a:bodyPr/>
                        <a:lstStyle/>
                        <a:p>
                          <a:pPr>
                            <a:buNone/>
                          </a:pPr>
                          <a:r>
                            <a:rPr lang="en-IN" sz="1000" dirty="0"/>
                            <a:t>0.43</a:t>
                          </a:r>
                        </a:p>
                      </a:txBody>
                      <a:tcPr marL="37098" marR="37098" marT="18549" marB="18549" anchor="ctr"/>
                    </a:tc>
                    <a:tc>
                      <a:txBody>
                        <a:bodyPr/>
                        <a:lstStyle/>
                        <a:p>
                          <a:pPr>
                            <a:buNone/>
                          </a:pPr>
                          <a:r>
                            <a:rPr lang="en-IN" sz="1000"/>
                            <a:t>Captures macro-seasonality (summer warmth reduces </a:t>
                          </a:r>
                          <a14:m>
                            <m:oMath xmlns:m="http://schemas.openxmlformats.org/officeDocument/2006/math">
                              <m:sSub>
                                <m:sSubPr>
                                  <m:ctrlPr>
                                    <a:rPr lang="en-IN" sz="1000" i="0"/>
                                  </m:ctrlPr>
                                </m:sSubPr>
                                <m:e>
                                  <m:r>
                                    <m:rPr>
                                      <m:nor/>
                                    </m:rPr>
                                    <a:rPr lang="en-IN" sz="1000" i="0"/>
                                    <m:t>O</m:t>
                                  </m:r>
                                </m:e>
                                <m:sub>
                                  <m:r>
                                    <a:rPr lang="en-IN" sz="1000">
                                      <a:latin typeface="Cambria Math" panose="02040503050406030204" pitchFamily="18" charset="0"/>
                                    </a:rPr>
                                    <m:t>2</m:t>
                                  </m:r>
                                </m:sub>
                              </m:sSub>
                            </m:oMath>
                          </a14:m>
                          <a:r>
                            <a:rPr lang="en-IN" sz="1000"/>
                            <a:t>saturation).</a:t>
                          </a:r>
                        </a:p>
                      </a:txBody>
                      <a:tcPr marL="37098" marR="37098" marT="18549" marB="18549" anchor="ctr"/>
                    </a:tc>
                    <a:extLst>
                      <a:ext uri="{0D108BD9-81ED-4DB2-BD59-A6C34878D82A}">
                        <a16:rowId xmlns:a16="http://schemas.microsoft.com/office/drawing/2014/main" val="3688646610"/>
                      </a:ext>
                    </a:extLst>
                  </a:tr>
                  <a:tr h="559770">
                    <a:tc>
                      <a:txBody>
                        <a:bodyPr/>
                        <a:lstStyle/>
                        <a:p>
                          <a:pPr>
                            <a:buNone/>
                          </a:pPr>
                          <a:r>
                            <a:rPr lang="en-IN" sz="1000" dirty="0"/>
                            <a:t>4</a:t>
                          </a:r>
                        </a:p>
                      </a:txBody>
                      <a:tcPr marL="37098" marR="37098" marT="18549" marB="18549" anchor="ctr"/>
                    </a:tc>
                    <a:tc>
                      <a:txBody>
                        <a:bodyPr/>
                        <a:lstStyle/>
                        <a:p>
                          <a:pPr>
                            <a:buNone/>
                          </a:pPr>
                          <a:r>
                            <a:rPr lang="en-IN" sz="1000" dirty="0"/>
                            <a:t>pH 24 h Maximum</a:t>
                          </a:r>
                        </a:p>
                      </a:txBody>
                      <a:tcPr marL="37098" marR="37098" marT="18549" marB="18549" anchor="ctr"/>
                    </a:tc>
                    <a:tc>
                      <a:txBody>
                        <a:bodyPr/>
                        <a:lstStyle/>
                        <a:p>
                          <a:pPr>
                            <a:buNone/>
                          </a:pPr>
                          <a:r>
                            <a:rPr lang="en-IN" sz="1000" dirty="0"/>
                            <a:t>Water</a:t>
                          </a:r>
                        </a:p>
                      </a:txBody>
                      <a:tcPr marL="37098" marR="37098" marT="18549" marB="18549" anchor="ctr"/>
                    </a:tc>
                    <a:tc>
                      <a:txBody>
                        <a:bodyPr/>
                        <a:lstStyle/>
                        <a:p>
                          <a:pPr>
                            <a:buNone/>
                          </a:pPr>
                          <a:r>
                            <a:rPr lang="en-IN" sz="1000" dirty="0"/>
                            <a:t>0.37</a:t>
                          </a:r>
                        </a:p>
                      </a:txBody>
                      <a:tcPr marL="37098" marR="37098" marT="18549" marB="18549" anchor="ctr"/>
                    </a:tc>
                    <a:tc>
                      <a:txBody>
                        <a:bodyPr/>
                        <a:lstStyle/>
                        <a:p>
                          <a:pPr>
                            <a:buNone/>
                          </a:pPr>
                          <a:r>
                            <a:rPr lang="en-IN" sz="1000"/>
                            <a:t>Correlates with algal photosynthetic activity and respiration loading.</a:t>
                          </a:r>
                        </a:p>
                      </a:txBody>
                      <a:tcPr marL="37098" marR="37098" marT="18549" marB="18549" anchor="ctr"/>
                    </a:tc>
                    <a:extLst>
                      <a:ext uri="{0D108BD9-81ED-4DB2-BD59-A6C34878D82A}">
                        <a16:rowId xmlns:a16="http://schemas.microsoft.com/office/drawing/2014/main" val="1875453332"/>
                      </a:ext>
                    </a:extLst>
                  </a:tr>
                  <a:tr h="472384">
                    <a:tc>
                      <a:txBody>
                        <a:bodyPr/>
                        <a:lstStyle/>
                        <a:p>
                          <a:pPr>
                            <a:buNone/>
                          </a:pPr>
                          <a:r>
                            <a:rPr lang="en-IN" sz="1000" dirty="0"/>
                            <a:t>5</a:t>
                          </a:r>
                        </a:p>
                      </a:txBody>
                      <a:tcPr marL="37098" marR="37098" marT="18549" marB="18549" anchor="ctr"/>
                    </a:tc>
                    <a:tc>
                      <a:txBody>
                        <a:bodyPr/>
                        <a:lstStyle/>
                        <a:p>
                          <a:pPr>
                            <a:buNone/>
                          </a:pPr>
                          <a:r>
                            <a:rPr lang="en-IN" sz="1000" dirty="0"/>
                            <a:t>Conductivity 24 h Variability</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0.33</a:t>
                          </a:r>
                        </a:p>
                      </a:txBody>
                      <a:tcPr marL="37098" marR="37098" marT="18549" marB="18549" anchor="ctr"/>
                    </a:tc>
                    <a:tc>
                      <a:txBody>
                        <a:bodyPr/>
                        <a:lstStyle/>
                        <a:p>
                          <a:pPr>
                            <a:buNone/>
                          </a:pPr>
                          <a:r>
                            <a:rPr lang="en-IN" sz="1000"/>
                            <a:t>Flags sudden runoff pulses, urban drainage, and wastewater influx.</a:t>
                          </a:r>
                        </a:p>
                      </a:txBody>
                      <a:tcPr marL="37098" marR="37098" marT="18549" marB="18549" anchor="ctr"/>
                    </a:tc>
                    <a:extLst>
                      <a:ext uri="{0D108BD9-81ED-4DB2-BD59-A6C34878D82A}">
                        <a16:rowId xmlns:a16="http://schemas.microsoft.com/office/drawing/2014/main" val="561157901"/>
                      </a:ext>
                    </a:extLst>
                  </a:tr>
                  <a:tr h="472384">
                    <a:tc>
                      <a:txBody>
                        <a:bodyPr/>
                        <a:lstStyle/>
                        <a:p>
                          <a:pPr>
                            <a:buNone/>
                          </a:pPr>
                          <a:r>
                            <a:rPr lang="en-IN" sz="1000"/>
                            <a:t>6</a:t>
                          </a:r>
                        </a:p>
                      </a:txBody>
                      <a:tcPr marL="37098" marR="37098" marT="18549" marB="18549" anchor="ctr"/>
                    </a:tc>
                    <a:tc>
                      <a:txBody>
                        <a:bodyPr/>
                        <a:lstStyle/>
                        <a:p>
                          <a:pPr>
                            <a:buNone/>
                          </a:pPr>
                          <a:r>
                            <a:rPr lang="en-IN" sz="1000"/>
                            <a:t>DO Daily Diurnal Swing</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0.33</a:t>
                          </a:r>
                        </a:p>
                      </a:txBody>
                      <a:tcPr marL="37098" marR="37098" marT="18549" marB="18549" anchor="ctr"/>
                    </a:tc>
                    <a:tc>
                      <a:txBody>
                        <a:bodyPr/>
                        <a:lstStyle/>
                        <a:p>
                          <a:pPr>
                            <a:buNone/>
                          </a:pPr>
                          <a:r>
                            <a:rPr lang="en-IN" sz="1000" dirty="0"/>
                            <a:t>Amplitude (</a:t>
                          </a:r>
                          <a14:m>
                            <m:oMath xmlns:m="http://schemas.openxmlformats.org/officeDocument/2006/math">
                              <m:sSub>
                                <m:sSubPr>
                                  <m:ctrlPr>
                                    <a:rPr lang="en-IN" sz="1000" i="0"/>
                                  </m:ctrlPr>
                                </m:sSubPr>
                                <m:e>
                                  <m:r>
                                    <m:rPr>
                                      <m:nor/>
                                    </m:rPr>
                                    <a:rPr lang="en-IN" sz="1000" i="0"/>
                                    <m:t>DO</m:t>
                                  </m:r>
                                </m:e>
                                <m:sub>
                                  <m:r>
                                    <m:rPr>
                                      <m:sty m:val="p"/>
                                    </m:rPr>
                                    <a:rPr lang="en-IN" sz="1000">
                                      <a:latin typeface="Cambria Math" panose="02040503050406030204" pitchFamily="18" charset="0"/>
                                    </a:rPr>
                                    <m:t>max</m:t>
                                  </m:r>
                                </m:sub>
                              </m:sSub>
                              <m:r>
                                <a:rPr lang="en-IN" sz="1000">
                                  <a:latin typeface="Cambria Math" panose="02040503050406030204" pitchFamily="18" charset="0"/>
                                </a:rPr>
                                <m:t>−</m:t>
                              </m:r>
                              <m:sSub>
                                <m:sSubPr>
                                  <m:ctrlPr>
                                    <a:rPr lang="en-IN" sz="1000" i="0"/>
                                  </m:ctrlPr>
                                </m:sSubPr>
                                <m:e>
                                  <m:r>
                                    <m:rPr>
                                      <m:nor/>
                                    </m:rPr>
                                    <a:rPr lang="en-IN" sz="1000" i="0"/>
                                    <m:t>DO</m:t>
                                  </m:r>
                                </m:e>
                                <m:sub>
                                  <m:r>
                                    <m:rPr>
                                      <m:sty m:val="p"/>
                                    </m:rPr>
                                    <a:rPr lang="en-IN" sz="1000">
                                      <a:latin typeface="Cambria Math" panose="02040503050406030204" pitchFamily="18" charset="0"/>
                                    </a:rPr>
                                    <m:t>min</m:t>
                                  </m:r>
                                </m:sub>
                              </m:sSub>
                            </m:oMath>
                          </a14:m>
                          <a:r>
                            <a:rPr lang="en-IN" sz="1000" dirty="0"/>
                            <a:t>) measures eutrophication intensity.</a:t>
                          </a:r>
                        </a:p>
                      </a:txBody>
                      <a:tcPr marL="37098" marR="37098" marT="18549" marB="18549" anchor="ctr"/>
                    </a:tc>
                    <a:extLst>
                      <a:ext uri="{0D108BD9-81ED-4DB2-BD59-A6C34878D82A}">
                        <a16:rowId xmlns:a16="http://schemas.microsoft.com/office/drawing/2014/main" val="4008246202"/>
                      </a:ext>
                    </a:extLst>
                  </a:tr>
                  <a:tr h="384998">
                    <a:tc>
                      <a:txBody>
                        <a:bodyPr/>
                        <a:lstStyle/>
                        <a:p>
                          <a:pPr>
                            <a:buNone/>
                          </a:pPr>
                          <a:r>
                            <a:rPr lang="en-IN" sz="1000"/>
                            <a:t>7</a:t>
                          </a:r>
                        </a:p>
                      </a:txBody>
                      <a:tcPr marL="37098" marR="37098" marT="18549" marB="18549" anchor="ctr"/>
                    </a:tc>
                    <a:tc>
                      <a:txBody>
                        <a:bodyPr/>
                        <a:lstStyle/>
                        <a:p>
                          <a:pPr>
                            <a:buNone/>
                          </a:pPr>
                          <a:r>
                            <a:rPr lang="en-IN" sz="1000"/>
                            <a:t>Water Temp Change (24 h)</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0.29</a:t>
                          </a:r>
                        </a:p>
                      </a:txBody>
                      <a:tcPr marL="37098" marR="37098" marT="18549" marB="18549" anchor="ctr"/>
                    </a:tc>
                    <a:tc>
                      <a:txBody>
                        <a:bodyPr/>
                        <a:lstStyle/>
                        <a:p>
                          <a:pPr>
                            <a:buNone/>
                          </a:pPr>
                          <a:r>
                            <a:rPr lang="en-IN" sz="1000" dirty="0"/>
                            <a:t>Thermal warming directly lowers physical oxygen solubility.</a:t>
                          </a:r>
                        </a:p>
                      </a:txBody>
                      <a:tcPr marL="37098" marR="37098" marT="18549" marB="18549" anchor="ctr"/>
                    </a:tc>
                    <a:extLst>
                      <a:ext uri="{0D108BD9-81ED-4DB2-BD59-A6C34878D82A}">
                        <a16:rowId xmlns:a16="http://schemas.microsoft.com/office/drawing/2014/main" val="2198441739"/>
                      </a:ext>
                    </a:extLst>
                  </a:tr>
                  <a:tr h="472384">
                    <a:tc>
                      <a:txBody>
                        <a:bodyPr/>
                        <a:lstStyle/>
                        <a:p>
                          <a:pPr>
                            <a:buNone/>
                          </a:pPr>
                          <a:r>
                            <a:rPr lang="en-IN" sz="1000"/>
                            <a:t>8</a:t>
                          </a:r>
                        </a:p>
                      </a:txBody>
                      <a:tcPr marL="37098" marR="37098" marT="18549" marB="18549" anchor="ctr"/>
                    </a:tc>
                    <a:tc>
                      <a:txBody>
                        <a:bodyPr/>
                        <a:lstStyle/>
                        <a:p>
                          <a:pPr>
                            <a:buNone/>
                          </a:pPr>
                          <a:r>
                            <a:rPr lang="en-IN" sz="1000"/>
                            <a:t>Hours Since DO &lt; 5.0 mg/L</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0.27</a:t>
                          </a:r>
                        </a:p>
                      </a:txBody>
                      <a:tcPr marL="37098" marR="37098" marT="18549" marB="18549" anchor="ctr"/>
                    </a:tc>
                    <a:tc>
                      <a:txBody>
                        <a:bodyPr/>
                        <a:lstStyle/>
                        <a:p>
                          <a:pPr>
                            <a:buNone/>
                          </a:pPr>
                          <a:r>
                            <a:rPr lang="en-IN" sz="1000" dirty="0"/>
                            <a:t>Encodes temporal proximity to previous destabilization events.</a:t>
                          </a:r>
                        </a:p>
                      </a:txBody>
                      <a:tcPr marL="37098" marR="37098" marT="18549" marB="18549" anchor="ctr"/>
                    </a:tc>
                    <a:extLst>
                      <a:ext uri="{0D108BD9-81ED-4DB2-BD59-A6C34878D82A}">
                        <a16:rowId xmlns:a16="http://schemas.microsoft.com/office/drawing/2014/main" val="1203237972"/>
                      </a:ext>
                    </a:extLst>
                  </a:tr>
                  <a:tr h="472384">
                    <a:tc>
                      <a:txBody>
                        <a:bodyPr/>
                        <a:lstStyle/>
                        <a:p>
                          <a:pPr>
                            <a:buNone/>
                          </a:pPr>
                          <a:r>
                            <a:rPr lang="en-IN" sz="1000"/>
                            <a:t>9</a:t>
                          </a:r>
                        </a:p>
                      </a:txBody>
                      <a:tcPr marL="37098" marR="37098" marT="18549" marB="18549" anchor="ctr"/>
                    </a:tc>
                    <a:tc>
                      <a:txBody>
                        <a:bodyPr/>
                        <a:lstStyle/>
                        <a:p>
                          <a:pPr>
                            <a:buNone/>
                          </a:pPr>
                          <a:r>
                            <a:rPr lang="en-IN" sz="1000"/>
                            <a:t>Turbidity 24 h Maximum</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0.26</a:t>
                          </a:r>
                        </a:p>
                      </a:txBody>
                      <a:tcPr marL="37098" marR="37098" marT="18549" marB="18549" anchor="ctr"/>
                    </a:tc>
                    <a:tc>
                      <a:txBody>
                        <a:bodyPr/>
                        <a:lstStyle/>
                        <a:p>
                          <a:pPr>
                            <a:buNone/>
                          </a:pPr>
                          <a:r>
                            <a:rPr lang="en-IN" sz="1000" dirty="0"/>
                            <a:t>Suspended solids impede sunlight penetration, inhibiting photosynthesis.</a:t>
                          </a:r>
                        </a:p>
                      </a:txBody>
                      <a:tcPr marL="37098" marR="37098" marT="18549" marB="18549" anchor="ctr"/>
                    </a:tc>
                    <a:extLst>
                      <a:ext uri="{0D108BD9-81ED-4DB2-BD59-A6C34878D82A}">
                        <a16:rowId xmlns:a16="http://schemas.microsoft.com/office/drawing/2014/main" val="3955847413"/>
                      </a:ext>
                    </a:extLst>
                  </a:tr>
                </a:tbl>
              </a:graphicData>
            </a:graphic>
          </p:graphicFrame>
        </mc:Choice>
        <mc:Fallback xmlns="">
          <p:graphicFrame>
            <p:nvGraphicFramePr>
              <p:cNvPr id="2" name="Table 1">
                <a:extLst>
                  <a:ext uri="{FF2B5EF4-FFF2-40B4-BE49-F238E27FC236}">
                    <a16:creationId xmlns:a16="http://schemas.microsoft.com/office/drawing/2014/main" id="{9A667A24-FFF9-1AF6-DE82-04BF7D4BDE64}"/>
                  </a:ext>
                </a:extLst>
              </p:cNvPr>
              <p:cNvGraphicFramePr>
                <a:graphicFrameLocks noGrp="1"/>
              </p:cNvGraphicFramePr>
              <p:nvPr>
                <p:extLst>
                  <p:ext uri="{D42A27DB-BD31-4B8C-83A1-F6EECF244321}">
                    <p14:modId xmlns:p14="http://schemas.microsoft.com/office/powerpoint/2010/main" val="2733655236"/>
                  </p:ext>
                </p:extLst>
              </p:nvPr>
            </p:nvGraphicFramePr>
            <p:xfrm>
              <a:off x="457200" y="1733728"/>
              <a:ext cx="8229600" cy="4844607"/>
            </p:xfrm>
            <a:graphic>
              <a:graphicData uri="http://schemas.openxmlformats.org/drawingml/2006/table">
                <a:tbl>
                  <a:tblPr>
                    <a:tableStyleId>{F9BC6C1E-BED5-463D-9D9D-55BB47110D15}</a:tableStyleId>
                  </a:tblPr>
                  <a:tblGrid>
                    <a:gridCol w="1645920">
                      <a:extLst>
                        <a:ext uri="{9D8B030D-6E8A-4147-A177-3AD203B41FA5}">
                          <a16:colId xmlns:a16="http://schemas.microsoft.com/office/drawing/2014/main" val="1778528290"/>
                        </a:ext>
                      </a:extLst>
                    </a:gridCol>
                    <a:gridCol w="1645920">
                      <a:extLst>
                        <a:ext uri="{9D8B030D-6E8A-4147-A177-3AD203B41FA5}">
                          <a16:colId xmlns:a16="http://schemas.microsoft.com/office/drawing/2014/main" val="2827115471"/>
                        </a:ext>
                      </a:extLst>
                    </a:gridCol>
                    <a:gridCol w="1645920">
                      <a:extLst>
                        <a:ext uri="{9D8B030D-6E8A-4147-A177-3AD203B41FA5}">
                          <a16:colId xmlns:a16="http://schemas.microsoft.com/office/drawing/2014/main" val="4219005758"/>
                        </a:ext>
                      </a:extLst>
                    </a:gridCol>
                    <a:gridCol w="1645920">
                      <a:extLst>
                        <a:ext uri="{9D8B030D-6E8A-4147-A177-3AD203B41FA5}">
                          <a16:colId xmlns:a16="http://schemas.microsoft.com/office/drawing/2014/main" val="3808835286"/>
                        </a:ext>
                      </a:extLst>
                    </a:gridCol>
                    <a:gridCol w="1645920">
                      <a:extLst>
                        <a:ext uri="{9D8B030D-6E8A-4147-A177-3AD203B41FA5}">
                          <a16:colId xmlns:a16="http://schemas.microsoft.com/office/drawing/2014/main" val="3808554491"/>
                        </a:ext>
                      </a:extLst>
                    </a:gridCol>
                  </a:tblGrid>
                  <a:tr h="210226">
                    <a:tc>
                      <a:txBody>
                        <a:bodyPr/>
                        <a:lstStyle/>
                        <a:p>
                          <a:pPr>
                            <a:buNone/>
                          </a:pPr>
                          <a:r>
                            <a:rPr lang="en-IN" sz="1000" dirty="0"/>
                            <a:t>Rank</a:t>
                          </a:r>
                        </a:p>
                      </a:txBody>
                      <a:tcPr marL="37098" marR="37098" marT="18549" marB="18549" anchor="ctr"/>
                    </a:tc>
                    <a:tc>
                      <a:txBody>
                        <a:bodyPr/>
                        <a:lstStyle/>
                        <a:p>
                          <a:pPr>
                            <a:buNone/>
                          </a:pPr>
                          <a:r>
                            <a:rPr lang="en-IN" sz="1000"/>
                            <a:t>Feature Description</a:t>
                          </a:r>
                        </a:p>
                      </a:txBody>
                      <a:tcPr marL="37098" marR="37098" marT="18549" marB="18549" anchor="ctr"/>
                    </a:tc>
                    <a:tc>
                      <a:txBody>
                        <a:bodyPr/>
                        <a:lstStyle/>
                        <a:p>
                          <a:pPr>
                            <a:buNone/>
                          </a:pPr>
                          <a:r>
                            <a:rPr lang="en-IN" sz="1000"/>
                            <a:t>Modality</a:t>
                          </a:r>
                        </a:p>
                      </a:txBody>
                      <a:tcPr marL="37098" marR="37098" marT="18549" marB="18549" anchor="ctr"/>
                    </a:tc>
                    <a:tc>
                      <a:txBody>
                        <a:bodyPr/>
                        <a:lstStyle/>
                        <a:p>
                          <a:pPr>
                            <a:buNone/>
                          </a:pPr>
                          <a:r>
                            <a:rPr lang="en-IN" sz="1000"/>
                            <a:t>Mean SHAP Value</a:t>
                          </a:r>
                        </a:p>
                      </a:txBody>
                      <a:tcPr marL="37098" marR="37098" marT="18549" marB="18549" anchor="ctr"/>
                    </a:tc>
                    <a:tc>
                      <a:txBody>
                        <a:bodyPr/>
                        <a:lstStyle/>
                        <a:p>
                          <a:pPr>
                            <a:buNone/>
                          </a:pPr>
                          <a:r>
                            <a:rPr lang="en-IN" sz="1000"/>
                            <a:t>Biogeochemical Rationale</a:t>
                          </a:r>
                        </a:p>
                      </a:txBody>
                      <a:tcPr marL="37098" marR="37098" marT="18549" marB="18549" anchor="ctr"/>
                    </a:tc>
                    <a:extLst>
                      <a:ext uri="{0D108BD9-81ED-4DB2-BD59-A6C34878D82A}">
                        <a16:rowId xmlns:a16="http://schemas.microsoft.com/office/drawing/2014/main" val="74471075"/>
                      </a:ext>
                    </a:extLst>
                  </a:tr>
                  <a:tr h="614525">
                    <a:tc>
                      <a:txBody>
                        <a:bodyPr/>
                        <a:lstStyle/>
                        <a:p>
                          <a:pPr>
                            <a:buNone/>
                          </a:pPr>
                          <a:r>
                            <a:rPr lang="en-IN" sz="1000" dirty="0"/>
                            <a:t>1</a:t>
                          </a:r>
                        </a:p>
                      </a:txBody>
                      <a:tcPr marL="37098" marR="37098" marT="18549" marB="18549" anchor="ctr"/>
                    </a:tc>
                    <a:tc>
                      <a:txBody>
                        <a:bodyPr/>
                        <a:lstStyle/>
                        <a:p>
                          <a:pPr>
                            <a:buNone/>
                          </a:pPr>
                          <a:r>
                            <a:rPr lang="en-IN" sz="1000" dirty="0"/>
                            <a:t>DO 24 h Minimum</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1.19</a:t>
                          </a:r>
                        </a:p>
                      </a:txBody>
                      <a:tcPr marL="37098" marR="37098" marT="18549" marB="18549" anchor="ctr"/>
                    </a:tc>
                    <a:tc>
                      <a:txBody>
                        <a:bodyPr/>
                        <a:lstStyle/>
                        <a:p>
                          <a:pPr>
                            <a:buNone/>
                          </a:pPr>
                          <a:r>
                            <a:rPr lang="en-IN" sz="1000"/>
                            <a:t>Strongest predictor; measures proximity to hypoxia threshold over the last cycle.</a:t>
                          </a:r>
                        </a:p>
                      </a:txBody>
                      <a:tcPr marL="37098" marR="37098" marT="18549" marB="18549" anchor="ctr"/>
                    </a:tc>
                    <a:extLst>
                      <a:ext uri="{0D108BD9-81ED-4DB2-BD59-A6C34878D82A}">
                        <a16:rowId xmlns:a16="http://schemas.microsoft.com/office/drawing/2014/main" val="2049234146"/>
                      </a:ext>
                    </a:extLst>
                  </a:tr>
                  <a:tr h="494298">
                    <a:tc>
                      <a:txBody>
                        <a:bodyPr/>
                        <a:lstStyle/>
                        <a:p>
                          <a:pPr>
                            <a:buNone/>
                          </a:pPr>
                          <a:r>
                            <a:rPr lang="en-IN" sz="1000" dirty="0"/>
                            <a:t>2</a:t>
                          </a:r>
                        </a:p>
                      </a:txBody>
                      <a:tcPr marL="37098" marR="37098" marT="18549" marB="18549" anchor="ctr"/>
                    </a:tc>
                    <a:tc>
                      <a:txBody>
                        <a:bodyPr/>
                        <a:lstStyle/>
                        <a:p>
                          <a:pPr>
                            <a:buNone/>
                          </a:pPr>
                          <a:r>
                            <a:rPr lang="en-IN" sz="1000" dirty="0"/>
                            <a:t>DO 24 h Mean</a:t>
                          </a:r>
                        </a:p>
                      </a:txBody>
                      <a:tcPr marL="37098" marR="37098" marT="18549" marB="18549" anchor="ctr"/>
                    </a:tc>
                    <a:tc>
                      <a:txBody>
                        <a:bodyPr/>
                        <a:lstStyle/>
                        <a:p>
                          <a:pPr>
                            <a:buNone/>
                          </a:pPr>
                          <a:r>
                            <a:rPr lang="en-IN" sz="1000" dirty="0"/>
                            <a:t>Water</a:t>
                          </a:r>
                        </a:p>
                      </a:txBody>
                      <a:tcPr marL="37098" marR="37098" marT="18549" marB="18549" anchor="ctr"/>
                    </a:tc>
                    <a:tc>
                      <a:txBody>
                        <a:bodyPr/>
                        <a:lstStyle/>
                        <a:p>
                          <a:pPr>
                            <a:buNone/>
                          </a:pPr>
                          <a:r>
                            <a:rPr lang="en-IN" sz="1000" dirty="0"/>
                            <a:t>0.43</a:t>
                          </a:r>
                        </a:p>
                      </a:txBody>
                      <a:tcPr marL="37098" marR="37098" marT="18549" marB="18549" anchor="ctr"/>
                    </a:tc>
                    <a:tc>
                      <a:txBody>
                        <a:bodyPr/>
                        <a:lstStyle/>
                        <a:p>
                          <a:pPr>
                            <a:buNone/>
                          </a:pPr>
                          <a:r>
                            <a:rPr lang="en-IN" sz="1000"/>
                            <a:t>Represents the baseline oxygen reserve of the river section.</a:t>
                          </a:r>
                        </a:p>
                      </a:txBody>
                      <a:tcPr marL="37098" marR="37098" marT="18549" marB="18549" anchor="ctr"/>
                    </a:tc>
                    <a:extLst>
                      <a:ext uri="{0D108BD9-81ED-4DB2-BD59-A6C34878D82A}">
                        <a16:rowId xmlns:a16="http://schemas.microsoft.com/office/drawing/2014/main" val="3179342268"/>
                      </a:ext>
                    </a:extLst>
                  </a:tr>
                  <a:tr h="494298">
                    <a:tc>
                      <a:txBody>
                        <a:bodyPr/>
                        <a:lstStyle/>
                        <a:p>
                          <a:pPr>
                            <a:buNone/>
                          </a:pPr>
                          <a:r>
                            <a:rPr lang="en-IN" sz="1000" dirty="0"/>
                            <a:t>3</a:t>
                          </a:r>
                        </a:p>
                      </a:txBody>
                      <a:tcPr marL="37098" marR="37098" marT="18549" marB="18549" anchor="ctr"/>
                    </a:tc>
                    <a:tc>
                      <a:txBody>
                        <a:bodyPr/>
                        <a:lstStyle/>
                        <a:p>
                          <a:pPr>
                            <a:buNone/>
                          </a:pPr>
                          <a:r>
                            <a:rPr lang="en-IN" sz="1000" dirty="0"/>
                            <a:t>Day of Year</a:t>
                          </a:r>
                        </a:p>
                      </a:txBody>
                      <a:tcPr marL="37098" marR="37098" marT="18549" marB="18549" anchor="ctr"/>
                    </a:tc>
                    <a:tc>
                      <a:txBody>
                        <a:bodyPr/>
                        <a:lstStyle/>
                        <a:p>
                          <a:pPr>
                            <a:buNone/>
                          </a:pPr>
                          <a:r>
                            <a:rPr lang="en-IN" sz="1000" dirty="0"/>
                            <a:t>Temporal</a:t>
                          </a:r>
                        </a:p>
                      </a:txBody>
                      <a:tcPr marL="37098" marR="37098" marT="18549" marB="18549" anchor="ctr"/>
                    </a:tc>
                    <a:tc>
                      <a:txBody>
                        <a:bodyPr/>
                        <a:lstStyle/>
                        <a:p>
                          <a:pPr>
                            <a:buNone/>
                          </a:pPr>
                          <a:r>
                            <a:rPr lang="en-IN" sz="1000" dirty="0"/>
                            <a:t>0.43</a:t>
                          </a:r>
                        </a:p>
                      </a:txBody>
                      <a:tcPr marL="37098" marR="37098" marT="18549" marB="18549" anchor="ctr"/>
                    </a:tc>
                    <a:tc>
                      <a:txBody>
                        <a:bodyPr/>
                        <a:lstStyle/>
                        <a:p>
                          <a:endParaRPr lang="en-US"/>
                        </a:p>
                      </a:txBody>
                      <a:tcPr marL="37098" marR="37098" marT="18549" marB="18549" anchor="ctr">
                        <a:blipFill>
                          <a:blip r:embed="rId3"/>
                          <a:stretch>
                            <a:fillRect l="-400741" t="-269136" r="-1111" b="-627160"/>
                          </a:stretch>
                        </a:blipFill>
                      </a:tcPr>
                    </a:tc>
                    <a:extLst>
                      <a:ext uri="{0D108BD9-81ED-4DB2-BD59-A6C34878D82A}">
                        <a16:rowId xmlns:a16="http://schemas.microsoft.com/office/drawing/2014/main" val="3688646610"/>
                      </a:ext>
                    </a:extLst>
                  </a:tr>
                  <a:tr h="559770">
                    <a:tc>
                      <a:txBody>
                        <a:bodyPr/>
                        <a:lstStyle/>
                        <a:p>
                          <a:pPr>
                            <a:buNone/>
                          </a:pPr>
                          <a:r>
                            <a:rPr lang="en-IN" sz="1000" dirty="0"/>
                            <a:t>4</a:t>
                          </a:r>
                        </a:p>
                      </a:txBody>
                      <a:tcPr marL="37098" marR="37098" marT="18549" marB="18549" anchor="ctr"/>
                    </a:tc>
                    <a:tc>
                      <a:txBody>
                        <a:bodyPr/>
                        <a:lstStyle/>
                        <a:p>
                          <a:pPr>
                            <a:buNone/>
                          </a:pPr>
                          <a:r>
                            <a:rPr lang="en-IN" sz="1000" dirty="0"/>
                            <a:t>pH 24 h Maximum</a:t>
                          </a:r>
                        </a:p>
                      </a:txBody>
                      <a:tcPr marL="37098" marR="37098" marT="18549" marB="18549" anchor="ctr"/>
                    </a:tc>
                    <a:tc>
                      <a:txBody>
                        <a:bodyPr/>
                        <a:lstStyle/>
                        <a:p>
                          <a:pPr>
                            <a:buNone/>
                          </a:pPr>
                          <a:r>
                            <a:rPr lang="en-IN" sz="1000" dirty="0"/>
                            <a:t>Water</a:t>
                          </a:r>
                        </a:p>
                      </a:txBody>
                      <a:tcPr marL="37098" marR="37098" marT="18549" marB="18549" anchor="ctr"/>
                    </a:tc>
                    <a:tc>
                      <a:txBody>
                        <a:bodyPr/>
                        <a:lstStyle/>
                        <a:p>
                          <a:pPr>
                            <a:buNone/>
                          </a:pPr>
                          <a:r>
                            <a:rPr lang="en-IN" sz="1000" dirty="0"/>
                            <a:t>0.37</a:t>
                          </a:r>
                        </a:p>
                      </a:txBody>
                      <a:tcPr marL="37098" marR="37098" marT="18549" marB="18549" anchor="ctr"/>
                    </a:tc>
                    <a:tc>
                      <a:txBody>
                        <a:bodyPr/>
                        <a:lstStyle/>
                        <a:p>
                          <a:pPr>
                            <a:buNone/>
                          </a:pPr>
                          <a:r>
                            <a:rPr lang="en-IN" sz="1000"/>
                            <a:t>Correlates with algal photosynthetic activity and respiration loading.</a:t>
                          </a:r>
                        </a:p>
                      </a:txBody>
                      <a:tcPr marL="37098" marR="37098" marT="18549" marB="18549" anchor="ctr"/>
                    </a:tc>
                    <a:extLst>
                      <a:ext uri="{0D108BD9-81ED-4DB2-BD59-A6C34878D82A}">
                        <a16:rowId xmlns:a16="http://schemas.microsoft.com/office/drawing/2014/main" val="1875453332"/>
                      </a:ext>
                    </a:extLst>
                  </a:tr>
                  <a:tr h="494298">
                    <a:tc>
                      <a:txBody>
                        <a:bodyPr/>
                        <a:lstStyle/>
                        <a:p>
                          <a:pPr>
                            <a:buNone/>
                          </a:pPr>
                          <a:r>
                            <a:rPr lang="en-IN" sz="1000" dirty="0"/>
                            <a:t>5</a:t>
                          </a:r>
                        </a:p>
                      </a:txBody>
                      <a:tcPr marL="37098" marR="37098" marT="18549" marB="18549" anchor="ctr"/>
                    </a:tc>
                    <a:tc>
                      <a:txBody>
                        <a:bodyPr/>
                        <a:lstStyle/>
                        <a:p>
                          <a:pPr>
                            <a:buNone/>
                          </a:pPr>
                          <a:r>
                            <a:rPr lang="en-IN" sz="1000" dirty="0"/>
                            <a:t>Conductivity 24 h Variability</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0.33</a:t>
                          </a:r>
                        </a:p>
                      </a:txBody>
                      <a:tcPr marL="37098" marR="37098" marT="18549" marB="18549" anchor="ctr"/>
                    </a:tc>
                    <a:tc>
                      <a:txBody>
                        <a:bodyPr/>
                        <a:lstStyle/>
                        <a:p>
                          <a:pPr>
                            <a:buNone/>
                          </a:pPr>
                          <a:r>
                            <a:rPr lang="en-IN" sz="1000"/>
                            <a:t>Flags sudden runoff pulses, urban drainage, and wastewater influx.</a:t>
                          </a:r>
                        </a:p>
                      </a:txBody>
                      <a:tcPr marL="37098" marR="37098" marT="18549" marB="18549" anchor="ctr"/>
                    </a:tc>
                    <a:extLst>
                      <a:ext uri="{0D108BD9-81ED-4DB2-BD59-A6C34878D82A}">
                        <a16:rowId xmlns:a16="http://schemas.microsoft.com/office/drawing/2014/main" val="561157901"/>
                      </a:ext>
                    </a:extLst>
                  </a:tr>
                  <a:tr h="494298">
                    <a:tc>
                      <a:txBody>
                        <a:bodyPr/>
                        <a:lstStyle/>
                        <a:p>
                          <a:pPr>
                            <a:buNone/>
                          </a:pPr>
                          <a:r>
                            <a:rPr lang="en-IN" sz="1000"/>
                            <a:t>6</a:t>
                          </a:r>
                        </a:p>
                      </a:txBody>
                      <a:tcPr marL="37098" marR="37098" marT="18549" marB="18549" anchor="ctr"/>
                    </a:tc>
                    <a:tc>
                      <a:txBody>
                        <a:bodyPr/>
                        <a:lstStyle/>
                        <a:p>
                          <a:pPr>
                            <a:buNone/>
                          </a:pPr>
                          <a:r>
                            <a:rPr lang="en-IN" sz="1000"/>
                            <a:t>DO Daily Diurnal Swing</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0.33</a:t>
                          </a:r>
                        </a:p>
                      </a:txBody>
                      <a:tcPr marL="37098" marR="37098" marT="18549" marB="18549" anchor="ctr"/>
                    </a:tc>
                    <a:tc>
                      <a:txBody>
                        <a:bodyPr/>
                        <a:lstStyle/>
                        <a:p>
                          <a:endParaRPr lang="en-US"/>
                        </a:p>
                      </a:txBody>
                      <a:tcPr marL="37098" marR="37098" marT="18549" marB="18549" anchor="ctr">
                        <a:blipFill>
                          <a:blip r:embed="rId3"/>
                          <a:stretch>
                            <a:fillRect l="-400741" t="-582716" r="-1111" b="-313580"/>
                          </a:stretch>
                        </a:blipFill>
                      </a:tcPr>
                    </a:tc>
                    <a:extLst>
                      <a:ext uri="{0D108BD9-81ED-4DB2-BD59-A6C34878D82A}">
                        <a16:rowId xmlns:a16="http://schemas.microsoft.com/office/drawing/2014/main" val="4008246202"/>
                      </a:ext>
                    </a:extLst>
                  </a:tr>
                  <a:tr h="494298">
                    <a:tc>
                      <a:txBody>
                        <a:bodyPr/>
                        <a:lstStyle/>
                        <a:p>
                          <a:pPr>
                            <a:buNone/>
                          </a:pPr>
                          <a:r>
                            <a:rPr lang="en-IN" sz="1000"/>
                            <a:t>7</a:t>
                          </a:r>
                        </a:p>
                      </a:txBody>
                      <a:tcPr marL="37098" marR="37098" marT="18549" marB="18549" anchor="ctr"/>
                    </a:tc>
                    <a:tc>
                      <a:txBody>
                        <a:bodyPr/>
                        <a:lstStyle/>
                        <a:p>
                          <a:pPr>
                            <a:buNone/>
                          </a:pPr>
                          <a:r>
                            <a:rPr lang="en-IN" sz="1000"/>
                            <a:t>Water Temp Change (24 h)</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0.29</a:t>
                          </a:r>
                        </a:p>
                      </a:txBody>
                      <a:tcPr marL="37098" marR="37098" marT="18549" marB="18549" anchor="ctr"/>
                    </a:tc>
                    <a:tc>
                      <a:txBody>
                        <a:bodyPr/>
                        <a:lstStyle/>
                        <a:p>
                          <a:pPr>
                            <a:buNone/>
                          </a:pPr>
                          <a:r>
                            <a:rPr lang="en-IN" sz="1000" dirty="0"/>
                            <a:t>Thermal warming directly lowers physical oxygen solubility.</a:t>
                          </a:r>
                        </a:p>
                      </a:txBody>
                      <a:tcPr marL="37098" marR="37098" marT="18549" marB="18549" anchor="ctr"/>
                    </a:tc>
                    <a:extLst>
                      <a:ext uri="{0D108BD9-81ED-4DB2-BD59-A6C34878D82A}">
                        <a16:rowId xmlns:a16="http://schemas.microsoft.com/office/drawing/2014/main" val="2198441739"/>
                      </a:ext>
                    </a:extLst>
                  </a:tr>
                  <a:tr h="494298">
                    <a:tc>
                      <a:txBody>
                        <a:bodyPr/>
                        <a:lstStyle/>
                        <a:p>
                          <a:pPr>
                            <a:buNone/>
                          </a:pPr>
                          <a:r>
                            <a:rPr lang="en-IN" sz="1000"/>
                            <a:t>8</a:t>
                          </a:r>
                        </a:p>
                      </a:txBody>
                      <a:tcPr marL="37098" marR="37098" marT="18549" marB="18549" anchor="ctr"/>
                    </a:tc>
                    <a:tc>
                      <a:txBody>
                        <a:bodyPr/>
                        <a:lstStyle/>
                        <a:p>
                          <a:pPr>
                            <a:buNone/>
                          </a:pPr>
                          <a:r>
                            <a:rPr lang="en-IN" sz="1000"/>
                            <a:t>Hours Since DO &lt; 5.0 mg/L</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0.27</a:t>
                          </a:r>
                        </a:p>
                      </a:txBody>
                      <a:tcPr marL="37098" marR="37098" marT="18549" marB="18549" anchor="ctr"/>
                    </a:tc>
                    <a:tc>
                      <a:txBody>
                        <a:bodyPr/>
                        <a:lstStyle/>
                        <a:p>
                          <a:pPr>
                            <a:buNone/>
                          </a:pPr>
                          <a:r>
                            <a:rPr lang="en-IN" sz="1000" dirty="0"/>
                            <a:t>Encodes temporal proximity to previous destabilization events.</a:t>
                          </a:r>
                        </a:p>
                      </a:txBody>
                      <a:tcPr marL="37098" marR="37098" marT="18549" marB="18549" anchor="ctr"/>
                    </a:tc>
                    <a:extLst>
                      <a:ext uri="{0D108BD9-81ED-4DB2-BD59-A6C34878D82A}">
                        <a16:rowId xmlns:a16="http://schemas.microsoft.com/office/drawing/2014/main" val="1203237972"/>
                      </a:ext>
                    </a:extLst>
                  </a:tr>
                  <a:tr h="494298">
                    <a:tc>
                      <a:txBody>
                        <a:bodyPr/>
                        <a:lstStyle/>
                        <a:p>
                          <a:pPr>
                            <a:buNone/>
                          </a:pPr>
                          <a:r>
                            <a:rPr lang="en-IN" sz="1000"/>
                            <a:t>9</a:t>
                          </a:r>
                        </a:p>
                      </a:txBody>
                      <a:tcPr marL="37098" marR="37098" marT="18549" marB="18549" anchor="ctr"/>
                    </a:tc>
                    <a:tc>
                      <a:txBody>
                        <a:bodyPr/>
                        <a:lstStyle/>
                        <a:p>
                          <a:pPr>
                            <a:buNone/>
                          </a:pPr>
                          <a:r>
                            <a:rPr lang="en-IN" sz="1000"/>
                            <a:t>Turbidity 24 h Maximum</a:t>
                          </a:r>
                        </a:p>
                      </a:txBody>
                      <a:tcPr marL="37098" marR="37098" marT="18549" marB="18549" anchor="ctr"/>
                    </a:tc>
                    <a:tc>
                      <a:txBody>
                        <a:bodyPr/>
                        <a:lstStyle/>
                        <a:p>
                          <a:pPr>
                            <a:buNone/>
                          </a:pPr>
                          <a:r>
                            <a:rPr lang="en-IN" sz="1000"/>
                            <a:t>Water</a:t>
                          </a:r>
                        </a:p>
                      </a:txBody>
                      <a:tcPr marL="37098" marR="37098" marT="18549" marB="18549" anchor="ctr"/>
                    </a:tc>
                    <a:tc>
                      <a:txBody>
                        <a:bodyPr/>
                        <a:lstStyle/>
                        <a:p>
                          <a:pPr>
                            <a:buNone/>
                          </a:pPr>
                          <a:r>
                            <a:rPr lang="en-IN" sz="1000" dirty="0"/>
                            <a:t>0.26</a:t>
                          </a:r>
                        </a:p>
                      </a:txBody>
                      <a:tcPr marL="37098" marR="37098" marT="18549" marB="18549" anchor="ctr"/>
                    </a:tc>
                    <a:tc>
                      <a:txBody>
                        <a:bodyPr/>
                        <a:lstStyle/>
                        <a:p>
                          <a:pPr>
                            <a:buNone/>
                          </a:pPr>
                          <a:r>
                            <a:rPr lang="en-IN" sz="1000" dirty="0"/>
                            <a:t>Suspended solids impede sunlight penetration, inhibiting photosynthesis.</a:t>
                          </a:r>
                        </a:p>
                      </a:txBody>
                      <a:tcPr marL="37098" marR="37098" marT="18549" marB="18549" anchor="ctr"/>
                    </a:tc>
                    <a:extLst>
                      <a:ext uri="{0D108BD9-81ED-4DB2-BD59-A6C34878D82A}">
                        <a16:rowId xmlns:a16="http://schemas.microsoft.com/office/drawing/2014/main" val="3955847413"/>
                      </a:ext>
                    </a:extLst>
                  </a:tr>
                </a:tbl>
              </a:graphicData>
            </a:graphic>
          </p:graphicFrame>
        </mc:Fallback>
      </mc:AlternateContent>
      <p:sp>
        <p:nvSpPr>
          <p:cNvPr id="6" name="TextBox 5">
            <a:extLst>
              <a:ext uri="{FF2B5EF4-FFF2-40B4-BE49-F238E27FC236}">
                <a16:creationId xmlns:a16="http://schemas.microsoft.com/office/drawing/2014/main" id="{14306314-6121-4DA4-C2D8-E522D6F0D10B}"/>
              </a:ext>
            </a:extLst>
          </p:cNvPr>
          <p:cNvSpPr txBox="1"/>
          <p:nvPr/>
        </p:nvSpPr>
        <p:spPr>
          <a:xfrm>
            <a:off x="457200" y="1345716"/>
            <a:ext cx="8229600" cy="307777"/>
          </a:xfrm>
          <a:prstGeom prst="rect">
            <a:avLst/>
          </a:prstGeom>
          <a:noFill/>
        </p:spPr>
        <p:txBody>
          <a:bodyPr wrap="square">
            <a:spAutoFit/>
          </a:bodyPr>
          <a:lstStyle/>
          <a:p>
            <a:pPr>
              <a:buNone/>
            </a:pPr>
            <a:r>
              <a:rPr lang="en-IN" dirty="0"/>
              <a:t>Global Mean Absolute SHAP Value Analysis on Model A (Water Quality):</a:t>
            </a:r>
          </a:p>
        </p:txBody>
      </p:sp>
    </p:spTree>
    <p:extLst>
      <p:ext uri="{BB962C8B-B14F-4D97-AF65-F5344CB8AC3E}">
        <p14:creationId xmlns:p14="http://schemas.microsoft.com/office/powerpoint/2010/main" val="17923562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E90DA351-B599-6C8F-D8AA-63ED904AE235}"/>
            </a:ext>
          </a:extLst>
        </p:cNvPr>
        <p:cNvGrpSpPr/>
        <p:nvPr/>
      </p:nvGrpSpPr>
      <p:grpSpPr>
        <a:xfrm>
          <a:off x="0" y="0"/>
          <a:ext cx="0" cy="0"/>
          <a:chOff x="0" y="0"/>
          <a:chExt cx="0" cy="0"/>
        </a:xfrm>
      </p:grpSpPr>
      <p:sp>
        <p:nvSpPr>
          <p:cNvPr id="161" name="Google Shape;161;p12">
            <a:extLst>
              <a:ext uri="{FF2B5EF4-FFF2-40B4-BE49-F238E27FC236}">
                <a16:creationId xmlns:a16="http://schemas.microsoft.com/office/drawing/2014/main" id="{2EC06DCD-928F-A43F-E757-6B5D01BB014E}"/>
              </a:ext>
            </a:extLst>
          </p:cNvPr>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fontScale="90000"/>
          </a:bodyPr>
          <a:lstStyle/>
          <a:p>
            <a:r>
              <a:rPr lang="en-US"/>
              <a:t>Results &amp; Discussion — Case Study: Live Event Prediction</a:t>
            </a:r>
          </a:p>
        </p:txBody>
      </p:sp>
      <p:sp>
        <p:nvSpPr>
          <p:cNvPr id="163" name="Google Shape;163;p12">
            <a:extLst>
              <a:ext uri="{FF2B5EF4-FFF2-40B4-BE49-F238E27FC236}">
                <a16:creationId xmlns:a16="http://schemas.microsoft.com/office/drawing/2014/main" id="{13D02A81-3E10-1858-ADFF-9640A5D36CF3}"/>
              </a:ext>
            </a:extLst>
          </p:cNvPr>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6669A35-B894-25D2-95F7-D591FE01B6E5}"/>
                  </a:ext>
                </a:extLst>
              </p:cNvPr>
              <p:cNvSpPr txBox="1"/>
              <p:nvPr/>
            </p:nvSpPr>
            <p:spPr>
              <a:xfrm>
                <a:off x="457200" y="1470948"/>
                <a:ext cx="8229600" cy="4031873"/>
              </a:xfrm>
              <a:prstGeom prst="rect">
                <a:avLst/>
              </a:prstGeom>
              <a:noFill/>
            </p:spPr>
            <p:txBody>
              <a:bodyPr wrap="square">
                <a:spAutoFit/>
              </a:bodyPr>
              <a:lstStyle/>
              <a:p>
                <a:pPr marL="342900" lvl="0" indent="-342900">
                  <a:buFont typeface="Arial" panose="020B0604020202020204" pitchFamily="34" charset="0"/>
                  <a:buChar char="•"/>
                </a:pPr>
                <a:r>
                  <a:rPr lang="en-IN" sz="1600" b="1" dirty="0"/>
                  <a:t>Monitored Station:</a:t>
                </a:r>
                <a:r>
                  <a:rPr lang="en-IN" sz="1600" dirty="0"/>
                  <a:t> Waccamaw River Near Longs, SC (USGS Station 02110500)</a:t>
                </a:r>
              </a:p>
              <a:p>
                <a:pPr marL="342900" lvl="0" indent="-342900">
                  <a:buFont typeface="Arial" panose="020B0604020202020204" pitchFamily="34" charset="0"/>
                  <a:buChar char="•"/>
                </a:pPr>
                <a:r>
                  <a:rPr lang="en-IN" sz="1600" b="1" dirty="0"/>
                  <a:t>Incident Timestamp:</a:t>
                </a:r>
                <a:r>
                  <a:rPr lang="en-IN" sz="1600" dirty="0"/>
                  <a:t> June 4, 2025 at 23:00 UTC</a:t>
                </a:r>
              </a:p>
              <a:p>
                <a:pPr marL="342900" lvl="0" indent="-342900">
                  <a:buFont typeface="Arial" panose="020B0604020202020204" pitchFamily="34" charset="0"/>
                  <a:buChar char="•"/>
                </a:pPr>
                <a:r>
                  <a:rPr lang="en-IN" sz="1600" b="1" dirty="0"/>
                  <a:t>Real-time Alert State:</a:t>
                </a:r>
                <a:r>
                  <a:rPr lang="en-IN" sz="1600" dirty="0"/>
                  <a:t> </a:t>
                </a:r>
                <a:r>
                  <a:rPr lang="en-IN" sz="1600" b="1" dirty="0"/>
                  <a:t>WARNING ISSUED</a:t>
                </a:r>
                <a:r>
                  <a:rPr lang="en-IN" sz="1600" dirty="0"/>
                  <a:t> (Low-oxygen onset expected within 24 hours)</a:t>
                </a:r>
              </a:p>
              <a:p>
                <a:pPr marL="342900" lvl="0" indent="-342900">
                  <a:buFont typeface="Arial" panose="020B0604020202020204" pitchFamily="34" charset="0"/>
                  <a:buChar char="•"/>
                </a:pPr>
                <a:r>
                  <a:rPr lang="en-IN" sz="1600" b="1" dirty="0"/>
                  <a:t>Operational Telemetry:</a:t>
                </a:r>
                <a:r>
                  <a:rPr lang="en-IN" sz="1600" dirty="0"/>
                  <a:t> </a:t>
                </a:r>
              </a:p>
              <a:p>
                <a:pPr marL="742950" lvl="1" indent="-285750">
                  <a:buFont typeface="Arial" panose="020B0604020202020204" pitchFamily="34" charset="0"/>
                  <a:buChar char="•"/>
                </a:pPr>
                <a:r>
                  <a:rPr lang="en-IN" sz="1600" dirty="0"/>
                  <a:t>Current Dissolved Oxygen: </a:t>
                </a:r>
                <a14:m>
                  <m:oMath xmlns:m="http://schemas.openxmlformats.org/officeDocument/2006/math">
                    <m:r>
                      <a:rPr lang="en-IN" sz="1600">
                        <a:latin typeface="Cambria Math" panose="02040503050406030204" pitchFamily="18" charset="0"/>
                      </a:rPr>
                      <m:t>5.10</m:t>
                    </m:r>
                    <m:r>
                      <m:rPr>
                        <m:nor/>
                      </m:rPr>
                      <a:rPr lang="en-IN" sz="1600" b="0" i="0">
                        <a:latin typeface="Arial"/>
                      </a:rPr>
                      <m:t> mg/L</m:t>
                    </m:r>
                  </m:oMath>
                </a14:m>
                <a:r>
                  <a:rPr lang="en-IN" sz="1600" dirty="0"/>
                  <a:t>(Still compliant, </a:t>
                </a:r>
                <a14:m>
                  <m:oMath xmlns:m="http://schemas.openxmlformats.org/officeDocument/2006/math">
                    <m:r>
                      <a:rPr lang="en-IN" sz="1600">
                        <a:latin typeface="Cambria Math" panose="02040503050406030204" pitchFamily="18" charset="0"/>
                      </a:rPr>
                      <m:t>&gt;</m:t>
                    </m:r>
                    <m:r>
                      <a:rPr lang="en-IN" sz="1600" i="0">
                        <a:latin typeface="Cambria Math" panose="02040503050406030204" pitchFamily="18" charset="0"/>
                      </a:rPr>
                      <m:t>5.0</m:t>
                    </m:r>
                    <m:r>
                      <m:rPr>
                        <m:nor/>
                      </m:rPr>
                      <a:rPr lang="en-IN" sz="1600" b="0" i="0">
                        <a:latin typeface="Arial"/>
                      </a:rPr>
                      <m:t> mg/L</m:t>
                    </m:r>
                  </m:oMath>
                </a14:m>
                <a:r>
                  <a:rPr lang="en-IN" sz="1600" dirty="0"/>
                  <a:t>; standard threshold systems remain completely silent!)</a:t>
                </a:r>
              </a:p>
              <a:p>
                <a:pPr marL="742950" lvl="1" indent="-285750">
                  <a:buFont typeface="Arial" panose="020B0604020202020204" pitchFamily="34" charset="0"/>
                  <a:buChar char="•"/>
                </a:pPr>
                <a:r>
                  <a:rPr lang="en-IN" sz="1600" dirty="0"/>
                  <a:t>Calibrated Warning Probability: </a:t>
                </a:r>
                <a14:m>
                  <m:oMath xmlns:m="http://schemas.openxmlformats.org/officeDocument/2006/math">
                    <m:r>
                      <a:rPr lang="en-IN" sz="1600" i="1">
                        <a:latin typeface="Cambria Math" panose="02040503050406030204" pitchFamily="18" charset="0"/>
                      </a:rPr>
                      <m:t>𝑃</m:t>
                    </m:r>
                    <m:r>
                      <a:rPr lang="en-IN" sz="1600" i="0">
                        <a:latin typeface="Cambria Math" panose="02040503050406030204" pitchFamily="18" charset="0"/>
                      </a:rPr>
                      <m:t>=0.545</m:t>
                    </m:r>
                  </m:oMath>
                </a14:m>
                <a:r>
                  <a:rPr lang="en-IN" sz="1600" dirty="0"/>
                  <a:t>(Exceeds decision threshold </a:t>
                </a:r>
                <a14:m>
                  <m:oMath xmlns:m="http://schemas.openxmlformats.org/officeDocument/2006/math">
                    <m:sSup>
                      <m:sSupPr>
                        <m:ctrlPr>
                          <a:rPr lang="en-IN" sz="1600" i="1">
                            <a:latin typeface="Cambria Math" panose="02040503050406030204" pitchFamily="18" charset="0"/>
                          </a:rPr>
                        </m:ctrlPr>
                      </m:sSupPr>
                      <m:e>
                        <m:r>
                          <a:rPr lang="en-IN" sz="1600" i="1">
                            <a:latin typeface="Cambria Math" panose="02040503050406030204" pitchFamily="18" charset="0"/>
                          </a:rPr>
                          <m:t>𝜏</m:t>
                        </m:r>
                      </m:e>
                      <m:sup>
                        <m:r>
                          <a:rPr lang="en-IN" sz="1600" i="0">
                            <a:latin typeface="Cambria Math" panose="02040503050406030204" pitchFamily="18" charset="0"/>
                          </a:rPr>
                          <m:t>∗</m:t>
                        </m:r>
                      </m:sup>
                    </m:sSup>
                    <m:r>
                      <a:rPr lang="en-IN" sz="1600" i="0">
                        <a:latin typeface="Cambria Math" panose="02040503050406030204" pitchFamily="18" charset="0"/>
                      </a:rPr>
                      <m:t>=0.25</m:t>
                    </m:r>
                  </m:oMath>
                </a14:m>
                <a:r>
                  <a:rPr lang="en-IN" sz="1600" dirty="0"/>
                  <a:t>)</a:t>
                </a:r>
              </a:p>
              <a:p>
                <a:pPr marL="742950" lvl="1" indent="-285750">
                  <a:buFont typeface="Arial" panose="020B0604020202020204" pitchFamily="34" charset="0"/>
                  <a:buChar char="•"/>
                </a:pPr>
                <a:r>
                  <a:rPr lang="en-IN" sz="1600" dirty="0"/>
                  <a:t>Estimated Anticipation Lead Time: </a:t>
                </a:r>
                <a:r>
                  <a:rPr lang="en-IN" sz="1600" b="1" dirty="0"/>
                  <a:t>15.0 Hours</a:t>
                </a:r>
                <a:endParaRPr lang="en-IN" sz="1600" dirty="0"/>
              </a:p>
              <a:p>
                <a:pPr marL="342900" lvl="0" indent="-342900">
                  <a:buFont typeface="Arial" panose="020B0604020202020204" pitchFamily="34" charset="0"/>
                  <a:buChar char="•"/>
                </a:pPr>
                <a:r>
                  <a:rPr lang="en-IN" sz="1600" b="1" dirty="0"/>
                  <a:t>Station Historical Track Record:</a:t>
                </a:r>
                <a:r>
                  <a:rPr lang="en-IN" sz="1600" dirty="0"/>
                  <a:t> </a:t>
                </a:r>
              </a:p>
              <a:p>
                <a:pPr marL="742950" lvl="1" indent="-285750">
                  <a:buFont typeface="Arial" panose="020B0604020202020204" pitchFamily="34" charset="0"/>
                  <a:buChar char="•"/>
                </a:pPr>
                <a:r>
                  <a:rPr lang="en-IN" sz="1600" dirty="0"/>
                  <a:t>Total Low-Oxygen Events: </a:t>
                </a:r>
                <a:r>
                  <a:rPr lang="en-IN" sz="1600" b="1" dirty="0"/>
                  <a:t>8</a:t>
                </a:r>
                <a:endParaRPr lang="en-IN" sz="1600" dirty="0"/>
              </a:p>
              <a:p>
                <a:pPr marL="742950" lvl="1" indent="-285750">
                  <a:buFont typeface="Arial" panose="020B0604020202020204" pitchFamily="34" charset="0"/>
                  <a:buChar char="•"/>
                </a:pPr>
                <a:r>
                  <a:rPr lang="en-IN" sz="1600" dirty="0"/>
                  <a:t>Successfully Warned in Advance: </a:t>
                </a:r>
                <a:r>
                  <a:rPr lang="en-IN" sz="1600" b="1" dirty="0"/>
                  <a:t>8 of 8 (100% Event Recall)</a:t>
                </a:r>
                <a:endParaRPr lang="en-IN" sz="1600" dirty="0"/>
              </a:p>
              <a:p>
                <a:pPr marL="742950" lvl="1" indent="-285750">
                  <a:buFont typeface="Arial" panose="020B0604020202020204" pitchFamily="34" charset="0"/>
                  <a:buChar char="•"/>
                </a:pPr>
                <a:r>
                  <a:rPr lang="en-IN" sz="1600" dirty="0"/>
                  <a:t>False Alarms: </a:t>
                </a:r>
                <a:r>
                  <a:rPr lang="en-IN" sz="1600" b="1" dirty="0"/>
                  <a:t>3</a:t>
                </a:r>
                <a:endParaRPr lang="en-IN" sz="1600" dirty="0"/>
              </a:p>
              <a:p>
                <a:pPr marL="342900" lvl="0" indent="-342900">
                  <a:buFont typeface="Arial" panose="020B0604020202020204" pitchFamily="34" charset="0"/>
                  <a:buChar char="•"/>
                </a:pPr>
                <a:r>
                  <a:rPr lang="en-IN" sz="1600" b="1" dirty="0"/>
                  <a:t>Outcome:</a:t>
                </a:r>
                <a:r>
                  <a:rPr lang="en-IN" sz="1600" dirty="0"/>
                  <a:t> The river crossed below the critical </a:t>
                </a:r>
                <a14:m>
                  <m:oMath xmlns:m="http://schemas.openxmlformats.org/officeDocument/2006/math">
                    <m:r>
                      <a:rPr lang="en-IN" sz="1600">
                        <a:latin typeface="Cambria Math" panose="02040503050406030204" pitchFamily="18" charset="0"/>
                      </a:rPr>
                      <m:t>5.0</m:t>
                    </m:r>
                    <m:r>
                      <m:rPr>
                        <m:nor/>
                      </m:rPr>
                      <a:rPr lang="en-IN" sz="1600" b="0" i="0">
                        <a:latin typeface="Arial"/>
                      </a:rPr>
                      <m:t> mg/L</m:t>
                    </m:r>
                  </m:oMath>
                </a14:m>
                <a:r>
                  <a:rPr lang="en-IN" sz="1600" dirty="0"/>
                  <a:t>threshold 15 hours later. </a:t>
                </a:r>
                <a:r>
                  <a:rPr lang="en-IN" sz="1600" dirty="0" err="1"/>
                  <a:t>Preemptive</a:t>
                </a:r>
                <a:r>
                  <a:rPr lang="en-IN" sz="1600" dirty="0"/>
                  <a:t> aeration and downstream advisories could be executed with ample margin.</a:t>
                </a:r>
              </a:p>
            </p:txBody>
          </p:sp>
        </mc:Choice>
        <mc:Fallback xmlns="">
          <p:sp>
            <p:nvSpPr>
              <p:cNvPr id="5" name="TextBox 4">
                <a:extLst>
                  <a:ext uri="{FF2B5EF4-FFF2-40B4-BE49-F238E27FC236}">
                    <a16:creationId xmlns:a16="http://schemas.microsoft.com/office/drawing/2014/main" id="{A6669A35-B894-25D2-95F7-D591FE01B6E5}"/>
                  </a:ext>
                </a:extLst>
              </p:cNvPr>
              <p:cNvSpPr txBox="1">
                <a:spLocks noRot="1" noChangeAspect="1" noMove="1" noResize="1" noEditPoints="1" noAdjustHandles="1" noChangeArrowheads="1" noChangeShapeType="1" noTextEdit="1"/>
              </p:cNvSpPr>
              <p:nvPr/>
            </p:nvSpPr>
            <p:spPr>
              <a:xfrm>
                <a:off x="457200" y="1470948"/>
                <a:ext cx="8229600" cy="4031873"/>
              </a:xfrm>
              <a:prstGeom prst="rect">
                <a:avLst/>
              </a:prstGeom>
              <a:blipFill>
                <a:blip r:embed="rId3"/>
                <a:stretch>
                  <a:fillRect l="-296" t="-453" b="-906"/>
                </a:stretch>
              </a:blipFill>
            </p:spPr>
            <p:txBody>
              <a:bodyPr/>
              <a:lstStyle/>
              <a:p>
                <a:r>
                  <a:rPr lang="en-IN">
                    <a:noFill/>
                  </a:rPr>
                  <a:t> </a:t>
                </a:r>
              </a:p>
            </p:txBody>
          </p:sp>
        </mc:Fallback>
      </mc:AlternateContent>
    </p:spTree>
    <p:extLst>
      <p:ext uri="{BB962C8B-B14F-4D97-AF65-F5344CB8AC3E}">
        <p14:creationId xmlns:p14="http://schemas.microsoft.com/office/powerpoint/2010/main" val="3869404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E5F2B8A0-9E68-3876-164C-9F454B0D8368}"/>
            </a:ext>
          </a:extLst>
        </p:cNvPr>
        <p:cNvGrpSpPr/>
        <p:nvPr/>
      </p:nvGrpSpPr>
      <p:grpSpPr>
        <a:xfrm>
          <a:off x="0" y="0"/>
          <a:ext cx="0" cy="0"/>
          <a:chOff x="0" y="0"/>
          <a:chExt cx="0" cy="0"/>
        </a:xfrm>
      </p:grpSpPr>
      <p:sp>
        <p:nvSpPr>
          <p:cNvPr id="161" name="Google Shape;161;p12">
            <a:extLst>
              <a:ext uri="{FF2B5EF4-FFF2-40B4-BE49-F238E27FC236}">
                <a16:creationId xmlns:a16="http://schemas.microsoft.com/office/drawing/2014/main" id="{C2D08540-8687-9F8F-8E91-AE4C32B3E618}"/>
              </a:ext>
            </a:extLst>
          </p:cNvPr>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fontScale="90000"/>
          </a:bodyPr>
          <a:lstStyle/>
          <a:p>
            <a:r>
              <a:rPr lang="en-US"/>
              <a:t>Results &amp; Discussion — Local XAI: Warning Factor Decomposition</a:t>
            </a:r>
          </a:p>
        </p:txBody>
      </p:sp>
      <p:sp>
        <p:nvSpPr>
          <p:cNvPr id="163" name="Google Shape;163;p12">
            <a:extLst>
              <a:ext uri="{FF2B5EF4-FFF2-40B4-BE49-F238E27FC236}">
                <a16:creationId xmlns:a16="http://schemas.microsoft.com/office/drawing/2014/main" id="{B10C9C29-50B8-8C12-CA5F-318F1EE52B8B}"/>
              </a:ext>
            </a:extLst>
          </p:cNvPr>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p:graphicFrame>
        <p:nvGraphicFramePr>
          <p:cNvPr id="2" name="Table 1">
            <a:extLst>
              <a:ext uri="{FF2B5EF4-FFF2-40B4-BE49-F238E27FC236}">
                <a16:creationId xmlns:a16="http://schemas.microsoft.com/office/drawing/2014/main" id="{D31B5C85-031D-28FC-25C8-009445FCD9FD}"/>
              </a:ext>
            </a:extLst>
          </p:cNvPr>
          <p:cNvGraphicFramePr>
            <a:graphicFrameLocks noGrp="1"/>
          </p:cNvGraphicFramePr>
          <p:nvPr>
            <p:extLst>
              <p:ext uri="{D42A27DB-BD31-4B8C-83A1-F6EECF244321}">
                <p14:modId xmlns:p14="http://schemas.microsoft.com/office/powerpoint/2010/main" val="4158134989"/>
              </p:ext>
            </p:extLst>
          </p:nvPr>
        </p:nvGraphicFramePr>
        <p:xfrm>
          <a:off x="457200" y="1840230"/>
          <a:ext cx="8229600" cy="4008349"/>
        </p:xfrm>
        <a:graphic>
          <a:graphicData uri="http://schemas.openxmlformats.org/drawingml/2006/table">
            <a:tbl>
              <a:tblPr>
                <a:tableStyleId>{F9BC6C1E-BED5-463D-9D9D-55BB47110D15}</a:tableStyleId>
              </a:tblPr>
              <a:tblGrid>
                <a:gridCol w="1371600">
                  <a:extLst>
                    <a:ext uri="{9D8B030D-6E8A-4147-A177-3AD203B41FA5}">
                      <a16:colId xmlns:a16="http://schemas.microsoft.com/office/drawing/2014/main" val="821895194"/>
                    </a:ext>
                  </a:extLst>
                </a:gridCol>
                <a:gridCol w="1371600">
                  <a:extLst>
                    <a:ext uri="{9D8B030D-6E8A-4147-A177-3AD203B41FA5}">
                      <a16:colId xmlns:a16="http://schemas.microsoft.com/office/drawing/2014/main" val="4100244593"/>
                    </a:ext>
                  </a:extLst>
                </a:gridCol>
                <a:gridCol w="1371600">
                  <a:extLst>
                    <a:ext uri="{9D8B030D-6E8A-4147-A177-3AD203B41FA5}">
                      <a16:colId xmlns:a16="http://schemas.microsoft.com/office/drawing/2014/main" val="3600380969"/>
                    </a:ext>
                  </a:extLst>
                </a:gridCol>
                <a:gridCol w="1371600">
                  <a:extLst>
                    <a:ext uri="{9D8B030D-6E8A-4147-A177-3AD203B41FA5}">
                      <a16:colId xmlns:a16="http://schemas.microsoft.com/office/drawing/2014/main" val="3910507562"/>
                    </a:ext>
                  </a:extLst>
                </a:gridCol>
                <a:gridCol w="1371600">
                  <a:extLst>
                    <a:ext uri="{9D8B030D-6E8A-4147-A177-3AD203B41FA5}">
                      <a16:colId xmlns:a16="http://schemas.microsoft.com/office/drawing/2014/main" val="3112371133"/>
                    </a:ext>
                  </a:extLst>
                </a:gridCol>
                <a:gridCol w="1371600">
                  <a:extLst>
                    <a:ext uri="{9D8B030D-6E8A-4147-A177-3AD203B41FA5}">
                      <a16:colId xmlns:a16="http://schemas.microsoft.com/office/drawing/2014/main" val="79565278"/>
                    </a:ext>
                  </a:extLst>
                </a:gridCol>
              </a:tblGrid>
              <a:tr h="296509">
                <a:tc>
                  <a:txBody>
                    <a:bodyPr/>
                    <a:lstStyle/>
                    <a:p>
                      <a:pPr>
                        <a:buNone/>
                      </a:pPr>
                      <a:r>
                        <a:rPr lang="en-IN" sz="1050" dirty="0"/>
                        <a:t>Feature / Factor</a:t>
                      </a:r>
                    </a:p>
                  </a:txBody>
                  <a:tcPr marL="47809" marR="47809" marT="23905" marB="23905" anchor="ctr"/>
                </a:tc>
                <a:tc>
                  <a:txBody>
                    <a:bodyPr/>
                    <a:lstStyle/>
                    <a:p>
                      <a:pPr>
                        <a:buNone/>
                      </a:pPr>
                      <a:r>
                        <a:rPr lang="en-IN" sz="1050"/>
                        <a:t>Real-Time Reading</a:t>
                      </a:r>
                    </a:p>
                  </a:txBody>
                  <a:tcPr marL="47809" marR="47809" marT="23905" marB="23905" anchor="ctr"/>
                </a:tc>
                <a:tc>
                  <a:txBody>
                    <a:bodyPr/>
                    <a:lstStyle/>
                    <a:p>
                      <a:pPr>
                        <a:buNone/>
                      </a:pPr>
                      <a:r>
                        <a:rPr lang="en-IN" sz="1050"/>
                        <a:t>Training Median (Baseline)</a:t>
                      </a:r>
                    </a:p>
                  </a:txBody>
                  <a:tcPr marL="47809" marR="47809" marT="23905" marB="23905" anchor="ctr"/>
                </a:tc>
                <a:tc>
                  <a:txBody>
                    <a:bodyPr/>
                    <a:lstStyle/>
                    <a:p>
                      <a:pPr>
                        <a:buNone/>
                      </a:pPr>
                      <a:r>
                        <a:rPr lang="en-IN" sz="1050"/>
                        <a:t>Source</a:t>
                      </a:r>
                    </a:p>
                  </a:txBody>
                  <a:tcPr marL="47809" marR="47809" marT="23905" marB="23905" anchor="ctr"/>
                </a:tc>
                <a:tc>
                  <a:txBody>
                    <a:bodyPr/>
                    <a:lstStyle/>
                    <a:p>
                      <a:pPr>
                        <a:buNone/>
                      </a:pPr>
                      <a:r>
                        <a:rPr lang="en-IN" sz="1050"/>
                        <a:t>Local SHAP Attribution</a:t>
                      </a:r>
                    </a:p>
                  </a:txBody>
                  <a:tcPr marL="47809" marR="47809" marT="23905" marB="23905" anchor="ctr"/>
                </a:tc>
                <a:tc>
                  <a:txBody>
                    <a:bodyPr/>
                    <a:lstStyle/>
                    <a:p>
                      <a:pPr>
                        <a:buNone/>
                      </a:pPr>
                      <a:r>
                        <a:rPr lang="en-IN" sz="1050"/>
                        <a:t>Physical Risk Interpretation</a:t>
                      </a:r>
                    </a:p>
                  </a:txBody>
                  <a:tcPr marL="47809" marR="47809" marT="23905" marB="23905" anchor="ctr"/>
                </a:tc>
                <a:extLst>
                  <a:ext uri="{0D108BD9-81ED-4DB2-BD59-A6C34878D82A}">
                    <a16:rowId xmlns:a16="http://schemas.microsoft.com/office/drawing/2014/main" val="1671441452"/>
                  </a:ext>
                </a:extLst>
              </a:tr>
              <a:tr h="642436">
                <a:tc>
                  <a:txBody>
                    <a:bodyPr/>
                    <a:lstStyle/>
                    <a:p>
                      <a:pPr>
                        <a:buNone/>
                      </a:pPr>
                      <a:r>
                        <a:rPr lang="en-IN" sz="1050"/>
                        <a:t>DO 24 h Minimum</a:t>
                      </a:r>
                    </a:p>
                  </a:txBody>
                  <a:tcPr marL="47809" marR="47809" marT="23905" marB="23905" anchor="ctr"/>
                </a:tc>
                <a:tc>
                  <a:txBody>
                    <a:bodyPr/>
                    <a:lstStyle/>
                    <a:p>
                      <a:pPr>
                        <a:buNone/>
                      </a:pPr>
                      <a:r>
                        <a:rPr lang="en-IN" sz="1050" dirty="0"/>
                        <a:t>5.00 mg/L</a:t>
                      </a:r>
                    </a:p>
                  </a:txBody>
                  <a:tcPr marL="47809" marR="47809" marT="23905" marB="23905" anchor="ctr"/>
                </a:tc>
                <a:tc>
                  <a:txBody>
                    <a:bodyPr/>
                    <a:lstStyle/>
                    <a:p>
                      <a:pPr>
                        <a:buNone/>
                      </a:pPr>
                      <a:r>
                        <a:rPr lang="en-IN" sz="1050"/>
                        <a:t>6.85 mg/L</a:t>
                      </a:r>
                    </a:p>
                  </a:txBody>
                  <a:tcPr marL="47809" marR="47809" marT="23905" marB="23905" anchor="ctr"/>
                </a:tc>
                <a:tc>
                  <a:txBody>
                    <a:bodyPr/>
                    <a:lstStyle/>
                    <a:p>
                      <a:pPr>
                        <a:buNone/>
                      </a:pPr>
                      <a:r>
                        <a:rPr lang="en-IN" sz="1050"/>
                        <a:t>Water</a:t>
                      </a:r>
                    </a:p>
                  </a:txBody>
                  <a:tcPr marL="47809" marR="47809" marT="23905" marB="23905" anchor="ctr"/>
                </a:tc>
                <a:tc>
                  <a:txBody>
                    <a:bodyPr/>
                    <a:lstStyle/>
                    <a:p>
                      <a:pPr>
                        <a:buNone/>
                      </a:pPr>
                      <a:r>
                        <a:rPr lang="en-IN" sz="1050"/>
                        <a:t>+7.11</a:t>
                      </a:r>
                    </a:p>
                  </a:txBody>
                  <a:tcPr marL="47809" marR="47809" marT="23905" marB="23905" anchor="ctr"/>
                </a:tc>
                <a:tc>
                  <a:txBody>
                    <a:bodyPr/>
                    <a:lstStyle/>
                    <a:p>
                      <a:pPr>
                        <a:buNone/>
                      </a:pPr>
                      <a:r>
                        <a:rPr lang="en-IN" sz="1050"/>
                        <a:t>Oxygen dipped dangerously close to limit during recent nocturnal trough.</a:t>
                      </a:r>
                    </a:p>
                  </a:txBody>
                  <a:tcPr marL="47809" marR="47809" marT="23905" marB="23905" anchor="ctr"/>
                </a:tc>
                <a:extLst>
                  <a:ext uri="{0D108BD9-81ED-4DB2-BD59-A6C34878D82A}">
                    <a16:rowId xmlns:a16="http://schemas.microsoft.com/office/drawing/2014/main" val="1191984980"/>
                  </a:ext>
                </a:extLst>
              </a:tr>
              <a:tr h="642436">
                <a:tc>
                  <a:txBody>
                    <a:bodyPr/>
                    <a:lstStyle/>
                    <a:p>
                      <a:pPr>
                        <a:buNone/>
                      </a:pPr>
                      <a:r>
                        <a:rPr lang="en-IN" sz="1050"/>
                        <a:t>Current DO</a:t>
                      </a:r>
                    </a:p>
                  </a:txBody>
                  <a:tcPr marL="47809" marR="47809" marT="23905" marB="23905" anchor="ctr"/>
                </a:tc>
                <a:tc>
                  <a:txBody>
                    <a:bodyPr/>
                    <a:lstStyle/>
                    <a:p>
                      <a:pPr>
                        <a:buNone/>
                      </a:pPr>
                      <a:r>
                        <a:rPr lang="en-IN" sz="1050" dirty="0"/>
                        <a:t>5.10 mg/L</a:t>
                      </a:r>
                    </a:p>
                  </a:txBody>
                  <a:tcPr marL="47809" marR="47809" marT="23905" marB="23905" anchor="ctr"/>
                </a:tc>
                <a:tc>
                  <a:txBody>
                    <a:bodyPr/>
                    <a:lstStyle/>
                    <a:p>
                      <a:pPr>
                        <a:buNone/>
                      </a:pPr>
                      <a:r>
                        <a:rPr lang="en-IN" sz="1050"/>
                        <a:t>7.60 mg/L</a:t>
                      </a:r>
                    </a:p>
                  </a:txBody>
                  <a:tcPr marL="47809" marR="47809" marT="23905" marB="23905" anchor="ctr"/>
                </a:tc>
                <a:tc>
                  <a:txBody>
                    <a:bodyPr/>
                    <a:lstStyle/>
                    <a:p>
                      <a:pPr>
                        <a:buNone/>
                      </a:pPr>
                      <a:r>
                        <a:rPr lang="en-IN" sz="1050"/>
                        <a:t>Water</a:t>
                      </a:r>
                    </a:p>
                  </a:txBody>
                  <a:tcPr marL="47809" marR="47809" marT="23905" marB="23905" anchor="ctr"/>
                </a:tc>
                <a:tc>
                  <a:txBody>
                    <a:bodyPr/>
                    <a:lstStyle/>
                    <a:p>
                      <a:pPr>
                        <a:buNone/>
                      </a:pPr>
                      <a:r>
                        <a:rPr lang="en-IN" sz="1050"/>
                        <a:t>+1.69</a:t>
                      </a:r>
                    </a:p>
                  </a:txBody>
                  <a:tcPr marL="47809" marR="47809" marT="23905" marB="23905" anchor="ctr"/>
                </a:tc>
                <a:tc>
                  <a:txBody>
                    <a:bodyPr/>
                    <a:lstStyle/>
                    <a:p>
                      <a:pPr>
                        <a:buNone/>
                      </a:pPr>
                      <a:r>
                        <a:rPr lang="en-IN" sz="1050"/>
                        <a:t>Ambient concentration is severely depressed below normal seasonal levels.</a:t>
                      </a:r>
                    </a:p>
                  </a:txBody>
                  <a:tcPr marL="47809" marR="47809" marT="23905" marB="23905" anchor="ctr"/>
                </a:tc>
                <a:extLst>
                  <a:ext uri="{0D108BD9-81ED-4DB2-BD59-A6C34878D82A}">
                    <a16:rowId xmlns:a16="http://schemas.microsoft.com/office/drawing/2014/main" val="3350561061"/>
                  </a:ext>
                </a:extLst>
              </a:tr>
              <a:tr h="555955">
                <a:tc>
                  <a:txBody>
                    <a:bodyPr/>
                    <a:lstStyle/>
                    <a:p>
                      <a:pPr>
                        <a:buNone/>
                      </a:pPr>
                      <a:r>
                        <a:rPr lang="en-IN" sz="1050"/>
                        <a:t>DO 24 h Mean</a:t>
                      </a:r>
                    </a:p>
                  </a:txBody>
                  <a:tcPr marL="47809" marR="47809" marT="23905" marB="23905" anchor="ctr"/>
                </a:tc>
                <a:tc>
                  <a:txBody>
                    <a:bodyPr/>
                    <a:lstStyle/>
                    <a:p>
                      <a:pPr>
                        <a:buNone/>
                      </a:pPr>
                      <a:r>
                        <a:rPr lang="en-IN" sz="1050"/>
                        <a:t>5.06 mg/L</a:t>
                      </a:r>
                    </a:p>
                  </a:txBody>
                  <a:tcPr marL="47809" marR="47809" marT="23905" marB="23905" anchor="ctr"/>
                </a:tc>
                <a:tc>
                  <a:txBody>
                    <a:bodyPr/>
                    <a:lstStyle/>
                    <a:p>
                      <a:pPr>
                        <a:buNone/>
                      </a:pPr>
                      <a:r>
                        <a:rPr lang="en-IN" sz="1050" dirty="0"/>
                        <a:t>7.60 mg/L</a:t>
                      </a:r>
                    </a:p>
                  </a:txBody>
                  <a:tcPr marL="47809" marR="47809" marT="23905" marB="23905" anchor="ctr"/>
                </a:tc>
                <a:tc>
                  <a:txBody>
                    <a:bodyPr/>
                    <a:lstStyle/>
                    <a:p>
                      <a:pPr>
                        <a:buNone/>
                      </a:pPr>
                      <a:r>
                        <a:rPr lang="en-IN" sz="1050"/>
                        <a:t>Water</a:t>
                      </a:r>
                    </a:p>
                  </a:txBody>
                  <a:tcPr marL="47809" marR="47809" marT="23905" marB="23905" anchor="ctr"/>
                </a:tc>
                <a:tc>
                  <a:txBody>
                    <a:bodyPr/>
                    <a:lstStyle/>
                    <a:p>
                      <a:pPr>
                        <a:buNone/>
                      </a:pPr>
                      <a:r>
                        <a:rPr lang="en-IN" sz="1050"/>
                        <a:t>+0.69</a:t>
                      </a:r>
                    </a:p>
                  </a:txBody>
                  <a:tcPr marL="47809" marR="47809" marT="23905" marB="23905" anchor="ctr"/>
                </a:tc>
                <a:tc>
                  <a:txBody>
                    <a:bodyPr/>
                    <a:lstStyle/>
                    <a:p>
                      <a:pPr>
                        <a:buNone/>
                      </a:pPr>
                      <a:r>
                        <a:rPr lang="en-IN" sz="1050" dirty="0"/>
                        <a:t>Cumulative biological demand is outpacing daily photosynthetic reaeration.</a:t>
                      </a:r>
                    </a:p>
                  </a:txBody>
                  <a:tcPr marL="47809" marR="47809" marT="23905" marB="23905" anchor="ctr"/>
                </a:tc>
                <a:extLst>
                  <a:ext uri="{0D108BD9-81ED-4DB2-BD59-A6C34878D82A}">
                    <a16:rowId xmlns:a16="http://schemas.microsoft.com/office/drawing/2014/main" val="2673745845"/>
                  </a:ext>
                </a:extLst>
              </a:tr>
              <a:tr h="642436">
                <a:tc>
                  <a:txBody>
                    <a:bodyPr/>
                    <a:lstStyle/>
                    <a:p>
                      <a:pPr>
                        <a:buNone/>
                      </a:pPr>
                      <a:r>
                        <a:rPr lang="en-IN" sz="1050"/>
                        <a:t>pH</a:t>
                      </a:r>
                    </a:p>
                  </a:txBody>
                  <a:tcPr marL="47809" marR="47809" marT="23905" marB="23905" anchor="ctr"/>
                </a:tc>
                <a:tc>
                  <a:txBody>
                    <a:bodyPr/>
                    <a:lstStyle/>
                    <a:p>
                      <a:pPr>
                        <a:buNone/>
                      </a:pPr>
                      <a:r>
                        <a:rPr lang="en-IN" sz="1050"/>
                        <a:t>6.10</a:t>
                      </a:r>
                    </a:p>
                  </a:txBody>
                  <a:tcPr marL="47809" marR="47809" marT="23905" marB="23905" anchor="ctr"/>
                </a:tc>
                <a:tc>
                  <a:txBody>
                    <a:bodyPr/>
                    <a:lstStyle/>
                    <a:p>
                      <a:pPr>
                        <a:buNone/>
                      </a:pPr>
                      <a:r>
                        <a:rPr lang="en-IN" sz="1050"/>
                        <a:t>7.60</a:t>
                      </a:r>
                    </a:p>
                  </a:txBody>
                  <a:tcPr marL="47809" marR="47809" marT="23905" marB="23905" anchor="ctr"/>
                </a:tc>
                <a:tc>
                  <a:txBody>
                    <a:bodyPr/>
                    <a:lstStyle/>
                    <a:p>
                      <a:pPr>
                        <a:buNone/>
                      </a:pPr>
                      <a:r>
                        <a:rPr lang="en-IN" sz="1050" dirty="0"/>
                        <a:t>Water</a:t>
                      </a:r>
                    </a:p>
                  </a:txBody>
                  <a:tcPr marL="47809" marR="47809" marT="23905" marB="23905" anchor="ctr"/>
                </a:tc>
                <a:tc>
                  <a:txBody>
                    <a:bodyPr/>
                    <a:lstStyle/>
                    <a:p>
                      <a:pPr>
                        <a:buNone/>
                      </a:pPr>
                      <a:r>
                        <a:rPr lang="en-IN" sz="1050" dirty="0"/>
                        <a:t>+0.62</a:t>
                      </a:r>
                    </a:p>
                  </a:txBody>
                  <a:tcPr marL="47809" marR="47809" marT="23905" marB="23905" anchor="ctr"/>
                </a:tc>
                <a:tc>
                  <a:txBody>
                    <a:bodyPr/>
                    <a:lstStyle/>
                    <a:p>
                      <a:pPr>
                        <a:buNone/>
                      </a:pPr>
                      <a:r>
                        <a:rPr lang="en-IN" sz="1050"/>
                        <a:t>Acidic drift indicates elevated decomposition and dissolved carbon dioxide.</a:t>
                      </a:r>
                    </a:p>
                  </a:txBody>
                  <a:tcPr marL="47809" marR="47809" marT="23905" marB="23905" anchor="ctr"/>
                </a:tc>
                <a:extLst>
                  <a:ext uri="{0D108BD9-81ED-4DB2-BD59-A6C34878D82A}">
                    <a16:rowId xmlns:a16="http://schemas.microsoft.com/office/drawing/2014/main" val="381399142"/>
                  </a:ext>
                </a:extLst>
              </a:tr>
              <a:tr h="728919">
                <a:tc>
                  <a:txBody>
                    <a:bodyPr/>
                    <a:lstStyle/>
                    <a:p>
                      <a:pPr>
                        <a:buNone/>
                      </a:pPr>
                      <a:r>
                        <a:rPr lang="en-IN" sz="1050"/>
                        <a:t>Day of Year</a:t>
                      </a:r>
                    </a:p>
                  </a:txBody>
                  <a:tcPr marL="47809" marR="47809" marT="23905" marB="23905" anchor="ctr"/>
                </a:tc>
                <a:tc>
                  <a:txBody>
                    <a:bodyPr/>
                    <a:lstStyle/>
                    <a:p>
                      <a:pPr>
                        <a:buNone/>
                      </a:pPr>
                      <a:r>
                        <a:rPr lang="en-IN" sz="1050"/>
                        <a:t>0.46 (June)</a:t>
                      </a:r>
                    </a:p>
                  </a:txBody>
                  <a:tcPr marL="47809" marR="47809" marT="23905" marB="23905" anchor="ctr"/>
                </a:tc>
                <a:tc>
                  <a:txBody>
                    <a:bodyPr/>
                    <a:lstStyle/>
                    <a:p>
                      <a:pPr>
                        <a:buNone/>
                      </a:pPr>
                      <a:r>
                        <a:rPr lang="en-IN" sz="1050"/>
                        <a:t>0.26 (March)</a:t>
                      </a:r>
                    </a:p>
                  </a:txBody>
                  <a:tcPr marL="47809" marR="47809" marT="23905" marB="23905" anchor="ctr"/>
                </a:tc>
                <a:tc>
                  <a:txBody>
                    <a:bodyPr/>
                    <a:lstStyle/>
                    <a:p>
                      <a:pPr>
                        <a:buNone/>
                      </a:pPr>
                      <a:r>
                        <a:rPr lang="en-IN" sz="1050"/>
                        <a:t>Time</a:t>
                      </a:r>
                    </a:p>
                  </a:txBody>
                  <a:tcPr marL="47809" marR="47809" marT="23905" marB="23905" anchor="ctr"/>
                </a:tc>
                <a:tc>
                  <a:txBody>
                    <a:bodyPr/>
                    <a:lstStyle/>
                    <a:p>
                      <a:pPr>
                        <a:buNone/>
                      </a:pPr>
                      <a:r>
                        <a:rPr lang="en-IN" sz="1050" dirty="0"/>
                        <a:t>+0.60</a:t>
                      </a:r>
                    </a:p>
                  </a:txBody>
                  <a:tcPr marL="47809" marR="47809" marT="23905" marB="23905" anchor="ctr"/>
                </a:tc>
                <a:tc>
                  <a:txBody>
                    <a:bodyPr/>
                    <a:lstStyle/>
                    <a:p>
                      <a:pPr>
                        <a:buNone/>
                      </a:pPr>
                      <a:r>
                        <a:rPr lang="en-IN" sz="1050" dirty="0"/>
                        <a:t>Summer conditions; elevated temperature accelerates microbial oxygen uptake.</a:t>
                      </a:r>
                    </a:p>
                  </a:txBody>
                  <a:tcPr marL="47809" marR="47809" marT="23905" marB="23905" anchor="ctr"/>
                </a:tc>
                <a:extLst>
                  <a:ext uri="{0D108BD9-81ED-4DB2-BD59-A6C34878D82A}">
                    <a16:rowId xmlns:a16="http://schemas.microsoft.com/office/drawing/2014/main" val="103678944"/>
                  </a:ext>
                </a:extLst>
              </a:tr>
            </a:tbl>
          </a:graphicData>
        </a:graphic>
      </p:graphicFrame>
      <p:sp>
        <p:nvSpPr>
          <p:cNvPr id="5" name="TextBox 4">
            <a:extLst>
              <a:ext uri="{FF2B5EF4-FFF2-40B4-BE49-F238E27FC236}">
                <a16:creationId xmlns:a16="http://schemas.microsoft.com/office/drawing/2014/main" id="{83146011-AE43-B8F3-AF6F-111584299840}"/>
              </a:ext>
            </a:extLst>
          </p:cNvPr>
          <p:cNvSpPr txBox="1"/>
          <p:nvPr/>
        </p:nvSpPr>
        <p:spPr>
          <a:xfrm>
            <a:off x="457200" y="1417638"/>
            <a:ext cx="7398774" cy="307777"/>
          </a:xfrm>
          <a:prstGeom prst="rect">
            <a:avLst/>
          </a:prstGeom>
          <a:noFill/>
        </p:spPr>
        <p:txBody>
          <a:bodyPr wrap="square">
            <a:spAutoFit/>
          </a:bodyPr>
          <a:lstStyle/>
          <a:p>
            <a:pPr>
              <a:buNone/>
            </a:pPr>
            <a:r>
              <a:rPr lang="en-IN" dirty="0"/>
              <a:t>Local SHAP waterfall attribution for the June 4, 2025 alert at Waccamaw River:</a:t>
            </a:r>
          </a:p>
        </p:txBody>
      </p:sp>
    </p:spTree>
    <p:extLst>
      <p:ext uri="{BB962C8B-B14F-4D97-AF65-F5344CB8AC3E}">
        <p14:creationId xmlns:p14="http://schemas.microsoft.com/office/powerpoint/2010/main" val="162424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68;p13">
            <a:extLst>
              <a:ext uri="{FF2B5EF4-FFF2-40B4-BE49-F238E27FC236}">
                <a16:creationId xmlns:a16="http://schemas.microsoft.com/office/drawing/2014/main" id="{2969E496-9C50-1B97-5840-E3E14A353657}"/>
              </a:ext>
            </a:extLst>
          </p:cNvPr>
          <p:cNvSpPr txBox="1">
            <a:spLocks/>
          </p:cNvSpPr>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sz="2400" b="1"/>
              <a:t>Results &amp; Discussion — Performance on 2025 Holdout Set (H=24 h)</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D3378757-BBFC-85A4-7CAA-12880E9288CC}"/>
                  </a:ext>
                </a:extLst>
              </p:cNvPr>
              <p:cNvGraphicFramePr>
                <a:graphicFrameLocks noGrp="1"/>
              </p:cNvGraphicFramePr>
              <p:nvPr>
                <p:extLst>
                  <p:ext uri="{D42A27DB-BD31-4B8C-83A1-F6EECF244321}">
                    <p14:modId xmlns:p14="http://schemas.microsoft.com/office/powerpoint/2010/main" val="81167443"/>
                  </p:ext>
                </p:extLst>
              </p:nvPr>
            </p:nvGraphicFramePr>
            <p:xfrm>
              <a:off x="457200" y="1302861"/>
              <a:ext cx="8229600" cy="2602992"/>
            </p:xfrm>
            <a:graphic>
              <a:graphicData uri="http://schemas.openxmlformats.org/drawingml/2006/table">
                <a:tbl>
                  <a:tblPr>
                    <a:tableStyleId>{F9BC6C1E-BED5-463D-9D9D-55BB47110D15}</a:tableStyleId>
                  </a:tblPr>
                  <a:tblGrid>
                    <a:gridCol w="1371600">
                      <a:extLst>
                        <a:ext uri="{9D8B030D-6E8A-4147-A177-3AD203B41FA5}">
                          <a16:colId xmlns:a16="http://schemas.microsoft.com/office/drawing/2014/main" val="3470800306"/>
                        </a:ext>
                      </a:extLst>
                    </a:gridCol>
                    <a:gridCol w="1371600">
                      <a:extLst>
                        <a:ext uri="{9D8B030D-6E8A-4147-A177-3AD203B41FA5}">
                          <a16:colId xmlns:a16="http://schemas.microsoft.com/office/drawing/2014/main" val="2509157506"/>
                        </a:ext>
                      </a:extLst>
                    </a:gridCol>
                    <a:gridCol w="1371600">
                      <a:extLst>
                        <a:ext uri="{9D8B030D-6E8A-4147-A177-3AD203B41FA5}">
                          <a16:colId xmlns:a16="http://schemas.microsoft.com/office/drawing/2014/main" val="1214757611"/>
                        </a:ext>
                      </a:extLst>
                    </a:gridCol>
                    <a:gridCol w="1371600">
                      <a:extLst>
                        <a:ext uri="{9D8B030D-6E8A-4147-A177-3AD203B41FA5}">
                          <a16:colId xmlns:a16="http://schemas.microsoft.com/office/drawing/2014/main" val="109442455"/>
                        </a:ext>
                      </a:extLst>
                    </a:gridCol>
                    <a:gridCol w="1371600">
                      <a:extLst>
                        <a:ext uri="{9D8B030D-6E8A-4147-A177-3AD203B41FA5}">
                          <a16:colId xmlns:a16="http://schemas.microsoft.com/office/drawing/2014/main" val="764910614"/>
                        </a:ext>
                      </a:extLst>
                    </a:gridCol>
                    <a:gridCol w="1371600">
                      <a:extLst>
                        <a:ext uri="{9D8B030D-6E8A-4147-A177-3AD203B41FA5}">
                          <a16:colId xmlns:a16="http://schemas.microsoft.com/office/drawing/2014/main" val="653930162"/>
                        </a:ext>
                      </a:extLst>
                    </a:gridCol>
                  </a:tblGrid>
                  <a:tr h="0">
                    <a:tc>
                      <a:txBody>
                        <a:bodyPr/>
                        <a:lstStyle/>
                        <a:p>
                          <a:pPr>
                            <a:buNone/>
                          </a:pPr>
                          <a:r>
                            <a:rPr lang="en-IN"/>
                            <a:t>Model Strategy</a:t>
                          </a:r>
                        </a:p>
                      </a:txBody>
                      <a:tcPr anchor="ctr"/>
                    </a:tc>
                    <a:tc>
                      <a:txBody>
                        <a:bodyPr/>
                        <a:lstStyle/>
                        <a:p>
                          <a:pPr>
                            <a:buNone/>
                          </a:pPr>
                          <a:r>
                            <a:rPr lang="en-IN"/>
                            <a:t>Modalities Included</a:t>
                          </a:r>
                        </a:p>
                      </a:txBody>
                      <a:tcPr anchor="ctr"/>
                    </a:tc>
                    <a:tc>
                      <a:txBody>
                        <a:bodyPr/>
                        <a:lstStyle/>
                        <a:p>
                          <a:pPr>
                            <a:buNone/>
                          </a:pPr>
                          <a:r>
                            <a:rPr lang="en-IN"/>
                            <a:t>Precision</a:t>
                          </a:r>
                        </a:p>
                      </a:txBody>
                      <a:tcPr anchor="ctr"/>
                    </a:tc>
                    <a:tc>
                      <a:txBody>
                        <a:bodyPr/>
                        <a:lstStyle/>
                        <a:p>
                          <a:pPr>
                            <a:buNone/>
                          </a:pPr>
                          <a:r>
                            <a:rPr lang="en-IN"/>
                            <a:t>Recall</a:t>
                          </a:r>
                        </a:p>
                      </a:txBody>
                      <a:tcPr anchor="ctr"/>
                    </a:tc>
                    <a:tc>
                      <a:txBody>
                        <a:bodyPr/>
                        <a:lstStyle/>
                        <a:p>
                          <a:pPr>
                            <a:buNone/>
                          </a:pPr>
                          <a:r>
                            <a:rPr lang="en-IN"/>
                            <a:t>Event F1</a:t>
                          </a:r>
                        </a:p>
                      </a:txBody>
                      <a:tcPr anchor="ctr"/>
                    </a:tc>
                    <a:tc>
                      <a:txBody>
                        <a:bodyPr/>
                        <a:lstStyle/>
                        <a:p>
                          <a:pPr>
                            <a:buNone/>
                          </a:pPr>
                          <a:r>
                            <a:rPr lang="en-IN"/>
                            <a:t>Median Lead Time</a:t>
                          </a:r>
                        </a:p>
                      </a:txBody>
                      <a:tcPr anchor="ctr"/>
                    </a:tc>
                    <a:extLst>
                      <a:ext uri="{0D108BD9-81ED-4DB2-BD59-A6C34878D82A}">
                        <a16:rowId xmlns:a16="http://schemas.microsoft.com/office/drawing/2014/main" val="370013165"/>
                      </a:ext>
                    </a:extLst>
                  </a:tr>
                  <a:tr h="0">
                    <a:tc>
                      <a:txBody>
                        <a:bodyPr/>
                        <a:lstStyle/>
                        <a:p>
                          <a:pPr>
                            <a:buNone/>
                          </a:pPr>
                          <a:r>
                            <a:rPr lang="en-IN"/>
                            <a:t>Threshold Baseline</a:t>
                          </a:r>
                        </a:p>
                      </a:txBody>
                      <a:tcPr anchor="ctr"/>
                    </a:tc>
                    <a:tc>
                      <a:txBody>
                        <a:bodyPr/>
                        <a:lstStyle/>
                        <a:p>
                          <a:pPr>
                            <a:buNone/>
                          </a:pPr>
                          <a:r>
                            <a:rPr lang="en-IN"/>
                            <a:t>DO sensor only</a:t>
                          </a:r>
                        </a:p>
                      </a:txBody>
                      <a:tcPr anchor="ctr"/>
                    </a:tc>
                    <a:tc>
                      <a:txBody>
                        <a:bodyPr/>
                        <a:lstStyle/>
                        <a:p>
                          <a:pPr>
                            <a:buNone/>
                          </a:pPr>
                          <a:r>
                            <a:rPr lang="en-IN"/>
                            <a:t>0.743</a:t>
                          </a:r>
                        </a:p>
                      </a:txBody>
                      <a:tcPr anchor="ctr"/>
                    </a:tc>
                    <a:tc>
                      <a:txBody>
                        <a:bodyPr/>
                        <a:lstStyle/>
                        <a:p>
                          <a:pPr>
                            <a:buNone/>
                          </a:pPr>
                          <a:r>
                            <a:rPr lang="en-IN"/>
                            <a:t>0.121</a:t>
                          </a:r>
                        </a:p>
                      </a:txBody>
                      <a:tcPr anchor="ctr"/>
                    </a:tc>
                    <a:tc>
                      <a:txBody>
                        <a:bodyPr/>
                        <a:lstStyle/>
                        <a:p>
                          <a:pPr>
                            <a:buNone/>
                          </a:pPr>
                          <a:r>
                            <a:rPr lang="en-IN"/>
                            <a:t>0.652</a:t>
                          </a:r>
                        </a:p>
                      </a:txBody>
                      <a:tcPr anchor="ctr"/>
                    </a:tc>
                    <a:tc>
                      <a:txBody>
                        <a:bodyPr/>
                        <a:lstStyle/>
                        <a:p>
                          <a:pPr>
                            <a:buNone/>
                          </a:pPr>
                          <a:r>
                            <a:rPr lang="en-IN"/>
                            <a:t>2.0 h</a:t>
                          </a:r>
                        </a:p>
                      </a:txBody>
                      <a:tcPr anchor="ctr"/>
                    </a:tc>
                    <a:extLst>
                      <a:ext uri="{0D108BD9-81ED-4DB2-BD59-A6C34878D82A}">
                        <a16:rowId xmlns:a16="http://schemas.microsoft.com/office/drawing/2014/main" val="2722666182"/>
                      </a:ext>
                    </a:extLst>
                  </a:tr>
                  <a:tr h="0">
                    <a:tc>
                      <a:txBody>
                        <a:bodyPr/>
                        <a:lstStyle/>
                        <a:p>
                          <a:pPr>
                            <a:buNone/>
                          </a:pPr>
                          <a:r>
                            <a:rPr lang="en-IN"/>
                            <a:t>Model A</a:t>
                          </a:r>
                        </a:p>
                      </a:txBody>
                      <a:tcPr anchor="ctr"/>
                    </a:tc>
                    <a:tc>
                      <a:txBody>
                        <a:bodyPr/>
                        <a:lstStyle/>
                        <a:p>
                          <a:pPr>
                            <a:buNone/>
                          </a:pPr>
                          <a:r>
                            <a:rPr lang="en-IN"/>
                            <a:t>Water sensors only</a:t>
                          </a:r>
                        </a:p>
                      </a:txBody>
                      <a:tcPr anchor="ctr"/>
                    </a:tc>
                    <a:tc>
                      <a:txBody>
                        <a:bodyPr/>
                        <a:lstStyle/>
                        <a:p>
                          <a:pPr>
                            <a:buNone/>
                          </a:pPr>
                          <a:r>
                            <a:rPr lang="en-IN"/>
                            <a:t>—</a:t>
                          </a:r>
                        </a:p>
                      </a:txBody>
                      <a:tcPr anchor="ctr"/>
                    </a:tc>
                    <a:tc>
                      <a:txBody>
                        <a:bodyPr/>
                        <a:lstStyle/>
                        <a:p>
                          <a:pPr>
                            <a:buNone/>
                          </a:pPr>
                          <a:r>
                            <a:rPr lang="en-IN"/>
                            <a:t>—</a:t>
                          </a:r>
                        </a:p>
                      </a:txBody>
                      <a:tcPr anchor="ctr"/>
                    </a:tc>
                    <a:tc>
                      <a:txBody>
                        <a:bodyPr/>
                        <a:lstStyle/>
                        <a:p>
                          <a:pPr>
                            <a:buNone/>
                          </a:pPr>
                          <a:r>
                            <a:rPr lang="en-IN"/>
                            <a:t>0.569</a:t>
                          </a:r>
                        </a:p>
                      </a:txBody>
                      <a:tcPr anchor="ctr"/>
                    </a:tc>
                    <a:tc>
                      <a:txBody>
                        <a:bodyPr/>
                        <a:lstStyle/>
                        <a:p>
                          <a:pPr>
                            <a:buNone/>
                          </a:pPr>
                          <a:r>
                            <a:rPr lang="en-IN"/>
                            <a:t>5.0 h</a:t>
                          </a:r>
                        </a:p>
                      </a:txBody>
                      <a:tcPr anchor="ctr"/>
                    </a:tc>
                    <a:extLst>
                      <a:ext uri="{0D108BD9-81ED-4DB2-BD59-A6C34878D82A}">
                        <a16:rowId xmlns:a16="http://schemas.microsoft.com/office/drawing/2014/main" val="2113889169"/>
                      </a:ext>
                    </a:extLst>
                  </a:tr>
                  <a:tr h="0">
                    <a:tc>
                      <a:txBody>
                        <a:bodyPr/>
                        <a:lstStyle/>
                        <a:p>
                          <a:pPr>
                            <a:buNone/>
                          </a:pPr>
                          <a:r>
                            <a:rPr lang="en-IN"/>
                            <a:t>Model C (Early Fusion)</a:t>
                          </a:r>
                        </a:p>
                      </a:txBody>
                      <a:tcPr anchor="ctr"/>
                    </a:tc>
                    <a:tc>
                      <a:txBody>
                        <a:bodyPr/>
                        <a:lstStyle/>
                        <a:p>
                          <a:pPr>
                            <a:buNone/>
                          </a:pPr>
                          <a:r>
                            <a:rPr lang="en-IN"/>
                            <a:t>Water + Weather + Air</a:t>
                          </a:r>
                        </a:p>
                      </a:txBody>
                      <a:tcPr anchor="ctr"/>
                    </a:tc>
                    <a:tc>
                      <a:txBody>
                        <a:bodyPr/>
                        <a:lstStyle/>
                        <a:p>
                          <a:pPr>
                            <a:buNone/>
                          </a:pPr>
                          <a:r>
                            <a:rPr lang="en-IN"/>
                            <a:t>—</a:t>
                          </a:r>
                        </a:p>
                      </a:txBody>
                      <a:tcPr anchor="ctr"/>
                    </a:tc>
                    <a:tc>
                      <a:txBody>
                        <a:bodyPr/>
                        <a:lstStyle/>
                        <a:p>
                          <a:pPr>
                            <a:buNone/>
                          </a:pPr>
                          <a:r>
                            <a:rPr lang="en-IN"/>
                            <a:t>—</a:t>
                          </a:r>
                        </a:p>
                      </a:txBody>
                      <a:tcPr anchor="ctr"/>
                    </a:tc>
                    <a:tc>
                      <a:txBody>
                        <a:bodyPr/>
                        <a:lstStyle/>
                        <a:p>
                          <a:pPr>
                            <a:buNone/>
                          </a:pPr>
                          <a:r>
                            <a:rPr lang="en-IN"/>
                            <a:t>0.561</a:t>
                          </a:r>
                        </a:p>
                      </a:txBody>
                      <a:tcPr anchor="ctr"/>
                    </a:tc>
                    <a:tc>
                      <a:txBody>
                        <a:bodyPr/>
                        <a:lstStyle/>
                        <a:p>
                          <a:pPr>
                            <a:buNone/>
                          </a:pPr>
                          <a:r>
                            <a:rPr lang="en-IN"/>
                            <a:t>4.5 h</a:t>
                          </a:r>
                        </a:p>
                      </a:txBody>
                      <a:tcPr anchor="ctr"/>
                    </a:tc>
                    <a:extLst>
                      <a:ext uri="{0D108BD9-81ED-4DB2-BD59-A6C34878D82A}">
                        <a16:rowId xmlns:a16="http://schemas.microsoft.com/office/drawing/2014/main" val="3391761062"/>
                      </a:ext>
                    </a:extLst>
                  </a:tr>
                  <a:tr h="0">
                    <a:tc>
                      <a:txBody>
                        <a:bodyPr/>
                        <a:lstStyle/>
                        <a:p>
                          <a:pPr>
                            <a:buNone/>
                          </a:pPr>
                          <a14:m>
                            <m:oMath xmlns:m="http://schemas.openxmlformats.org/officeDocument/2006/math">
                              <m:sSub>
                                <m:sSubPr>
                                  <m:ctrlPr>
                                    <a:rPr lang="en-IN">
                                      <a:latin typeface="Cambria Math" panose="02040503050406030204" pitchFamily="18" charset="0"/>
                                    </a:rPr>
                                  </m:ctrlPr>
                                </m:sSubPr>
                                <m:e>
                                  <m:r>
                                    <a:rPr lang="en-IN">
                                      <a:latin typeface="Cambria Math" panose="02040503050406030204" pitchFamily="18" charset="0"/>
                                    </a:rPr>
                                    <m:t>𝐸</m:t>
                                  </m:r>
                                </m:e>
                                <m:sub>
                                  <m:r>
                                    <m:rPr>
                                      <m:nor/>
                                    </m:rPr>
                                    <a:rPr lang="en-IN" i="0"/>
                                    <m:t>stack</m:t>
                                  </m:r>
                                </m:sub>
                              </m:sSub>
                            </m:oMath>
                          </a14:m>
                          <a:r>
                            <a:rPr lang="en-IN"/>
                            <a:t>(Late Fusion)</a:t>
                          </a:r>
                        </a:p>
                      </a:txBody>
                      <a:tcPr anchor="ctr"/>
                    </a:tc>
                    <a:tc>
                      <a:txBody>
                        <a:bodyPr/>
                        <a:lstStyle/>
                        <a:p>
                          <a:pPr>
                            <a:buNone/>
                          </a:pPr>
                          <a:r>
                            <a:rPr lang="en-IN"/>
                            <a:t>Water + Weather + Air</a:t>
                          </a:r>
                        </a:p>
                      </a:txBody>
                      <a:tcPr anchor="ctr"/>
                    </a:tc>
                    <a:tc>
                      <a:txBody>
                        <a:bodyPr/>
                        <a:lstStyle/>
                        <a:p>
                          <a:pPr>
                            <a:buNone/>
                          </a:pPr>
                          <a:r>
                            <a:rPr lang="en-IN"/>
                            <a:t>0.391</a:t>
                          </a:r>
                        </a:p>
                      </a:txBody>
                      <a:tcPr anchor="ctr"/>
                    </a:tc>
                    <a:tc>
                      <a:txBody>
                        <a:bodyPr/>
                        <a:lstStyle/>
                        <a:p>
                          <a:pPr>
                            <a:buNone/>
                          </a:pPr>
                          <a:r>
                            <a:rPr lang="en-IN" dirty="0"/>
                            <a:t>0.512</a:t>
                          </a:r>
                        </a:p>
                      </a:txBody>
                      <a:tcPr anchor="ctr"/>
                    </a:tc>
                    <a:tc>
                      <a:txBody>
                        <a:bodyPr/>
                        <a:lstStyle/>
                        <a:p>
                          <a:pPr>
                            <a:buNone/>
                          </a:pPr>
                          <a:r>
                            <a:rPr lang="en-IN"/>
                            <a:t>0.524</a:t>
                          </a:r>
                        </a:p>
                      </a:txBody>
                      <a:tcPr anchor="ctr"/>
                    </a:tc>
                    <a:tc>
                      <a:txBody>
                        <a:bodyPr/>
                        <a:lstStyle/>
                        <a:p>
                          <a:pPr>
                            <a:buNone/>
                          </a:pPr>
                          <a:r>
                            <a:rPr lang="en-IN" dirty="0"/>
                            <a:t>5.8 h</a:t>
                          </a:r>
                        </a:p>
                      </a:txBody>
                      <a:tcPr anchor="ctr"/>
                    </a:tc>
                    <a:extLst>
                      <a:ext uri="{0D108BD9-81ED-4DB2-BD59-A6C34878D82A}">
                        <a16:rowId xmlns:a16="http://schemas.microsoft.com/office/drawing/2014/main" val="3858556671"/>
                      </a:ext>
                    </a:extLst>
                  </a:tr>
                </a:tbl>
              </a:graphicData>
            </a:graphic>
          </p:graphicFrame>
        </mc:Choice>
        <mc:Fallback xmlns="">
          <p:graphicFrame>
            <p:nvGraphicFramePr>
              <p:cNvPr id="2" name="Table 1">
                <a:extLst>
                  <a:ext uri="{FF2B5EF4-FFF2-40B4-BE49-F238E27FC236}">
                    <a16:creationId xmlns:a16="http://schemas.microsoft.com/office/drawing/2014/main" id="{D3378757-BBFC-85A4-7CAA-12880E9288CC}"/>
                  </a:ext>
                </a:extLst>
              </p:cNvPr>
              <p:cNvGraphicFramePr>
                <a:graphicFrameLocks noGrp="1"/>
              </p:cNvGraphicFramePr>
              <p:nvPr>
                <p:extLst>
                  <p:ext uri="{D42A27DB-BD31-4B8C-83A1-F6EECF244321}">
                    <p14:modId xmlns:p14="http://schemas.microsoft.com/office/powerpoint/2010/main" val="81167443"/>
                  </p:ext>
                </p:extLst>
              </p:nvPr>
            </p:nvGraphicFramePr>
            <p:xfrm>
              <a:off x="457200" y="1302861"/>
              <a:ext cx="8229600" cy="2602992"/>
            </p:xfrm>
            <a:graphic>
              <a:graphicData uri="http://schemas.openxmlformats.org/drawingml/2006/table">
                <a:tbl>
                  <a:tblPr>
                    <a:tableStyleId>{F9BC6C1E-BED5-463D-9D9D-55BB47110D15}</a:tableStyleId>
                  </a:tblPr>
                  <a:tblGrid>
                    <a:gridCol w="1371600">
                      <a:extLst>
                        <a:ext uri="{9D8B030D-6E8A-4147-A177-3AD203B41FA5}">
                          <a16:colId xmlns:a16="http://schemas.microsoft.com/office/drawing/2014/main" val="3470800306"/>
                        </a:ext>
                      </a:extLst>
                    </a:gridCol>
                    <a:gridCol w="1371600">
                      <a:extLst>
                        <a:ext uri="{9D8B030D-6E8A-4147-A177-3AD203B41FA5}">
                          <a16:colId xmlns:a16="http://schemas.microsoft.com/office/drawing/2014/main" val="2509157506"/>
                        </a:ext>
                      </a:extLst>
                    </a:gridCol>
                    <a:gridCol w="1371600">
                      <a:extLst>
                        <a:ext uri="{9D8B030D-6E8A-4147-A177-3AD203B41FA5}">
                          <a16:colId xmlns:a16="http://schemas.microsoft.com/office/drawing/2014/main" val="1214757611"/>
                        </a:ext>
                      </a:extLst>
                    </a:gridCol>
                    <a:gridCol w="1371600">
                      <a:extLst>
                        <a:ext uri="{9D8B030D-6E8A-4147-A177-3AD203B41FA5}">
                          <a16:colId xmlns:a16="http://schemas.microsoft.com/office/drawing/2014/main" val="109442455"/>
                        </a:ext>
                      </a:extLst>
                    </a:gridCol>
                    <a:gridCol w="1371600">
                      <a:extLst>
                        <a:ext uri="{9D8B030D-6E8A-4147-A177-3AD203B41FA5}">
                          <a16:colId xmlns:a16="http://schemas.microsoft.com/office/drawing/2014/main" val="764910614"/>
                        </a:ext>
                      </a:extLst>
                    </a:gridCol>
                    <a:gridCol w="1371600">
                      <a:extLst>
                        <a:ext uri="{9D8B030D-6E8A-4147-A177-3AD203B41FA5}">
                          <a16:colId xmlns:a16="http://schemas.microsoft.com/office/drawing/2014/main" val="653930162"/>
                        </a:ext>
                      </a:extLst>
                    </a:gridCol>
                  </a:tblGrid>
                  <a:tr h="518160">
                    <a:tc>
                      <a:txBody>
                        <a:bodyPr/>
                        <a:lstStyle/>
                        <a:p>
                          <a:pPr>
                            <a:buNone/>
                          </a:pPr>
                          <a:r>
                            <a:rPr lang="en-IN"/>
                            <a:t>Model Strategy</a:t>
                          </a:r>
                        </a:p>
                      </a:txBody>
                      <a:tcPr anchor="ctr"/>
                    </a:tc>
                    <a:tc>
                      <a:txBody>
                        <a:bodyPr/>
                        <a:lstStyle/>
                        <a:p>
                          <a:pPr>
                            <a:buNone/>
                          </a:pPr>
                          <a:r>
                            <a:rPr lang="en-IN"/>
                            <a:t>Modalities Included</a:t>
                          </a:r>
                        </a:p>
                      </a:txBody>
                      <a:tcPr anchor="ctr"/>
                    </a:tc>
                    <a:tc>
                      <a:txBody>
                        <a:bodyPr/>
                        <a:lstStyle/>
                        <a:p>
                          <a:pPr>
                            <a:buNone/>
                          </a:pPr>
                          <a:r>
                            <a:rPr lang="en-IN"/>
                            <a:t>Precision</a:t>
                          </a:r>
                        </a:p>
                      </a:txBody>
                      <a:tcPr anchor="ctr"/>
                    </a:tc>
                    <a:tc>
                      <a:txBody>
                        <a:bodyPr/>
                        <a:lstStyle/>
                        <a:p>
                          <a:pPr>
                            <a:buNone/>
                          </a:pPr>
                          <a:r>
                            <a:rPr lang="en-IN"/>
                            <a:t>Recall</a:t>
                          </a:r>
                        </a:p>
                      </a:txBody>
                      <a:tcPr anchor="ctr"/>
                    </a:tc>
                    <a:tc>
                      <a:txBody>
                        <a:bodyPr/>
                        <a:lstStyle/>
                        <a:p>
                          <a:pPr>
                            <a:buNone/>
                          </a:pPr>
                          <a:r>
                            <a:rPr lang="en-IN"/>
                            <a:t>Event F1</a:t>
                          </a:r>
                        </a:p>
                      </a:txBody>
                      <a:tcPr anchor="ctr"/>
                    </a:tc>
                    <a:tc>
                      <a:txBody>
                        <a:bodyPr/>
                        <a:lstStyle/>
                        <a:p>
                          <a:pPr>
                            <a:buNone/>
                          </a:pPr>
                          <a:r>
                            <a:rPr lang="en-IN"/>
                            <a:t>Median Lead Time</a:t>
                          </a:r>
                        </a:p>
                      </a:txBody>
                      <a:tcPr anchor="ctr"/>
                    </a:tc>
                    <a:extLst>
                      <a:ext uri="{0D108BD9-81ED-4DB2-BD59-A6C34878D82A}">
                        <a16:rowId xmlns:a16="http://schemas.microsoft.com/office/drawing/2014/main" val="370013165"/>
                      </a:ext>
                    </a:extLst>
                  </a:tr>
                  <a:tr h="518160">
                    <a:tc>
                      <a:txBody>
                        <a:bodyPr/>
                        <a:lstStyle/>
                        <a:p>
                          <a:pPr>
                            <a:buNone/>
                          </a:pPr>
                          <a:r>
                            <a:rPr lang="en-IN"/>
                            <a:t>Threshold Baseline</a:t>
                          </a:r>
                        </a:p>
                      </a:txBody>
                      <a:tcPr anchor="ctr"/>
                    </a:tc>
                    <a:tc>
                      <a:txBody>
                        <a:bodyPr/>
                        <a:lstStyle/>
                        <a:p>
                          <a:pPr>
                            <a:buNone/>
                          </a:pPr>
                          <a:r>
                            <a:rPr lang="en-IN"/>
                            <a:t>DO sensor only</a:t>
                          </a:r>
                        </a:p>
                      </a:txBody>
                      <a:tcPr anchor="ctr"/>
                    </a:tc>
                    <a:tc>
                      <a:txBody>
                        <a:bodyPr/>
                        <a:lstStyle/>
                        <a:p>
                          <a:pPr>
                            <a:buNone/>
                          </a:pPr>
                          <a:r>
                            <a:rPr lang="en-IN"/>
                            <a:t>0.743</a:t>
                          </a:r>
                        </a:p>
                      </a:txBody>
                      <a:tcPr anchor="ctr"/>
                    </a:tc>
                    <a:tc>
                      <a:txBody>
                        <a:bodyPr/>
                        <a:lstStyle/>
                        <a:p>
                          <a:pPr>
                            <a:buNone/>
                          </a:pPr>
                          <a:r>
                            <a:rPr lang="en-IN"/>
                            <a:t>0.121</a:t>
                          </a:r>
                        </a:p>
                      </a:txBody>
                      <a:tcPr anchor="ctr"/>
                    </a:tc>
                    <a:tc>
                      <a:txBody>
                        <a:bodyPr/>
                        <a:lstStyle/>
                        <a:p>
                          <a:pPr>
                            <a:buNone/>
                          </a:pPr>
                          <a:r>
                            <a:rPr lang="en-IN"/>
                            <a:t>0.652</a:t>
                          </a:r>
                        </a:p>
                      </a:txBody>
                      <a:tcPr anchor="ctr"/>
                    </a:tc>
                    <a:tc>
                      <a:txBody>
                        <a:bodyPr/>
                        <a:lstStyle/>
                        <a:p>
                          <a:pPr>
                            <a:buNone/>
                          </a:pPr>
                          <a:r>
                            <a:rPr lang="en-IN"/>
                            <a:t>2.0 h</a:t>
                          </a:r>
                        </a:p>
                      </a:txBody>
                      <a:tcPr anchor="ctr"/>
                    </a:tc>
                    <a:extLst>
                      <a:ext uri="{0D108BD9-81ED-4DB2-BD59-A6C34878D82A}">
                        <a16:rowId xmlns:a16="http://schemas.microsoft.com/office/drawing/2014/main" val="2722666182"/>
                      </a:ext>
                    </a:extLst>
                  </a:tr>
                  <a:tr h="518160">
                    <a:tc>
                      <a:txBody>
                        <a:bodyPr/>
                        <a:lstStyle/>
                        <a:p>
                          <a:pPr>
                            <a:buNone/>
                          </a:pPr>
                          <a:r>
                            <a:rPr lang="en-IN"/>
                            <a:t>Model A</a:t>
                          </a:r>
                        </a:p>
                      </a:txBody>
                      <a:tcPr anchor="ctr"/>
                    </a:tc>
                    <a:tc>
                      <a:txBody>
                        <a:bodyPr/>
                        <a:lstStyle/>
                        <a:p>
                          <a:pPr>
                            <a:buNone/>
                          </a:pPr>
                          <a:r>
                            <a:rPr lang="en-IN"/>
                            <a:t>Water sensors only</a:t>
                          </a:r>
                        </a:p>
                      </a:txBody>
                      <a:tcPr anchor="ctr"/>
                    </a:tc>
                    <a:tc>
                      <a:txBody>
                        <a:bodyPr/>
                        <a:lstStyle/>
                        <a:p>
                          <a:pPr>
                            <a:buNone/>
                          </a:pPr>
                          <a:r>
                            <a:rPr lang="en-IN"/>
                            <a:t>—</a:t>
                          </a:r>
                        </a:p>
                      </a:txBody>
                      <a:tcPr anchor="ctr"/>
                    </a:tc>
                    <a:tc>
                      <a:txBody>
                        <a:bodyPr/>
                        <a:lstStyle/>
                        <a:p>
                          <a:pPr>
                            <a:buNone/>
                          </a:pPr>
                          <a:r>
                            <a:rPr lang="en-IN"/>
                            <a:t>—</a:t>
                          </a:r>
                        </a:p>
                      </a:txBody>
                      <a:tcPr anchor="ctr"/>
                    </a:tc>
                    <a:tc>
                      <a:txBody>
                        <a:bodyPr/>
                        <a:lstStyle/>
                        <a:p>
                          <a:pPr>
                            <a:buNone/>
                          </a:pPr>
                          <a:r>
                            <a:rPr lang="en-IN"/>
                            <a:t>0.569</a:t>
                          </a:r>
                        </a:p>
                      </a:txBody>
                      <a:tcPr anchor="ctr"/>
                    </a:tc>
                    <a:tc>
                      <a:txBody>
                        <a:bodyPr/>
                        <a:lstStyle/>
                        <a:p>
                          <a:pPr>
                            <a:buNone/>
                          </a:pPr>
                          <a:r>
                            <a:rPr lang="en-IN"/>
                            <a:t>5.0 h</a:t>
                          </a:r>
                        </a:p>
                      </a:txBody>
                      <a:tcPr anchor="ctr"/>
                    </a:tc>
                    <a:extLst>
                      <a:ext uri="{0D108BD9-81ED-4DB2-BD59-A6C34878D82A}">
                        <a16:rowId xmlns:a16="http://schemas.microsoft.com/office/drawing/2014/main" val="2113889169"/>
                      </a:ext>
                    </a:extLst>
                  </a:tr>
                  <a:tr h="518160">
                    <a:tc>
                      <a:txBody>
                        <a:bodyPr/>
                        <a:lstStyle/>
                        <a:p>
                          <a:pPr>
                            <a:buNone/>
                          </a:pPr>
                          <a:r>
                            <a:rPr lang="en-IN"/>
                            <a:t>Model C (Early Fusion)</a:t>
                          </a:r>
                        </a:p>
                      </a:txBody>
                      <a:tcPr anchor="ctr"/>
                    </a:tc>
                    <a:tc>
                      <a:txBody>
                        <a:bodyPr/>
                        <a:lstStyle/>
                        <a:p>
                          <a:pPr>
                            <a:buNone/>
                          </a:pPr>
                          <a:r>
                            <a:rPr lang="en-IN"/>
                            <a:t>Water + Weather + Air</a:t>
                          </a:r>
                        </a:p>
                      </a:txBody>
                      <a:tcPr anchor="ctr"/>
                    </a:tc>
                    <a:tc>
                      <a:txBody>
                        <a:bodyPr/>
                        <a:lstStyle/>
                        <a:p>
                          <a:pPr>
                            <a:buNone/>
                          </a:pPr>
                          <a:r>
                            <a:rPr lang="en-IN"/>
                            <a:t>—</a:t>
                          </a:r>
                        </a:p>
                      </a:txBody>
                      <a:tcPr anchor="ctr"/>
                    </a:tc>
                    <a:tc>
                      <a:txBody>
                        <a:bodyPr/>
                        <a:lstStyle/>
                        <a:p>
                          <a:pPr>
                            <a:buNone/>
                          </a:pPr>
                          <a:r>
                            <a:rPr lang="en-IN"/>
                            <a:t>—</a:t>
                          </a:r>
                        </a:p>
                      </a:txBody>
                      <a:tcPr anchor="ctr"/>
                    </a:tc>
                    <a:tc>
                      <a:txBody>
                        <a:bodyPr/>
                        <a:lstStyle/>
                        <a:p>
                          <a:pPr>
                            <a:buNone/>
                          </a:pPr>
                          <a:r>
                            <a:rPr lang="en-IN"/>
                            <a:t>0.561</a:t>
                          </a:r>
                        </a:p>
                      </a:txBody>
                      <a:tcPr anchor="ctr"/>
                    </a:tc>
                    <a:tc>
                      <a:txBody>
                        <a:bodyPr/>
                        <a:lstStyle/>
                        <a:p>
                          <a:pPr>
                            <a:buNone/>
                          </a:pPr>
                          <a:r>
                            <a:rPr lang="en-IN"/>
                            <a:t>4.5 h</a:t>
                          </a:r>
                        </a:p>
                      </a:txBody>
                      <a:tcPr anchor="ctr"/>
                    </a:tc>
                    <a:extLst>
                      <a:ext uri="{0D108BD9-81ED-4DB2-BD59-A6C34878D82A}">
                        <a16:rowId xmlns:a16="http://schemas.microsoft.com/office/drawing/2014/main" val="3391761062"/>
                      </a:ext>
                    </a:extLst>
                  </a:tr>
                  <a:tr h="530352">
                    <a:tc>
                      <a:txBody>
                        <a:bodyPr/>
                        <a:lstStyle/>
                        <a:p>
                          <a:endParaRPr lang="en-US"/>
                        </a:p>
                      </a:txBody>
                      <a:tcPr anchor="ctr">
                        <a:blipFill>
                          <a:blip r:embed="rId2"/>
                          <a:stretch>
                            <a:fillRect l="-889" t="-393103" r="-501333" b="-11494"/>
                          </a:stretch>
                        </a:blipFill>
                      </a:tcPr>
                    </a:tc>
                    <a:tc>
                      <a:txBody>
                        <a:bodyPr/>
                        <a:lstStyle/>
                        <a:p>
                          <a:pPr>
                            <a:buNone/>
                          </a:pPr>
                          <a:r>
                            <a:rPr lang="en-IN"/>
                            <a:t>Water + Weather + Air</a:t>
                          </a:r>
                        </a:p>
                      </a:txBody>
                      <a:tcPr anchor="ctr"/>
                    </a:tc>
                    <a:tc>
                      <a:txBody>
                        <a:bodyPr/>
                        <a:lstStyle/>
                        <a:p>
                          <a:pPr>
                            <a:buNone/>
                          </a:pPr>
                          <a:r>
                            <a:rPr lang="en-IN"/>
                            <a:t>0.391</a:t>
                          </a:r>
                        </a:p>
                      </a:txBody>
                      <a:tcPr anchor="ctr"/>
                    </a:tc>
                    <a:tc>
                      <a:txBody>
                        <a:bodyPr/>
                        <a:lstStyle/>
                        <a:p>
                          <a:pPr>
                            <a:buNone/>
                          </a:pPr>
                          <a:r>
                            <a:rPr lang="en-IN" dirty="0"/>
                            <a:t>0.512</a:t>
                          </a:r>
                        </a:p>
                      </a:txBody>
                      <a:tcPr anchor="ctr"/>
                    </a:tc>
                    <a:tc>
                      <a:txBody>
                        <a:bodyPr/>
                        <a:lstStyle/>
                        <a:p>
                          <a:pPr>
                            <a:buNone/>
                          </a:pPr>
                          <a:r>
                            <a:rPr lang="en-IN"/>
                            <a:t>0.524</a:t>
                          </a:r>
                        </a:p>
                      </a:txBody>
                      <a:tcPr anchor="ctr"/>
                    </a:tc>
                    <a:tc>
                      <a:txBody>
                        <a:bodyPr/>
                        <a:lstStyle/>
                        <a:p>
                          <a:pPr>
                            <a:buNone/>
                          </a:pPr>
                          <a:r>
                            <a:rPr lang="en-IN" dirty="0"/>
                            <a:t>5.8 h</a:t>
                          </a:r>
                        </a:p>
                      </a:txBody>
                      <a:tcPr anchor="ctr"/>
                    </a:tc>
                    <a:extLst>
                      <a:ext uri="{0D108BD9-81ED-4DB2-BD59-A6C34878D82A}">
                        <a16:rowId xmlns:a16="http://schemas.microsoft.com/office/drawing/2014/main" val="3858556671"/>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6F1CFD5-029B-4F71-B78F-93B0A8868963}"/>
                  </a:ext>
                </a:extLst>
              </p:cNvPr>
              <p:cNvSpPr txBox="1"/>
              <p:nvPr/>
            </p:nvSpPr>
            <p:spPr>
              <a:xfrm>
                <a:off x="457200" y="4171958"/>
                <a:ext cx="8229600" cy="2031325"/>
              </a:xfrm>
              <a:prstGeom prst="rect">
                <a:avLst/>
              </a:prstGeom>
              <a:noFill/>
            </p:spPr>
            <p:txBody>
              <a:bodyPr wrap="square">
                <a:spAutoFit/>
              </a:bodyPr>
              <a:lstStyle/>
              <a:p>
                <a:pPr>
                  <a:buNone/>
                </a:pPr>
                <a:r>
                  <a:rPr lang="en-IN" b="1"/>
                  <a:t>Synthesis of Findings</a:t>
                </a:r>
              </a:p>
              <a:p>
                <a:pPr marL="342900" lvl="0" indent="-342900">
                  <a:buFont typeface="+mj-lt"/>
                  <a:buAutoNum type="arabicPeriod"/>
                </a:pPr>
                <a:r>
                  <a:rPr lang="en-IN" b="1" dirty="0"/>
                  <a:t>No Auxiliary Modality Gain:</a:t>
                </a:r>
                <a:r>
                  <a:rPr lang="en-IN" dirty="0"/>
                  <a:t> Auxiliary meteorological and atmospheric inputs yielded no statistically significant improvement over in-situ water sensors alone.</a:t>
                </a:r>
              </a:p>
              <a:p>
                <a:pPr marL="342900" lvl="0" indent="-342900">
                  <a:buFont typeface="+mj-lt"/>
                  <a:buAutoNum type="arabicPeriod"/>
                </a:pPr>
                <a:r>
                  <a:rPr lang="en-IN" b="1" dirty="0"/>
                  <a:t>Late vs. Early Fusion Resilience:</a:t>
                </a:r>
                <a:r>
                  <a:rPr lang="en-IN" dirty="0"/>
                  <a:t> Decision-level late fusion prevented negative transfer and proved significantly superior to early fusion at </a:t>
                </a:r>
                <a14:m>
                  <m:oMath xmlns:m="http://schemas.openxmlformats.org/officeDocument/2006/math">
                    <m:r>
                      <a:rPr lang="en-IN" i="1">
                        <a:latin typeface="Cambria Math" panose="02040503050406030204" pitchFamily="18" charset="0"/>
                      </a:rPr>
                      <m:t>𝐻</m:t>
                    </m:r>
                    <m:r>
                      <a:rPr lang="en-IN" i="0">
                        <a:latin typeface="Cambria Math" panose="02040503050406030204" pitchFamily="18" charset="0"/>
                      </a:rPr>
                      <m:t>=12</m:t>
                    </m:r>
                    <m:r>
                      <m:rPr>
                        <m:nor/>
                      </m:rPr>
                      <a:rPr lang="en-IN" b="0" i="0">
                        <a:latin typeface="Arial"/>
                      </a:rPr>
                      <m:t> h</m:t>
                    </m:r>
                  </m:oMath>
                </a14:m>
                <a:r>
                  <a:rPr lang="en-IN" dirty="0"/>
                  <a:t>(</a:t>
                </a:r>
                <a14:m>
                  <m:oMath xmlns:m="http://schemas.openxmlformats.org/officeDocument/2006/math">
                    <m:r>
                      <a:rPr lang="en-IN">
                        <a:latin typeface="Cambria Math" panose="02040503050406030204" pitchFamily="18" charset="0"/>
                      </a:rPr>
                      <m:t>+</m:t>
                    </m:r>
                    <m:r>
                      <a:rPr lang="en-IN" i="0">
                        <a:latin typeface="Cambria Math" panose="02040503050406030204" pitchFamily="18" charset="0"/>
                      </a:rPr>
                      <m:t>0.112</m:t>
                    </m:r>
                    <m:r>
                      <m:rPr>
                        <m:nor/>
                      </m:rPr>
                      <a:rPr lang="en-IN" b="0" i="0">
                        <a:latin typeface="Arial"/>
                      </a:rPr>
                      <m:t> Event F1</m:t>
                    </m:r>
                  </m:oMath>
                </a14:m>
                <a:r>
                  <a:rPr lang="en-IN" dirty="0"/>
                  <a:t>).</a:t>
                </a:r>
              </a:p>
              <a:p>
                <a:pPr marL="342900" lvl="0" indent="-342900">
                  <a:buFont typeface="+mj-lt"/>
                  <a:buAutoNum type="arabicPeriod"/>
                </a:pPr>
                <a:r>
                  <a:rPr lang="en-IN" b="1" dirty="0"/>
                  <a:t>Threshold Baseline Characteristic:</a:t>
                </a:r>
                <a:r>
                  <a:rPr lang="en-IN" dirty="0"/>
                  <a:t> The reactive threshold rule achieves high precision only because it alerts when the water has already collapsed; its recall of transitions is low (</a:t>
                </a:r>
                <a14:m>
                  <m:oMath xmlns:m="http://schemas.openxmlformats.org/officeDocument/2006/math">
                    <m:r>
                      <a:rPr lang="en-IN">
                        <a:latin typeface="Cambria Math" panose="02040503050406030204" pitchFamily="18" charset="0"/>
                      </a:rPr>
                      <m:t>12</m:t>
                    </m:r>
                    <m:r>
                      <a:rPr lang="en-IN" i="0">
                        <a:latin typeface="Cambria Math" panose="02040503050406030204" pitchFamily="18" charset="0"/>
                      </a:rPr>
                      <m:t>%</m:t>
                    </m:r>
                  </m:oMath>
                </a14:m>
                <a:r>
                  <a:rPr lang="en-IN" dirty="0"/>
                  <a:t>).</a:t>
                </a:r>
              </a:p>
              <a:p>
                <a:pPr marL="342900" lvl="0" indent="-342900">
                  <a:buFont typeface="+mj-lt"/>
                  <a:buAutoNum type="arabicPeriod"/>
                </a:pPr>
                <a:r>
                  <a:rPr lang="en-IN" b="1" dirty="0"/>
                  <a:t>Substantial Lead-Time Gain:</a:t>
                </a:r>
                <a:r>
                  <a:rPr lang="en-IN" dirty="0"/>
                  <a:t> The machine learning ensemble buys </a:t>
                </a:r>
                <a14:m>
                  <m:oMath xmlns:m="http://schemas.openxmlformats.org/officeDocument/2006/math">
                    <m:r>
                      <a:rPr lang="en-IN">
                        <a:latin typeface="Cambria Math" panose="02040503050406030204" pitchFamily="18" charset="0"/>
                      </a:rPr>
                      <m:t>+</m:t>
                    </m:r>
                    <m:r>
                      <a:rPr lang="en-IN" i="0">
                        <a:latin typeface="Cambria Math" panose="02040503050406030204" pitchFamily="18" charset="0"/>
                      </a:rPr>
                      <m:t>4</m:t>
                    </m:r>
                    <m:r>
                      <m:rPr>
                        <m:nor/>
                      </m:rPr>
                      <a:rPr lang="en-IN" b="0" i="0">
                        <a:latin typeface="Arial"/>
                      </a:rPr>
                      <m:t> hours (at </m:t>
                    </m:r>
                    <m:r>
                      <a:rPr lang="en-IN" b="0" i="0">
                        <a:latin typeface="Cambria Math" panose="02040503050406030204" pitchFamily="18" charset="0"/>
                      </a:rPr>
                      <m:t>24</m:t>
                    </m:r>
                    <m:r>
                      <m:rPr>
                        <m:nor/>
                      </m:rPr>
                      <a:rPr lang="en-IN" b="0" i="0">
                        <a:latin typeface="Arial"/>
                      </a:rPr>
                      <m:t> h)</m:t>
                    </m:r>
                  </m:oMath>
                </a14:m>
                <a:r>
                  <a:rPr lang="en-IN" dirty="0"/>
                  <a:t>and </a:t>
                </a:r>
                <a14:m>
                  <m:oMath xmlns:m="http://schemas.openxmlformats.org/officeDocument/2006/math">
                    <m:r>
                      <a:rPr lang="en-IN">
                        <a:latin typeface="Cambria Math" panose="02040503050406030204" pitchFamily="18" charset="0"/>
                      </a:rPr>
                      <m:t>+</m:t>
                    </m:r>
                    <m:r>
                      <a:rPr lang="en-IN" i="0">
                        <a:latin typeface="Cambria Math" panose="02040503050406030204" pitchFamily="18" charset="0"/>
                      </a:rPr>
                      <m:t>9</m:t>
                    </m:r>
                    <m:r>
                      <m:rPr>
                        <m:nor/>
                      </m:rPr>
                      <a:rPr lang="en-IN" b="0" i="0">
                        <a:latin typeface="Arial"/>
                      </a:rPr>
                      <m:t> hours (at </m:t>
                    </m:r>
                    <m:r>
                      <a:rPr lang="en-IN" b="0" i="0">
                        <a:latin typeface="Cambria Math" panose="02040503050406030204" pitchFamily="18" charset="0"/>
                      </a:rPr>
                      <m:t>48</m:t>
                    </m:r>
                    <m:r>
                      <m:rPr>
                        <m:nor/>
                      </m:rPr>
                      <a:rPr lang="en-IN" b="0" i="0">
                        <a:latin typeface="Arial"/>
                      </a:rPr>
                      <m:t> h)</m:t>
                    </m:r>
                  </m:oMath>
                </a14:m>
                <a:r>
                  <a:rPr lang="en-IN" dirty="0"/>
                  <a:t>of advance warning over the baseline.</a:t>
                </a:r>
              </a:p>
            </p:txBody>
          </p:sp>
        </mc:Choice>
        <mc:Fallback xmlns="">
          <p:sp>
            <p:nvSpPr>
              <p:cNvPr id="6" name="TextBox 5">
                <a:extLst>
                  <a:ext uri="{FF2B5EF4-FFF2-40B4-BE49-F238E27FC236}">
                    <a16:creationId xmlns:a16="http://schemas.microsoft.com/office/drawing/2014/main" id="{A6F1CFD5-029B-4F71-B78F-93B0A8868963}"/>
                  </a:ext>
                </a:extLst>
              </p:cNvPr>
              <p:cNvSpPr txBox="1">
                <a:spLocks noRot="1" noChangeAspect="1" noMove="1" noResize="1" noEditPoints="1" noAdjustHandles="1" noChangeArrowheads="1" noChangeShapeType="1" noTextEdit="1"/>
              </p:cNvSpPr>
              <p:nvPr/>
            </p:nvSpPr>
            <p:spPr>
              <a:xfrm>
                <a:off x="457200" y="4171958"/>
                <a:ext cx="8229600" cy="2031325"/>
              </a:xfrm>
              <a:prstGeom prst="rect">
                <a:avLst/>
              </a:prstGeom>
              <a:blipFill>
                <a:blip r:embed="rId3"/>
                <a:stretch>
                  <a:fillRect l="-222" t="-299" b="-2096"/>
                </a:stretch>
              </a:blipFill>
            </p:spPr>
            <p:txBody>
              <a:bodyPr/>
              <a:lstStyle/>
              <a:p>
                <a:r>
                  <a:rPr lang="en-IN">
                    <a:noFill/>
                  </a:rPr>
                  <a:t> </a:t>
                </a:r>
              </a:p>
            </p:txBody>
          </p:sp>
        </mc:Fallback>
      </mc:AlternateContent>
    </p:spTree>
    <p:extLst>
      <p:ext uri="{BB962C8B-B14F-4D97-AF65-F5344CB8AC3E}">
        <p14:creationId xmlns:p14="http://schemas.microsoft.com/office/powerpoint/2010/main" val="83430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6ECC70C0-F2A4-8BD0-80B1-CE06A64BBFA9}"/>
            </a:ext>
          </a:extLst>
        </p:cNvPr>
        <p:cNvGrpSpPr/>
        <p:nvPr/>
      </p:nvGrpSpPr>
      <p:grpSpPr>
        <a:xfrm>
          <a:off x="0" y="0"/>
          <a:ext cx="0" cy="0"/>
          <a:chOff x="0" y="0"/>
          <a:chExt cx="0" cy="0"/>
        </a:xfrm>
      </p:grpSpPr>
      <p:sp>
        <p:nvSpPr>
          <p:cNvPr id="161" name="Google Shape;161;p12">
            <a:extLst>
              <a:ext uri="{FF2B5EF4-FFF2-40B4-BE49-F238E27FC236}">
                <a16:creationId xmlns:a16="http://schemas.microsoft.com/office/drawing/2014/main" id="{8AC37FD1-CEFB-9CAA-49DF-5B858AD706B6}"/>
              </a:ext>
            </a:extLst>
          </p:cNvPr>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US" dirty="0"/>
              <a:t>Results &amp; Discussion</a:t>
            </a:r>
          </a:p>
        </p:txBody>
      </p:sp>
      <p:sp>
        <p:nvSpPr>
          <p:cNvPr id="163" name="Google Shape;163;p12">
            <a:extLst>
              <a:ext uri="{FF2B5EF4-FFF2-40B4-BE49-F238E27FC236}">
                <a16:creationId xmlns:a16="http://schemas.microsoft.com/office/drawing/2014/main" id="{8BB5B49C-AE07-AF25-3AD2-B24D82185053}"/>
              </a:ext>
            </a:extLst>
          </p:cNvPr>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p:pic>
        <p:nvPicPr>
          <p:cNvPr id="9" name="Picture 8">
            <a:extLst>
              <a:ext uri="{FF2B5EF4-FFF2-40B4-BE49-F238E27FC236}">
                <a16:creationId xmlns:a16="http://schemas.microsoft.com/office/drawing/2014/main" id="{E17C2264-6CBA-1DE6-FD4F-4A4DDB4E66E0}"/>
              </a:ext>
            </a:extLst>
          </p:cNvPr>
          <p:cNvPicPr>
            <a:picLocks noChangeAspect="1"/>
          </p:cNvPicPr>
          <p:nvPr/>
        </p:nvPicPr>
        <p:blipFill>
          <a:blip r:embed="rId3"/>
          <a:stretch>
            <a:fillRect/>
          </a:stretch>
        </p:blipFill>
        <p:spPr>
          <a:xfrm>
            <a:off x="0" y="1520110"/>
            <a:ext cx="9144000" cy="4412140"/>
          </a:xfrm>
          <a:prstGeom prst="rect">
            <a:avLst/>
          </a:prstGeom>
        </p:spPr>
      </p:pic>
    </p:spTree>
    <p:extLst>
      <p:ext uri="{BB962C8B-B14F-4D97-AF65-F5344CB8AC3E}">
        <p14:creationId xmlns:p14="http://schemas.microsoft.com/office/powerpoint/2010/main" val="15705368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445067" y="599741"/>
            <a:ext cx="8253863" cy="369332"/>
          </a:xfrm>
          <a:prstGeom prst="rect">
            <a:avLst/>
          </a:prstGeom>
          <a:noFill/>
        </p:spPr>
        <p:txBody>
          <a:bodyPr wrap="none" lIns="0" tIns="0" rIns="0" bIns="0" anchor="t">
            <a:spAutoFit/>
          </a:bodyPr>
          <a:lstStyle/>
          <a:p>
            <a:pPr algn="ctr"/>
            <a:r>
              <a:rPr sz="2400" b="1"/>
              <a:t>Results &amp; Discussion — Comparison with Existing Work</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57BE49C0-B9DD-A84C-8506-B22C916B477D}"/>
                  </a:ext>
                </a:extLst>
              </p:cNvPr>
              <p:cNvGraphicFramePr>
                <a:graphicFrameLocks noGrp="1"/>
              </p:cNvGraphicFramePr>
              <p:nvPr>
                <p:extLst>
                  <p:ext uri="{D42A27DB-BD31-4B8C-83A1-F6EECF244321}">
                    <p14:modId xmlns:p14="http://schemas.microsoft.com/office/powerpoint/2010/main" val="2223846661"/>
                  </p:ext>
                </p:extLst>
              </p:nvPr>
            </p:nvGraphicFramePr>
            <p:xfrm>
              <a:off x="445067" y="1166017"/>
              <a:ext cx="8253864" cy="4525966"/>
            </p:xfrm>
            <a:graphic>
              <a:graphicData uri="http://schemas.openxmlformats.org/drawingml/2006/table">
                <a:tbl>
                  <a:tblPr>
                    <a:tableStyleId>{F9BC6C1E-BED5-463D-9D9D-55BB47110D15}</a:tableStyleId>
                  </a:tblPr>
                  <a:tblGrid>
                    <a:gridCol w="1031733">
                      <a:extLst>
                        <a:ext uri="{9D8B030D-6E8A-4147-A177-3AD203B41FA5}">
                          <a16:colId xmlns:a16="http://schemas.microsoft.com/office/drawing/2014/main" val="3023834745"/>
                        </a:ext>
                      </a:extLst>
                    </a:gridCol>
                    <a:gridCol w="1031733">
                      <a:extLst>
                        <a:ext uri="{9D8B030D-6E8A-4147-A177-3AD203B41FA5}">
                          <a16:colId xmlns:a16="http://schemas.microsoft.com/office/drawing/2014/main" val="154346980"/>
                        </a:ext>
                      </a:extLst>
                    </a:gridCol>
                    <a:gridCol w="1031733">
                      <a:extLst>
                        <a:ext uri="{9D8B030D-6E8A-4147-A177-3AD203B41FA5}">
                          <a16:colId xmlns:a16="http://schemas.microsoft.com/office/drawing/2014/main" val="4044791939"/>
                        </a:ext>
                      </a:extLst>
                    </a:gridCol>
                    <a:gridCol w="1031733">
                      <a:extLst>
                        <a:ext uri="{9D8B030D-6E8A-4147-A177-3AD203B41FA5}">
                          <a16:colId xmlns:a16="http://schemas.microsoft.com/office/drawing/2014/main" val="3891872108"/>
                        </a:ext>
                      </a:extLst>
                    </a:gridCol>
                    <a:gridCol w="1031733">
                      <a:extLst>
                        <a:ext uri="{9D8B030D-6E8A-4147-A177-3AD203B41FA5}">
                          <a16:colId xmlns:a16="http://schemas.microsoft.com/office/drawing/2014/main" val="2081882281"/>
                        </a:ext>
                      </a:extLst>
                    </a:gridCol>
                    <a:gridCol w="1031733">
                      <a:extLst>
                        <a:ext uri="{9D8B030D-6E8A-4147-A177-3AD203B41FA5}">
                          <a16:colId xmlns:a16="http://schemas.microsoft.com/office/drawing/2014/main" val="2250696300"/>
                        </a:ext>
                      </a:extLst>
                    </a:gridCol>
                    <a:gridCol w="1031733">
                      <a:extLst>
                        <a:ext uri="{9D8B030D-6E8A-4147-A177-3AD203B41FA5}">
                          <a16:colId xmlns:a16="http://schemas.microsoft.com/office/drawing/2014/main" val="268173111"/>
                        </a:ext>
                      </a:extLst>
                    </a:gridCol>
                    <a:gridCol w="1031733">
                      <a:extLst>
                        <a:ext uri="{9D8B030D-6E8A-4147-A177-3AD203B41FA5}">
                          <a16:colId xmlns:a16="http://schemas.microsoft.com/office/drawing/2014/main" val="2979363822"/>
                        </a:ext>
                      </a:extLst>
                    </a:gridCol>
                  </a:tblGrid>
                  <a:tr h="439770">
                    <a:tc>
                      <a:txBody>
                        <a:bodyPr/>
                        <a:lstStyle/>
                        <a:p>
                          <a:pPr>
                            <a:buNone/>
                          </a:pPr>
                          <a:r>
                            <a:rPr lang="en-IN" sz="800"/>
                            <a:t>Study / Reference</a:t>
                          </a:r>
                        </a:p>
                      </a:txBody>
                      <a:tcPr marL="54971" marR="54971" marT="27486" marB="27486" anchor="ctr"/>
                    </a:tc>
                    <a:tc>
                      <a:txBody>
                        <a:bodyPr/>
                        <a:lstStyle/>
                        <a:p>
                          <a:pPr>
                            <a:buNone/>
                          </a:pPr>
                          <a:r>
                            <a:rPr lang="en-IN" sz="800"/>
                            <a:t>Data &amp; Sites</a:t>
                          </a:r>
                        </a:p>
                      </a:txBody>
                      <a:tcPr marL="54971" marR="54971" marT="27486" marB="27486" anchor="ctr"/>
                    </a:tc>
                    <a:tc>
                      <a:txBody>
                        <a:bodyPr/>
                        <a:lstStyle/>
                        <a:p>
                          <a:pPr>
                            <a:buNone/>
                          </a:pPr>
                          <a:r>
                            <a:rPr lang="en-IN" sz="800"/>
                            <a:t>Task Formulation</a:t>
                          </a:r>
                        </a:p>
                      </a:txBody>
                      <a:tcPr marL="54971" marR="54971" marT="27486" marB="27486" anchor="ctr"/>
                    </a:tc>
                    <a:tc>
                      <a:txBody>
                        <a:bodyPr/>
                        <a:lstStyle/>
                        <a:p>
                          <a:pPr>
                            <a:buNone/>
                          </a:pPr>
                          <a:r>
                            <a:rPr lang="en-IN" sz="800"/>
                            <a:t>Core Model</a:t>
                          </a:r>
                        </a:p>
                      </a:txBody>
                      <a:tcPr marL="54971" marR="54971" marT="27486" marB="27486" anchor="ctr"/>
                    </a:tc>
                    <a:tc>
                      <a:txBody>
                        <a:bodyPr/>
                        <a:lstStyle/>
                        <a:p>
                          <a:pPr>
                            <a:buNone/>
                          </a:pPr>
                          <a:r>
                            <a:rPr lang="en-IN" sz="800"/>
                            <a:t>Forecast Horizon</a:t>
                          </a:r>
                        </a:p>
                      </a:txBody>
                      <a:tcPr marL="54971" marR="54971" marT="27486" marB="27486" anchor="ctr"/>
                    </a:tc>
                    <a:tc>
                      <a:txBody>
                        <a:bodyPr/>
                        <a:lstStyle/>
                        <a:p>
                          <a:pPr>
                            <a:buNone/>
                          </a:pPr>
                          <a:r>
                            <a:rPr lang="en-IN" sz="800"/>
                            <a:t>Event &amp; Lead Time?</a:t>
                          </a:r>
                        </a:p>
                      </a:txBody>
                      <a:tcPr marL="54971" marR="54971" marT="27486" marB="27486" anchor="ctr"/>
                    </a:tc>
                    <a:tc>
                      <a:txBody>
                        <a:bodyPr/>
                        <a:lstStyle/>
                        <a:p>
                          <a:pPr>
                            <a:buNone/>
                          </a:pPr>
                          <a:r>
                            <a:rPr lang="en-IN" sz="800"/>
                            <a:t>Modality Ablation?</a:t>
                          </a:r>
                        </a:p>
                      </a:txBody>
                      <a:tcPr marL="54971" marR="54971" marT="27486" marB="27486" anchor="ctr"/>
                    </a:tc>
                    <a:tc>
                      <a:txBody>
                        <a:bodyPr/>
                        <a:lstStyle/>
                        <a:p>
                          <a:pPr>
                            <a:buNone/>
                          </a:pPr>
                          <a:r>
                            <a:rPr lang="en-IN" sz="800"/>
                            <a:t>Explainability (XAI)?</a:t>
                          </a:r>
                        </a:p>
                      </a:txBody>
                      <a:tcPr marL="54971" marR="54971" marT="27486" marB="27486" anchor="ctr"/>
                    </a:tc>
                    <a:extLst>
                      <a:ext uri="{0D108BD9-81ED-4DB2-BD59-A6C34878D82A}">
                        <a16:rowId xmlns:a16="http://schemas.microsoft.com/office/drawing/2014/main" val="522218962"/>
                      </a:ext>
                    </a:extLst>
                  </a:tr>
                  <a:tr h="439770">
                    <a:tc>
                      <a:txBody>
                        <a:bodyPr/>
                        <a:lstStyle/>
                        <a:p>
                          <a:pPr>
                            <a:buNone/>
                          </a:pPr>
                          <a:r>
                            <a:rPr lang="en-IN" sz="800"/>
                            <a:t>Rocha et al. (2023)</a:t>
                          </a:r>
                        </a:p>
                      </a:txBody>
                      <a:tcPr marL="54971" marR="54971" marT="27486" marB="27486" anchor="ctr"/>
                    </a:tc>
                    <a:tc>
                      <a:txBody>
                        <a:bodyPr/>
                        <a:lstStyle/>
                        <a:p>
                          <a:pPr>
                            <a:buNone/>
                          </a:pPr>
                          <a:r>
                            <a:rPr lang="en-IN" sz="800"/>
                            <a:t>Credit River; hourly</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GNN-SAGE</a:t>
                          </a:r>
                        </a:p>
                      </a:txBody>
                      <a:tcPr marL="54971" marR="54971" marT="27486" marB="27486" anchor="ctr"/>
                    </a:tc>
                    <a:tc>
                      <a:txBody>
                        <a:bodyPr/>
                        <a:lstStyle/>
                        <a:p>
                          <a:pPr>
                            <a:buNone/>
                          </a:pPr>
                          <a:r>
                            <a:rPr lang="en-IN" sz="800"/>
                            <a:t>6 h</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 (SHAP)</a:t>
                          </a:r>
                        </a:p>
                      </a:txBody>
                      <a:tcPr marL="54971" marR="54971" marT="27486" marB="27486" anchor="ctr"/>
                    </a:tc>
                    <a:extLst>
                      <a:ext uri="{0D108BD9-81ED-4DB2-BD59-A6C34878D82A}">
                        <a16:rowId xmlns:a16="http://schemas.microsoft.com/office/drawing/2014/main" val="3398236732"/>
                      </a:ext>
                    </a:extLst>
                  </a:tr>
                  <a:tr h="439770">
                    <a:tc>
                      <a:txBody>
                        <a:bodyPr/>
                        <a:lstStyle/>
                        <a:p>
                          <a:pPr>
                            <a:buNone/>
                          </a:pPr>
                          <a:r>
                            <a:rPr lang="en-IN" sz="800"/>
                            <a:t>Pant et al. (2024)</a:t>
                          </a:r>
                        </a:p>
                      </a:txBody>
                      <a:tcPr marL="54971" marR="54971" marT="27486" marB="27486" anchor="ctr"/>
                    </a:tc>
                    <a:tc>
                      <a:txBody>
                        <a:bodyPr/>
                        <a:lstStyle/>
                        <a:p>
                          <a:pPr>
                            <a:buNone/>
                          </a:pPr>
                          <a:r>
                            <a:rPr lang="en-IN" sz="800"/>
                            <a:t>River Ganga; hourly</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CEEMDAN-BiLSTM</a:t>
                          </a:r>
                        </a:p>
                      </a:txBody>
                      <a:tcPr marL="54971" marR="54971" marT="27486" marB="27486" anchor="ctr"/>
                    </a:tc>
                    <a:tc>
                      <a:txBody>
                        <a:bodyPr/>
                        <a:lstStyle/>
                        <a:p>
                          <a:pPr>
                            <a:buNone/>
                          </a:pPr>
                          <a:r>
                            <a:rPr lang="en-IN" sz="800"/>
                            <a:t>1–3 h</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928641816"/>
                      </a:ext>
                    </a:extLst>
                  </a:tr>
                  <a:tr h="439770">
                    <a:tc>
                      <a:txBody>
                        <a:bodyPr/>
                        <a:lstStyle/>
                        <a:p>
                          <a:pPr>
                            <a:buNone/>
                          </a:pPr>
                          <a:r>
                            <a:rPr lang="en-IN" sz="800"/>
                            <a:t>Granata et al. (2024)</a:t>
                          </a:r>
                        </a:p>
                      </a:txBody>
                      <a:tcPr marL="54971" marR="54971" marT="27486" marB="27486" anchor="ctr"/>
                    </a:tc>
                    <a:tc>
                      <a:txBody>
                        <a:bodyPr/>
                        <a:lstStyle/>
                        <a:p>
                          <a:pPr>
                            <a:buNone/>
                          </a:pPr>
                          <a:r>
                            <a:rPr lang="en-IN" sz="800"/>
                            <a:t>Mississippi; daily</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Stacked MLP-RF</a:t>
                          </a:r>
                        </a:p>
                      </a:txBody>
                      <a:tcPr marL="54971" marR="54971" marT="27486" marB="27486" anchor="ctr"/>
                    </a:tc>
                    <a:tc>
                      <a:txBody>
                        <a:bodyPr/>
                        <a:lstStyle/>
                        <a:p>
                          <a:pPr>
                            <a:buNone/>
                          </a:pPr>
                          <a:r>
                            <a:rPr lang="en-IN" sz="800"/>
                            <a:t>1–15 d</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Partial</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3854411798"/>
                      </a:ext>
                    </a:extLst>
                  </a:tr>
                  <a:tr h="439770">
                    <a:tc>
                      <a:txBody>
                        <a:bodyPr/>
                        <a:lstStyle/>
                        <a:p>
                          <a:pPr>
                            <a:buNone/>
                          </a:pPr>
                          <a:r>
                            <a:rPr lang="en-IN" sz="800"/>
                            <a:t>Cerqueira et al. (2024)</a:t>
                          </a:r>
                        </a:p>
                      </a:txBody>
                      <a:tcPr marL="54971" marR="54971" marT="27486" marB="27486" anchor="ctr"/>
                    </a:tc>
                    <a:tc>
                      <a:txBody>
                        <a:bodyPr/>
                        <a:lstStyle/>
                        <a:p>
                          <a:pPr>
                            <a:buNone/>
                          </a:pPr>
                          <a:r>
                            <a:rPr lang="en-IN" sz="800"/>
                            <a:t>14 Salmon farms</a:t>
                          </a:r>
                        </a:p>
                      </a:txBody>
                      <a:tcPr marL="54971" marR="54971" marT="27486" marB="27486" anchor="ctr"/>
                    </a:tc>
                    <a:tc>
                      <a:txBody>
                        <a:bodyPr/>
                        <a:lstStyle/>
                        <a:p>
                          <a:pPr>
                            <a:buNone/>
                          </a:pPr>
                          <a:r>
                            <a:rPr lang="en-IN" sz="800"/>
                            <a:t>Hypoxia Forecast</a:t>
                          </a:r>
                        </a:p>
                      </a:txBody>
                      <a:tcPr marL="54971" marR="54971" marT="27486" marB="27486" anchor="ctr"/>
                    </a:tc>
                    <a:tc>
                      <a:txBody>
                        <a:bodyPr/>
                        <a:lstStyle/>
                        <a:p>
                          <a:pPr>
                            <a:buNone/>
                          </a:pPr>
                          <a:r>
                            <a:rPr lang="en-IN" sz="800"/>
                            <a:t>LightGBM</a:t>
                          </a:r>
                        </a:p>
                      </a:txBody>
                      <a:tcPr marL="54971" marR="54971" marT="27486" marB="27486" anchor="ctr"/>
                    </a:tc>
                    <a:tc>
                      <a:txBody>
                        <a:bodyPr/>
                        <a:lstStyle/>
                        <a:p>
                          <a:pPr>
                            <a:buNone/>
                          </a:pPr>
                          <a:r>
                            <a:rPr lang="en-IN" sz="800"/>
                            <a:t>1–24 h</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1553806738"/>
                      </a:ext>
                    </a:extLst>
                  </a:tr>
                  <a:tr h="439770">
                    <a:tc>
                      <a:txBody>
                        <a:bodyPr/>
                        <a:lstStyle/>
                        <a:p>
                          <a:pPr>
                            <a:buNone/>
                          </a:pPr>
                          <a:r>
                            <a:rPr lang="en-IN" sz="800"/>
                            <a:t>Simonetti et al. (2024)</a:t>
                          </a:r>
                        </a:p>
                      </a:txBody>
                      <a:tcPr marL="54971" marR="54971" marT="27486" marB="27486" anchor="ctr"/>
                    </a:tc>
                    <a:tc>
                      <a:txBody>
                        <a:bodyPr/>
                        <a:lstStyle/>
                        <a:p>
                          <a:pPr>
                            <a:buNone/>
                          </a:pPr>
                          <a:r>
                            <a:rPr lang="en-IN" sz="800"/>
                            <a:t>Orbetello lagoon</a:t>
                          </a:r>
                        </a:p>
                      </a:txBody>
                      <a:tcPr marL="54971" marR="54971" marT="27486" marB="27486" anchor="ctr"/>
                    </a:tc>
                    <a:tc>
                      <a:txBody>
                        <a:bodyPr/>
                        <a:lstStyle/>
                        <a:p>
                          <a:pPr>
                            <a:buNone/>
                          </a:pPr>
                          <a:r>
                            <a:rPr lang="en-IN" sz="800"/>
                            <a:t>Hypoxia Class.</a:t>
                          </a:r>
                        </a:p>
                      </a:txBody>
                      <a:tcPr marL="54971" marR="54971" marT="27486" marB="27486" anchor="ctr"/>
                    </a:tc>
                    <a:tc>
                      <a:txBody>
                        <a:bodyPr/>
                        <a:lstStyle/>
                        <a:p>
                          <a:pPr>
                            <a:buNone/>
                          </a:pPr>
                          <a:r>
                            <a:rPr lang="en-IN" sz="800"/>
                            <a:t>RF + Hydrodynamic</a:t>
                          </a:r>
                        </a:p>
                      </a:txBody>
                      <a:tcPr marL="54971" marR="54971" marT="27486" marB="27486" anchor="ctr"/>
                    </a:tc>
                    <a:tc>
                      <a:txBody>
                        <a:bodyPr/>
                        <a:lstStyle/>
                        <a:p>
                          <a:pPr>
                            <a:buNone/>
                          </a:pPr>
                          <a14:m>
                            <m:oMathPara xmlns:m="http://schemas.openxmlformats.org/officeDocument/2006/math">
                              <m:oMath>
                                <m:r>
                                  <a:rPr lang="en-IN" sz="800">
                                    <a:latin typeface="Cambria Math" panose="02040503050406030204" pitchFamily="18" charset="0"/>
                                  </a:rPr>
                                  <m:t>≤10</m:t>
                                </m:r>
                                <m:r>
                                  <m:rPr>
                                    <m:nor/>
                                  </m:rPr>
                                  <a:rPr lang="en-IN" sz="800" i="0"/>
                                  <m:t> d</m:t>
                                </m:r>
                              </m:oMath>
                            </m:oMathPara>
                          </a14:m>
                          <a:endParaRPr lang="en-IN" sz="800"/>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Partial</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924221559"/>
                      </a:ext>
                    </a:extLst>
                  </a:tr>
                  <a:tr h="439770">
                    <a:tc>
                      <a:txBody>
                        <a:bodyPr/>
                        <a:lstStyle/>
                        <a:p>
                          <a:pPr>
                            <a:buNone/>
                          </a:pPr>
                          <a:r>
                            <a:rPr lang="en-IN" sz="800"/>
                            <a:t>Zhao &amp; Chen (2025)</a:t>
                          </a:r>
                        </a:p>
                      </a:txBody>
                      <a:tcPr marL="54971" marR="54971" marT="27486" marB="27486" anchor="ctr"/>
                    </a:tc>
                    <a:tc>
                      <a:txBody>
                        <a:bodyPr/>
                        <a:lstStyle/>
                        <a:p>
                          <a:pPr>
                            <a:buNone/>
                          </a:pPr>
                          <a:r>
                            <a:rPr lang="en-IN" sz="800"/>
                            <a:t>3 river sites</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GWO-XGBoost</a:t>
                          </a:r>
                        </a:p>
                      </a:txBody>
                      <a:tcPr marL="54971" marR="54971" marT="27486" marB="27486" anchor="ctr"/>
                    </a:tc>
                    <a:tc>
                      <a:txBody>
                        <a:bodyPr/>
                        <a:lstStyle/>
                        <a:p>
                          <a:pPr>
                            <a:buNone/>
                          </a:pPr>
                          <a14:m>
                            <m:oMathPara xmlns:m="http://schemas.openxmlformats.org/officeDocument/2006/math">
                              <m:oMath>
                                <m:r>
                                  <a:rPr lang="en-IN" sz="800">
                                    <a:latin typeface="Cambria Math" panose="02040503050406030204" pitchFamily="18" charset="0"/>
                                  </a:rPr>
                                  <m:t>≤15</m:t>
                                </m:r>
                                <m:r>
                                  <m:rPr>
                                    <m:nor/>
                                  </m:rPr>
                                  <a:rPr lang="en-IN" sz="800" i="0"/>
                                  <m:t> d</m:t>
                                </m:r>
                              </m:oMath>
                            </m:oMathPara>
                          </a14:m>
                          <a:endParaRPr lang="en-IN" sz="800"/>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2540915837"/>
                      </a:ext>
                    </a:extLst>
                  </a:tr>
                  <a:tr h="439770">
                    <a:tc>
                      <a:txBody>
                        <a:bodyPr/>
                        <a:lstStyle/>
                        <a:p>
                          <a:pPr>
                            <a:buNone/>
                          </a:pPr>
                          <a:r>
                            <a:rPr lang="en-IN" sz="800"/>
                            <a:t>Merabet et al. (2025)</a:t>
                          </a:r>
                        </a:p>
                      </a:txBody>
                      <a:tcPr marL="54971" marR="54971" marT="27486" marB="27486" anchor="ctr"/>
                    </a:tc>
                    <a:tc>
                      <a:txBody>
                        <a:bodyPr/>
                        <a:lstStyle/>
                        <a:p>
                          <a:pPr>
                            <a:buNone/>
                          </a:pPr>
                          <a:r>
                            <a:rPr lang="en-IN" sz="800"/>
                            <a:t>Illinois River (USGS)</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CatBoost/LightGBM</a:t>
                          </a:r>
                        </a:p>
                      </a:txBody>
                      <a:tcPr marL="54971" marR="54971" marT="27486" marB="27486" anchor="ctr"/>
                    </a:tc>
                    <a:tc>
                      <a:txBody>
                        <a:bodyPr/>
                        <a:lstStyle/>
                        <a:p>
                          <a:pPr>
                            <a:buNone/>
                          </a:pPr>
                          <a:r>
                            <a:rPr lang="en-IN" sz="800"/>
                            <a:t>Single-step</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 (SHAP)</a:t>
                          </a:r>
                        </a:p>
                      </a:txBody>
                      <a:tcPr marL="54971" marR="54971" marT="27486" marB="27486" anchor="ctr"/>
                    </a:tc>
                    <a:extLst>
                      <a:ext uri="{0D108BD9-81ED-4DB2-BD59-A6C34878D82A}">
                        <a16:rowId xmlns:a16="http://schemas.microsoft.com/office/drawing/2014/main" val="853278673"/>
                      </a:ext>
                    </a:extLst>
                  </a:tr>
                  <a:tr h="439770">
                    <a:tc>
                      <a:txBody>
                        <a:bodyPr/>
                        <a:lstStyle/>
                        <a:p>
                          <a:pPr>
                            <a:buNone/>
                          </a:pPr>
                          <a:r>
                            <a:rPr lang="en-IN" sz="800"/>
                            <a:t>Base Paper (2026)</a:t>
                          </a:r>
                        </a:p>
                      </a:txBody>
                      <a:tcPr marL="54971" marR="54971" marT="27486" marB="27486" anchor="ctr"/>
                    </a:tc>
                    <a:tc>
                      <a:txBody>
                        <a:bodyPr/>
                        <a:lstStyle/>
                        <a:p>
                          <a:pPr>
                            <a:buNone/>
                          </a:pPr>
                          <a:r>
                            <a:rPr lang="en-IN" sz="800"/>
                            <a:t>China national net</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Transformer+LSTM</a:t>
                          </a:r>
                        </a:p>
                      </a:txBody>
                      <a:tcPr marL="54971" marR="54971" marT="27486" marB="27486" anchor="ctr"/>
                    </a:tc>
                    <a:tc>
                      <a:txBody>
                        <a:bodyPr/>
                        <a:lstStyle/>
                        <a:p>
                          <a:pPr>
                            <a:buNone/>
                          </a:pPr>
                          <a:r>
                            <a:rPr lang="en-IN" sz="800"/>
                            <a:t>3–14 d</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4256555403"/>
                      </a:ext>
                    </a:extLst>
                  </a:tr>
                  <a:tr h="568036">
                    <a:tc>
                      <a:txBody>
                        <a:bodyPr/>
                        <a:lstStyle/>
                        <a:p>
                          <a:pPr>
                            <a:buNone/>
                          </a:pPr>
                          <a:r>
                            <a:rPr lang="en-IN" sz="800"/>
                            <a:t>Proposed Work</a:t>
                          </a:r>
                        </a:p>
                      </a:txBody>
                      <a:tcPr marL="54971" marR="54971" marT="27486" marB="27486" anchor="ctr"/>
                    </a:tc>
                    <a:tc>
                      <a:txBody>
                        <a:bodyPr/>
                        <a:lstStyle/>
                        <a:p>
                          <a:pPr>
                            <a:buNone/>
                          </a:pPr>
                          <a:r>
                            <a:rPr lang="en-IN" sz="800"/>
                            <a:t>15 US Rivers; 337k hrs</a:t>
                          </a:r>
                        </a:p>
                      </a:txBody>
                      <a:tcPr marL="54971" marR="54971" marT="27486" marB="27486" anchor="ctr"/>
                    </a:tc>
                    <a:tc>
                      <a:txBody>
                        <a:bodyPr/>
                        <a:lstStyle/>
                        <a:p>
                          <a:pPr>
                            <a:buNone/>
                          </a:pPr>
                          <a:r>
                            <a:rPr lang="en-IN" sz="800"/>
                            <a:t>Event-Onset Class.</a:t>
                          </a:r>
                        </a:p>
                      </a:txBody>
                      <a:tcPr marL="54971" marR="54971" marT="27486" marB="27486" anchor="ctr"/>
                    </a:tc>
                    <a:tc>
                      <a:txBody>
                        <a:bodyPr/>
                        <a:lstStyle/>
                        <a:p>
                          <a:pPr>
                            <a:buNone/>
                          </a:pPr>
                          <a:r>
                            <a:rPr lang="en-IN" sz="800"/>
                            <a:t>Stacked LightGBM</a:t>
                          </a:r>
                        </a:p>
                      </a:txBody>
                      <a:tcPr marL="54971" marR="54971" marT="27486" marB="27486" anchor="ctr"/>
                    </a:tc>
                    <a:tc>
                      <a:txBody>
                        <a:bodyPr/>
                        <a:lstStyle/>
                        <a:p>
                          <a:pPr>
                            <a:buNone/>
                          </a:pPr>
                          <a:r>
                            <a:rPr lang="en-IN" sz="800"/>
                            <a:t>6–48 h</a:t>
                          </a:r>
                        </a:p>
                      </a:txBody>
                      <a:tcPr marL="54971" marR="54971" marT="27486" marB="27486" anchor="ctr"/>
                    </a:tc>
                    <a:tc>
                      <a:txBody>
                        <a:bodyPr/>
                        <a:lstStyle/>
                        <a:p>
                          <a:pPr>
                            <a:buNone/>
                          </a:pPr>
                          <a:r>
                            <a:rPr lang="en-IN" sz="800"/>
                            <a:t>✅ (+4–9 h lead)</a:t>
                          </a:r>
                        </a:p>
                      </a:txBody>
                      <a:tcPr marL="54971" marR="54971" marT="27486" marB="27486" anchor="ctr"/>
                    </a:tc>
                    <a:tc>
                      <a:txBody>
                        <a:bodyPr/>
                        <a:lstStyle/>
                        <a:p>
                          <a:pPr>
                            <a:buNone/>
                          </a:pPr>
                          <a:r>
                            <a:rPr lang="en-IN" sz="800"/>
                            <a:t>✅ (Rigorous)</a:t>
                          </a:r>
                        </a:p>
                      </a:txBody>
                      <a:tcPr marL="54971" marR="54971" marT="27486" marB="27486" anchor="ctr"/>
                    </a:tc>
                    <a:tc>
                      <a:txBody>
                        <a:bodyPr/>
                        <a:lstStyle/>
                        <a:p>
                          <a:pPr>
                            <a:buNone/>
                          </a:pPr>
                          <a:r>
                            <a:rPr lang="en-IN" sz="800" dirty="0"/>
                            <a:t>✅ (Global/Local SHAP)</a:t>
                          </a:r>
                        </a:p>
                      </a:txBody>
                      <a:tcPr marL="54971" marR="54971" marT="27486" marB="27486" anchor="ctr"/>
                    </a:tc>
                    <a:extLst>
                      <a:ext uri="{0D108BD9-81ED-4DB2-BD59-A6C34878D82A}">
                        <a16:rowId xmlns:a16="http://schemas.microsoft.com/office/drawing/2014/main" val="1376836387"/>
                      </a:ext>
                    </a:extLst>
                  </a:tr>
                </a:tbl>
              </a:graphicData>
            </a:graphic>
          </p:graphicFrame>
        </mc:Choice>
        <mc:Fallback xmlns="">
          <p:graphicFrame>
            <p:nvGraphicFramePr>
              <p:cNvPr id="3" name="Table 2">
                <a:extLst>
                  <a:ext uri="{FF2B5EF4-FFF2-40B4-BE49-F238E27FC236}">
                    <a16:creationId xmlns:a16="http://schemas.microsoft.com/office/drawing/2014/main" id="{57BE49C0-B9DD-A84C-8506-B22C916B477D}"/>
                  </a:ext>
                </a:extLst>
              </p:cNvPr>
              <p:cNvGraphicFramePr>
                <a:graphicFrameLocks noGrp="1"/>
              </p:cNvGraphicFramePr>
              <p:nvPr>
                <p:extLst>
                  <p:ext uri="{D42A27DB-BD31-4B8C-83A1-F6EECF244321}">
                    <p14:modId xmlns:p14="http://schemas.microsoft.com/office/powerpoint/2010/main" val="2223846661"/>
                  </p:ext>
                </p:extLst>
              </p:nvPr>
            </p:nvGraphicFramePr>
            <p:xfrm>
              <a:off x="445067" y="1166017"/>
              <a:ext cx="8253864" cy="4525966"/>
            </p:xfrm>
            <a:graphic>
              <a:graphicData uri="http://schemas.openxmlformats.org/drawingml/2006/table">
                <a:tbl>
                  <a:tblPr>
                    <a:tableStyleId>{F9BC6C1E-BED5-463D-9D9D-55BB47110D15}</a:tableStyleId>
                  </a:tblPr>
                  <a:tblGrid>
                    <a:gridCol w="1031733">
                      <a:extLst>
                        <a:ext uri="{9D8B030D-6E8A-4147-A177-3AD203B41FA5}">
                          <a16:colId xmlns:a16="http://schemas.microsoft.com/office/drawing/2014/main" val="3023834745"/>
                        </a:ext>
                      </a:extLst>
                    </a:gridCol>
                    <a:gridCol w="1031733">
                      <a:extLst>
                        <a:ext uri="{9D8B030D-6E8A-4147-A177-3AD203B41FA5}">
                          <a16:colId xmlns:a16="http://schemas.microsoft.com/office/drawing/2014/main" val="154346980"/>
                        </a:ext>
                      </a:extLst>
                    </a:gridCol>
                    <a:gridCol w="1031733">
                      <a:extLst>
                        <a:ext uri="{9D8B030D-6E8A-4147-A177-3AD203B41FA5}">
                          <a16:colId xmlns:a16="http://schemas.microsoft.com/office/drawing/2014/main" val="4044791939"/>
                        </a:ext>
                      </a:extLst>
                    </a:gridCol>
                    <a:gridCol w="1031733">
                      <a:extLst>
                        <a:ext uri="{9D8B030D-6E8A-4147-A177-3AD203B41FA5}">
                          <a16:colId xmlns:a16="http://schemas.microsoft.com/office/drawing/2014/main" val="3891872108"/>
                        </a:ext>
                      </a:extLst>
                    </a:gridCol>
                    <a:gridCol w="1031733">
                      <a:extLst>
                        <a:ext uri="{9D8B030D-6E8A-4147-A177-3AD203B41FA5}">
                          <a16:colId xmlns:a16="http://schemas.microsoft.com/office/drawing/2014/main" val="2081882281"/>
                        </a:ext>
                      </a:extLst>
                    </a:gridCol>
                    <a:gridCol w="1031733">
                      <a:extLst>
                        <a:ext uri="{9D8B030D-6E8A-4147-A177-3AD203B41FA5}">
                          <a16:colId xmlns:a16="http://schemas.microsoft.com/office/drawing/2014/main" val="2250696300"/>
                        </a:ext>
                      </a:extLst>
                    </a:gridCol>
                    <a:gridCol w="1031733">
                      <a:extLst>
                        <a:ext uri="{9D8B030D-6E8A-4147-A177-3AD203B41FA5}">
                          <a16:colId xmlns:a16="http://schemas.microsoft.com/office/drawing/2014/main" val="268173111"/>
                        </a:ext>
                      </a:extLst>
                    </a:gridCol>
                    <a:gridCol w="1031733">
                      <a:extLst>
                        <a:ext uri="{9D8B030D-6E8A-4147-A177-3AD203B41FA5}">
                          <a16:colId xmlns:a16="http://schemas.microsoft.com/office/drawing/2014/main" val="2979363822"/>
                        </a:ext>
                      </a:extLst>
                    </a:gridCol>
                  </a:tblGrid>
                  <a:tr h="439770">
                    <a:tc>
                      <a:txBody>
                        <a:bodyPr/>
                        <a:lstStyle/>
                        <a:p>
                          <a:pPr>
                            <a:buNone/>
                          </a:pPr>
                          <a:r>
                            <a:rPr lang="en-IN" sz="800"/>
                            <a:t>Study / Reference</a:t>
                          </a:r>
                        </a:p>
                      </a:txBody>
                      <a:tcPr marL="54971" marR="54971" marT="27486" marB="27486" anchor="ctr"/>
                    </a:tc>
                    <a:tc>
                      <a:txBody>
                        <a:bodyPr/>
                        <a:lstStyle/>
                        <a:p>
                          <a:pPr>
                            <a:buNone/>
                          </a:pPr>
                          <a:r>
                            <a:rPr lang="en-IN" sz="800"/>
                            <a:t>Data &amp; Sites</a:t>
                          </a:r>
                        </a:p>
                      </a:txBody>
                      <a:tcPr marL="54971" marR="54971" marT="27486" marB="27486" anchor="ctr"/>
                    </a:tc>
                    <a:tc>
                      <a:txBody>
                        <a:bodyPr/>
                        <a:lstStyle/>
                        <a:p>
                          <a:pPr>
                            <a:buNone/>
                          </a:pPr>
                          <a:r>
                            <a:rPr lang="en-IN" sz="800"/>
                            <a:t>Task Formulation</a:t>
                          </a:r>
                        </a:p>
                      </a:txBody>
                      <a:tcPr marL="54971" marR="54971" marT="27486" marB="27486" anchor="ctr"/>
                    </a:tc>
                    <a:tc>
                      <a:txBody>
                        <a:bodyPr/>
                        <a:lstStyle/>
                        <a:p>
                          <a:pPr>
                            <a:buNone/>
                          </a:pPr>
                          <a:r>
                            <a:rPr lang="en-IN" sz="800"/>
                            <a:t>Core Model</a:t>
                          </a:r>
                        </a:p>
                      </a:txBody>
                      <a:tcPr marL="54971" marR="54971" marT="27486" marB="27486" anchor="ctr"/>
                    </a:tc>
                    <a:tc>
                      <a:txBody>
                        <a:bodyPr/>
                        <a:lstStyle/>
                        <a:p>
                          <a:pPr>
                            <a:buNone/>
                          </a:pPr>
                          <a:r>
                            <a:rPr lang="en-IN" sz="800"/>
                            <a:t>Forecast Horizon</a:t>
                          </a:r>
                        </a:p>
                      </a:txBody>
                      <a:tcPr marL="54971" marR="54971" marT="27486" marB="27486" anchor="ctr"/>
                    </a:tc>
                    <a:tc>
                      <a:txBody>
                        <a:bodyPr/>
                        <a:lstStyle/>
                        <a:p>
                          <a:pPr>
                            <a:buNone/>
                          </a:pPr>
                          <a:r>
                            <a:rPr lang="en-IN" sz="800"/>
                            <a:t>Event &amp; Lead Time?</a:t>
                          </a:r>
                        </a:p>
                      </a:txBody>
                      <a:tcPr marL="54971" marR="54971" marT="27486" marB="27486" anchor="ctr"/>
                    </a:tc>
                    <a:tc>
                      <a:txBody>
                        <a:bodyPr/>
                        <a:lstStyle/>
                        <a:p>
                          <a:pPr>
                            <a:buNone/>
                          </a:pPr>
                          <a:r>
                            <a:rPr lang="en-IN" sz="800"/>
                            <a:t>Modality Ablation?</a:t>
                          </a:r>
                        </a:p>
                      </a:txBody>
                      <a:tcPr marL="54971" marR="54971" marT="27486" marB="27486" anchor="ctr"/>
                    </a:tc>
                    <a:tc>
                      <a:txBody>
                        <a:bodyPr/>
                        <a:lstStyle/>
                        <a:p>
                          <a:pPr>
                            <a:buNone/>
                          </a:pPr>
                          <a:r>
                            <a:rPr lang="en-IN" sz="800"/>
                            <a:t>Explainability (XAI)?</a:t>
                          </a:r>
                        </a:p>
                      </a:txBody>
                      <a:tcPr marL="54971" marR="54971" marT="27486" marB="27486" anchor="ctr"/>
                    </a:tc>
                    <a:extLst>
                      <a:ext uri="{0D108BD9-81ED-4DB2-BD59-A6C34878D82A}">
                        <a16:rowId xmlns:a16="http://schemas.microsoft.com/office/drawing/2014/main" val="522218962"/>
                      </a:ext>
                    </a:extLst>
                  </a:tr>
                  <a:tr h="439770">
                    <a:tc>
                      <a:txBody>
                        <a:bodyPr/>
                        <a:lstStyle/>
                        <a:p>
                          <a:pPr>
                            <a:buNone/>
                          </a:pPr>
                          <a:r>
                            <a:rPr lang="en-IN" sz="800"/>
                            <a:t>Rocha et al. (2023)</a:t>
                          </a:r>
                        </a:p>
                      </a:txBody>
                      <a:tcPr marL="54971" marR="54971" marT="27486" marB="27486" anchor="ctr"/>
                    </a:tc>
                    <a:tc>
                      <a:txBody>
                        <a:bodyPr/>
                        <a:lstStyle/>
                        <a:p>
                          <a:pPr>
                            <a:buNone/>
                          </a:pPr>
                          <a:r>
                            <a:rPr lang="en-IN" sz="800"/>
                            <a:t>Credit River; hourly</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GNN-SAGE</a:t>
                          </a:r>
                        </a:p>
                      </a:txBody>
                      <a:tcPr marL="54971" marR="54971" marT="27486" marB="27486" anchor="ctr"/>
                    </a:tc>
                    <a:tc>
                      <a:txBody>
                        <a:bodyPr/>
                        <a:lstStyle/>
                        <a:p>
                          <a:pPr>
                            <a:buNone/>
                          </a:pPr>
                          <a:r>
                            <a:rPr lang="en-IN" sz="800"/>
                            <a:t>6 h</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 (SHAP)</a:t>
                          </a:r>
                        </a:p>
                      </a:txBody>
                      <a:tcPr marL="54971" marR="54971" marT="27486" marB="27486" anchor="ctr"/>
                    </a:tc>
                    <a:extLst>
                      <a:ext uri="{0D108BD9-81ED-4DB2-BD59-A6C34878D82A}">
                        <a16:rowId xmlns:a16="http://schemas.microsoft.com/office/drawing/2014/main" val="3398236732"/>
                      </a:ext>
                    </a:extLst>
                  </a:tr>
                  <a:tr h="439770">
                    <a:tc>
                      <a:txBody>
                        <a:bodyPr/>
                        <a:lstStyle/>
                        <a:p>
                          <a:pPr>
                            <a:buNone/>
                          </a:pPr>
                          <a:r>
                            <a:rPr lang="en-IN" sz="800"/>
                            <a:t>Pant et al. (2024)</a:t>
                          </a:r>
                        </a:p>
                      </a:txBody>
                      <a:tcPr marL="54971" marR="54971" marT="27486" marB="27486" anchor="ctr"/>
                    </a:tc>
                    <a:tc>
                      <a:txBody>
                        <a:bodyPr/>
                        <a:lstStyle/>
                        <a:p>
                          <a:pPr>
                            <a:buNone/>
                          </a:pPr>
                          <a:r>
                            <a:rPr lang="en-IN" sz="800"/>
                            <a:t>River Ganga; hourly</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CEEMDAN-BiLSTM</a:t>
                          </a:r>
                        </a:p>
                      </a:txBody>
                      <a:tcPr marL="54971" marR="54971" marT="27486" marB="27486" anchor="ctr"/>
                    </a:tc>
                    <a:tc>
                      <a:txBody>
                        <a:bodyPr/>
                        <a:lstStyle/>
                        <a:p>
                          <a:pPr>
                            <a:buNone/>
                          </a:pPr>
                          <a:r>
                            <a:rPr lang="en-IN" sz="800"/>
                            <a:t>1–3 h</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928641816"/>
                      </a:ext>
                    </a:extLst>
                  </a:tr>
                  <a:tr h="439770">
                    <a:tc>
                      <a:txBody>
                        <a:bodyPr/>
                        <a:lstStyle/>
                        <a:p>
                          <a:pPr>
                            <a:buNone/>
                          </a:pPr>
                          <a:r>
                            <a:rPr lang="en-IN" sz="800"/>
                            <a:t>Granata et al. (2024)</a:t>
                          </a:r>
                        </a:p>
                      </a:txBody>
                      <a:tcPr marL="54971" marR="54971" marT="27486" marB="27486" anchor="ctr"/>
                    </a:tc>
                    <a:tc>
                      <a:txBody>
                        <a:bodyPr/>
                        <a:lstStyle/>
                        <a:p>
                          <a:pPr>
                            <a:buNone/>
                          </a:pPr>
                          <a:r>
                            <a:rPr lang="en-IN" sz="800"/>
                            <a:t>Mississippi; daily</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Stacked MLP-RF</a:t>
                          </a:r>
                        </a:p>
                      </a:txBody>
                      <a:tcPr marL="54971" marR="54971" marT="27486" marB="27486" anchor="ctr"/>
                    </a:tc>
                    <a:tc>
                      <a:txBody>
                        <a:bodyPr/>
                        <a:lstStyle/>
                        <a:p>
                          <a:pPr>
                            <a:buNone/>
                          </a:pPr>
                          <a:r>
                            <a:rPr lang="en-IN" sz="800"/>
                            <a:t>1–15 d</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Partial</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3854411798"/>
                      </a:ext>
                    </a:extLst>
                  </a:tr>
                  <a:tr h="439770">
                    <a:tc>
                      <a:txBody>
                        <a:bodyPr/>
                        <a:lstStyle/>
                        <a:p>
                          <a:pPr>
                            <a:buNone/>
                          </a:pPr>
                          <a:r>
                            <a:rPr lang="en-IN" sz="800"/>
                            <a:t>Cerqueira et al. (2024)</a:t>
                          </a:r>
                        </a:p>
                      </a:txBody>
                      <a:tcPr marL="54971" marR="54971" marT="27486" marB="27486" anchor="ctr"/>
                    </a:tc>
                    <a:tc>
                      <a:txBody>
                        <a:bodyPr/>
                        <a:lstStyle/>
                        <a:p>
                          <a:pPr>
                            <a:buNone/>
                          </a:pPr>
                          <a:r>
                            <a:rPr lang="en-IN" sz="800"/>
                            <a:t>14 Salmon farms</a:t>
                          </a:r>
                        </a:p>
                      </a:txBody>
                      <a:tcPr marL="54971" marR="54971" marT="27486" marB="27486" anchor="ctr"/>
                    </a:tc>
                    <a:tc>
                      <a:txBody>
                        <a:bodyPr/>
                        <a:lstStyle/>
                        <a:p>
                          <a:pPr>
                            <a:buNone/>
                          </a:pPr>
                          <a:r>
                            <a:rPr lang="en-IN" sz="800"/>
                            <a:t>Hypoxia Forecast</a:t>
                          </a:r>
                        </a:p>
                      </a:txBody>
                      <a:tcPr marL="54971" marR="54971" marT="27486" marB="27486" anchor="ctr"/>
                    </a:tc>
                    <a:tc>
                      <a:txBody>
                        <a:bodyPr/>
                        <a:lstStyle/>
                        <a:p>
                          <a:pPr>
                            <a:buNone/>
                          </a:pPr>
                          <a:r>
                            <a:rPr lang="en-IN" sz="800"/>
                            <a:t>LightGBM</a:t>
                          </a:r>
                        </a:p>
                      </a:txBody>
                      <a:tcPr marL="54971" marR="54971" marT="27486" marB="27486" anchor="ctr"/>
                    </a:tc>
                    <a:tc>
                      <a:txBody>
                        <a:bodyPr/>
                        <a:lstStyle/>
                        <a:p>
                          <a:pPr>
                            <a:buNone/>
                          </a:pPr>
                          <a:r>
                            <a:rPr lang="en-IN" sz="800"/>
                            <a:t>1–24 h</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1553806738"/>
                      </a:ext>
                    </a:extLst>
                  </a:tr>
                  <a:tr h="439770">
                    <a:tc>
                      <a:txBody>
                        <a:bodyPr/>
                        <a:lstStyle/>
                        <a:p>
                          <a:pPr>
                            <a:buNone/>
                          </a:pPr>
                          <a:r>
                            <a:rPr lang="en-IN" sz="800"/>
                            <a:t>Simonetti et al. (2024)</a:t>
                          </a:r>
                        </a:p>
                      </a:txBody>
                      <a:tcPr marL="54971" marR="54971" marT="27486" marB="27486" anchor="ctr"/>
                    </a:tc>
                    <a:tc>
                      <a:txBody>
                        <a:bodyPr/>
                        <a:lstStyle/>
                        <a:p>
                          <a:pPr>
                            <a:buNone/>
                          </a:pPr>
                          <a:r>
                            <a:rPr lang="en-IN" sz="800"/>
                            <a:t>Orbetello lagoon</a:t>
                          </a:r>
                        </a:p>
                      </a:txBody>
                      <a:tcPr marL="54971" marR="54971" marT="27486" marB="27486" anchor="ctr"/>
                    </a:tc>
                    <a:tc>
                      <a:txBody>
                        <a:bodyPr/>
                        <a:lstStyle/>
                        <a:p>
                          <a:pPr>
                            <a:buNone/>
                          </a:pPr>
                          <a:r>
                            <a:rPr lang="en-IN" sz="800"/>
                            <a:t>Hypoxia Class.</a:t>
                          </a:r>
                        </a:p>
                      </a:txBody>
                      <a:tcPr marL="54971" marR="54971" marT="27486" marB="27486" anchor="ctr"/>
                    </a:tc>
                    <a:tc>
                      <a:txBody>
                        <a:bodyPr/>
                        <a:lstStyle/>
                        <a:p>
                          <a:pPr>
                            <a:buNone/>
                          </a:pPr>
                          <a:r>
                            <a:rPr lang="en-IN" sz="800"/>
                            <a:t>RF + Hydrodynamic</a:t>
                          </a:r>
                        </a:p>
                      </a:txBody>
                      <a:tcPr marL="54971" marR="54971" marT="27486" marB="27486" anchor="ctr"/>
                    </a:tc>
                    <a:tc>
                      <a:txBody>
                        <a:bodyPr/>
                        <a:lstStyle/>
                        <a:p>
                          <a:endParaRPr lang="en-US"/>
                        </a:p>
                      </a:txBody>
                      <a:tcPr marL="54971" marR="54971" marT="27486" marB="27486" anchor="ctr">
                        <a:blipFill>
                          <a:blip r:embed="rId2"/>
                          <a:stretch>
                            <a:fillRect l="-401775" t="-502778" r="-302367" b="-433333"/>
                          </a:stretch>
                        </a:blipFill>
                      </a:tcPr>
                    </a:tc>
                    <a:tc>
                      <a:txBody>
                        <a:bodyPr/>
                        <a:lstStyle/>
                        <a:p>
                          <a:pPr>
                            <a:buNone/>
                          </a:pPr>
                          <a:r>
                            <a:rPr lang="en-IN" sz="800"/>
                            <a:t>❌</a:t>
                          </a:r>
                        </a:p>
                      </a:txBody>
                      <a:tcPr marL="54971" marR="54971" marT="27486" marB="27486" anchor="ctr"/>
                    </a:tc>
                    <a:tc>
                      <a:txBody>
                        <a:bodyPr/>
                        <a:lstStyle/>
                        <a:p>
                          <a:pPr>
                            <a:buNone/>
                          </a:pPr>
                          <a:r>
                            <a:rPr lang="en-IN" sz="800"/>
                            <a:t>Partial</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924221559"/>
                      </a:ext>
                    </a:extLst>
                  </a:tr>
                  <a:tr h="439770">
                    <a:tc>
                      <a:txBody>
                        <a:bodyPr/>
                        <a:lstStyle/>
                        <a:p>
                          <a:pPr>
                            <a:buNone/>
                          </a:pPr>
                          <a:r>
                            <a:rPr lang="en-IN" sz="800"/>
                            <a:t>Zhao &amp; Chen (2025)</a:t>
                          </a:r>
                        </a:p>
                      </a:txBody>
                      <a:tcPr marL="54971" marR="54971" marT="27486" marB="27486" anchor="ctr"/>
                    </a:tc>
                    <a:tc>
                      <a:txBody>
                        <a:bodyPr/>
                        <a:lstStyle/>
                        <a:p>
                          <a:pPr>
                            <a:buNone/>
                          </a:pPr>
                          <a:r>
                            <a:rPr lang="en-IN" sz="800"/>
                            <a:t>3 river sites</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GWO-XGBoost</a:t>
                          </a:r>
                        </a:p>
                      </a:txBody>
                      <a:tcPr marL="54971" marR="54971" marT="27486" marB="27486" anchor="ctr"/>
                    </a:tc>
                    <a:tc>
                      <a:txBody>
                        <a:bodyPr/>
                        <a:lstStyle/>
                        <a:p>
                          <a:endParaRPr lang="en-US"/>
                        </a:p>
                      </a:txBody>
                      <a:tcPr marL="54971" marR="54971" marT="27486" marB="27486" anchor="ctr">
                        <a:blipFill>
                          <a:blip r:embed="rId2"/>
                          <a:stretch>
                            <a:fillRect l="-401775" t="-602778" r="-302367" b="-333333"/>
                          </a:stretch>
                        </a:blipFill>
                      </a:tcP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2540915837"/>
                      </a:ext>
                    </a:extLst>
                  </a:tr>
                  <a:tr h="439770">
                    <a:tc>
                      <a:txBody>
                        <a:bodyPr/>
                        <a:lstStyle/>
                        <a:p>
                          <a:pPr>
                            <a:buNone/>
                          </a:pPr>
                          <a:r>
                            <a:rPr lang="en-IN" sz="800"/>
                            <a:t>Merabet et al. (2025)</a:t>
                          </a:r>
                        </a:p>
                      </a:txBody>
                      <a:tcPr marL="54971" marR="54971" marT="27486" marB="27486" anchor="ctr"/>
                    </a:tc>
                    <a:tc>
                      <a:txBody>
                        <a:bodyPr/>
                        <a:lstStyle/>
                        <a:p>
                          <a:pPr>
                            <a:buNone/>
                          </a:pPr>
                          <a:r>
                            <a:rPr lang="en-IN" sz="800"/>
                            <a:t>Illinois River (USGS)</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CatBoost/LightGBM</a:t>
                          </a:r>
                        </a:p>
                      </a:txBody>
                      <a:tcPr marL="54971" marR="54971" marT="27486" marB="27486" anchor="ctr"/>
                    </a:tc>
                    <a:tc>
                      <a:txBody>
                        <a:bodyPr/>
                        <a:lstStyle/>
                        <a:p>
                          <a:pPr>
                            <a:buNone/>
                          </a:pPr>
                          <a:r>
                            <a:rPr lang="en-IN" sz="800"/>
                            <a:t>Single-step</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 (SHAP)</a:t>
                          </a:r>
                        </a:p>
                      </a:txBody>
                      <a:tcPr marL="54971" marR="54971" marT="27486" marB="27486" anchor="ctr"/>
                    </a:tc>
                    <a:extLst>
                      <a:ext uri="{0D108BD9-81ED-4DB2-BD59-A6C34878D82A}">
                        <a16:rowId xmlns:a16="http://schemas.microsoft.com/office/drawing/2014/main" val="853278673"/>
                      </a:ext>
                    </a:extLst>
                  </a:tr>
                  <a:tr h="439770">
                    <a:tc>
                      <a:txBody>
                        <a:bodyPr/>
                        <a:lstStyle/>
                        <a:p>
                          <a:pPr>
                            <a:buNone/>
                          </a:pPr>
                          <a:r>
                            <a:rPr lang="en-IN" sz="800"/>
                            <a:t>Base Paper (2026)</a:t>
                          </a:r>
                        </a:p>
                      </a:txBody>
                      <a:tcPr marL="54971" marR="54971" marT="27486" marB="27486" anchor="ctr"/>
                    </a:tc>
                    <a:tc>
                      <a:txBody>
                        <a:bodyPr/>
                        <a:lstStyle/>
                        <a:p>
                          <a:pPr>
                            <a:buNone/>
                          </a:pPr>
                          <a:r>
                            <a:rPr lang="en-IN" sz="800"/>
                            <a:t>China national net</a:t>
                          </a:r>
                        </a:p>
                      </a:txBody>
                      <a:tcPr marL="54971" marR="54971" marT="27486" marB="27486" anchor="ctr"/>
                    </a:tc>
                    <a:tc>
                      <a:txBody>
                        <a:bodyPr/>
                        <a:lstStyle/>
                        <a:p>
                          <a:pPr>
                            <a:buNone/>
                          </a:pPr>
                          <a:r>
                            <a:rPr lang="en-IN" sz="800"/>
                            <a:t>DO Regression</a:t>
                          </a:r>
                        </a:p>
                      </a:txBody>
                      <a:tcPr marL="54971" marR="54971" marT="27486" marB="27486" anchor="ctr"/>
                    </a:tc>
                    <a:tc>
                      <a:txBody>
                        <a:bodyPr/>
                        <a:lstStyle/>
                        <a:p>
                          <a:pPr>
                            <a:buNone/>
                          </a:pPr>
                          <a:r>
                            <a:rPr lang="en-IN" sz="800"/>
                            <a:t>Transformer+LSTM</a:t>
                          </a:r>
                        </a:p>
                      </a:txBody>
                      <a:tcPr marL="54971" marR="54971" marT="27486" marB="27486" anchor="ctr"/>
                    </a:tc>
                    <a:tc>
                      <a:txBody>
                        <a:bodyPr/>
                        <a:lstStyle/>
                        <a:p>
                          <a:pPr>
                            <a:buNone/>
                          </a:pPr>
                          <a:r>
                            <a:rPr lang="en-IN" sz="800"/>
                            <a:t>3–14 d</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tc>
                      <a:txBody>
                        <a:bodyPr/>
                        <a:lstStyle/>
                        <a:p>
                          <a:pPr>
                            <a:buNone/>
                          </a:pPr>
                          <a:r>
                            <a:rPr lang="en-IN" sz="800"/>
                            <a:t>❌</a:t>
                          </a:r>
                        </a:p>
                      </a:txBody>
                      <a:tcPr marL="54971" marR="54971" marT="27486" marB="27486" anchor="ctr"/>
                    </a:tc>
                    <a:extLst>
                      <a:ext uri="{0D108BD9-81ED-4DB2-BD59-A6C34878D82A}">
                        <a16:rowId xmlns:a16="http://schemas.microsoft.com/office/drawing/2014/main" val="4256555403"/>
                      </a:ext>
                    </a:extLst>
                  </a:tr>
                  <a:tr h="568036">
                    <a:tc>
                      <a:txBody>
                        <a:bodyPr/>
                        <a:lstStyle/>
                        <a:p>
                          <a:pPr>
                            <a:buNone/>
                          </a:pPr>
                          <a:r>
                            <a:rPr lang="en-IN" sz="800"/>
                            <a:t>Proposed Work</a:t>
                          </a:r>
                        </a:p>
                      </a:txBody>
                      <a:tcPr marL="54971" marR="54971" marT="27486" marB="27486" anchor="ctr"/>
                    </a:tc>
                    <a:tc>
                      <a:txBody>
                        <a:bodyPr/>
                        <a:lstStyle/>
                        <a:p>
                          <a:pPr>
                            <a:buNone/>
                          </a:pPr>
                          <a:r>
                            <a:rPr lang="en-IN" sz="800"/>
                            <a:t>15 US Rivers; 337k hrs</a:t>
                          </a:r>
                        </a:p>
                      </a:txBody>
                      <a:tcPr marL="54971" marR="54971" marT="27486" marB="27486" anchor="ctr"/>
                    </a:tc>
                    <a:tc>
                      <a:txBody>
                        <a:bodyPr/>
                        <a:lstStyle/>
                        <a:p>
                          <a:pPr>
                            <a:buNone/>
                          </a:pPr>
                          <a:r>
                            <a:rPr lang="en-IN" sz="800"/>
                            <a:t>Event-Onset Class.</a:t>
                          </a:r>
                        </a:p>
                      </a:txBody>
                      <a:tcPr marL="54971" marR="54971" marT="27486" marB="27486" anchor="ctr"/>
                    </a:tc>
                    <a:tc>
                      <a:txBody>
                        <a:bodyPr/>
                        <a:lstStyle/>
                        <a:p>
                          <a:pPr>
                            <a:buNone/>
                          </a:pPr>
                          <a:r>
                            <a:rPr lang="en-IN" sz="800"/>
                            <a:t>Stacked LightGBM</a:t>
                          </a:r>
                        </a:p>
                      </a:txBody>
                      <a:tcPr marL="54971" marR="54971" marT="27486" marB="27486" anchor="ctr"/>
                    </a:tc>
                    <a:tc>
                      <a:txBody>
                        <a:bodyPr/>
                        <a:lstStyle/>
                        <a:p>
                          <a:pPr>
                            <a:buNone/>
                          </a:pPr>
                          <a:r>
                            <a:rPr lang="en-IN" sz="800"/>
                            <a:t>6–48 h</a:t>
                          </a:r>
                        </a:p>
                      </a:txBody>
                      <a:tcPr marL="54971" marR="54971" marT="27486" marB="27486" anchor="ctr"/>
                    </a:tc>
                    <a:tc>
                      <a:txBody>
                        <a:bodyPr/>
                        <a:lstStyle/>
                        <a:p>
                          <a:pPr>
                            <a:buNone/>
                          </a:pPr>
                          <a:r>
                            <a:rPr lang="en-IN" sz="800"/>
                            <a:t>✅ (+4–9 h lead)</a:t>
                          </a:r>
                        </a:p>
                      </a:txBody>
                      <a:tcPr marL="54971" marR="54971" marT="27486" marB="27486" anchor="ctr"/>
                    </a:tc>
                    <a:tc>
                      <a:txBody>
                        <a:bodyPr/>
                        <a:lstStyle/>
                        <a:p>
                          <a:pPr>
                            <a:buNone/>
                          </a:pPr>
                          <a:r>
                            <a:rPr lang="en-IN" sz="800"/>
                            <a:t>✅ (Rigorous)</a:t>
                          </a:r>
                        </a:p>
                      </a:txBody>
                      <a:tcPr marL="54971" marR="54971" marT="27486" marB="27486" anchor="ctr"/>
                    </a:tc>
                    <a:tc>
                      <a:txBody>
                        <a:bodyPr/>
                        <a:lstStyle/>
                        <a:p>
                          <a:pPr>
                            <a:buNone/>
                          </a:pPr>
                          <a:r>
                            <a:rPr lang="en-IN" sz="800" dirty="0"/>
                            <a:t>✅ (Global/Local SHAP)</a:t>
                          </a:r>
                        </a:p>
                      </a:txBody>
                      <a:tcPr marL="54971" marR="54971" marT="27486" marB="27486" anchor="ctr"/>
                    </a:tc>
                    <a:extLst>
                      <a:ext uri="{0D108BD9-81ED-4DB2-BD59-A6C34878D82A}">
                        <a16:rowId xmlns:a16="http://schemas.microsoft.com/office/drawing/2014/main" val="1376836387"/>
                      </a:ext>
                    </a:extLst>
                  </a:tr>
                </a:tbl>
              </a:graphicData>
            </a:graphic>
          </p:graphicFrame>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FCF06-6BF3-5529-2E4C-BB7C19DA6A61}"/>
            </a:ext>
          </a:extLst>
        </p:cNvPr>
        <p:cNvGrpSpPr/>
        <p:nvPr/>
      </p:nvGrpSpPr>
      <p:grpSpPr>
        <a:xfrm>
          <a:off x="0" y="0"/>
          <a:ext cx="0" cy="0"/>
          <a:chOff x="0" y="0"/>
          <a:chExt cx="0" cy="0"/>
        </a:xfrm>
      </p:grpSpPr>
      <p:sp>
        <p:nvSpPr>
          <p:cNvPr id="55" name="TextBox 54">
            <a:extLst>
              <a:ext uri="{FF2B5EF4-FFF2-40B4-BE49-F238E27FC236}">
                <a16:creationId xmlns:a16="http://schemas.microsoft.com/office/drawing/2014/main" id="{05319735-E306-6C82-7ABD-BF07F43B11CF}"/>
              </a:ext>
            </a:extLst>
          </p:cNvPr>
          <p:cNvSpPr txBox="1"/>
          <p:nvPr/>
        </p:nvSpPr>
        <p:spPr>
          <a:xfrm>
            <a:off x="445066" y="228601"/>
            <a:ext cx="8253864" cy="1231106"/>
          </a:xfrm>
          <a:prstGeom prst="rect">
            <a:avLst/>
          </a:prstGeom>
          <a:noFill/>
        </p:spPr>
        <p:txBody>
          <a:bodyPr wrap="square" lIns="0" tIns="0" rIns="0" bIns="0" anchor="t">
            <a:spAutoFit/>
          </a:bodyPr>
          <a:lstStyle/>
          <a:p>
            <a:pPr algn="ctr"/>
            <a:r>
              <a:rPr sz="4000" b="1" dirty="0"/>
              <a:t>Results &amp; Discussion — Comparison with Existing Work</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356057D-2A93-F83F-8199-88CCA6D1E2BE}"/>
                  </a:ext>
                </a:extLst>
              </p:cNvPr>
              <p:cNvSpPr txBox="1"/>
              <p:nvPr/>
            </p:nvSpPr>
            <p:spPr>
              <a:xfrm>
                <a:off x="445067" y="1992035"/>
                <a:ext cx="8253863" cy="2031325"/>
              </a:xfrm>
              <a:prstGeom prst="rect">
                <a:avLst/>
              </a:prstGeom>
              <a:noFill/>
            </p:spPr>
            <p:txBody>
              <a:bodyPr wrap="square">
                <a:spAutoFit/>
              </a:bodyPr>
              <a:lstStyle/>
              <a:p>
                <a:pPr>
                  <a:buNone/>
                </a:pPr>
                <a:r>
                  <a:rPr lang="en-IN" b="1" dirty="0"/>
                  <a:t>Critical Research Contributions</a:t>
                </a:r>
              </a:p>
              <a:p>
                <a:pPr marL="342900" lvl="0" indent="-342900">
                  <a:buFont typeface="Arial" panose="020B0604020202020204" pitchFamily="34" charset="0"/>
                  <a:buChar char="•"/>
                </a:pPr>
                <a:r>
                  <a:rPr lang="en-IN" b="1" dirty="0"/>
                  <a:t>Closing the Paradigm Gap:</a:t>
                </a:r>
                <a:r>
                  <a:rPr lang="en-IN" dirty="0"/>
                  <a:t> Prior studies optimize scalar metrics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𝑅</m:t>
                        </m:r>
                      </m:e>
                      <m:sup>
                        <m:r>
                          <a:rPr lang="en-IN" i="0">
                            <a:latin typeface="Cambria Math" panose="02040503050406030204" pitchFamily="18" charset="0"/>
                          </a:rPr>
                          <m:t>2</m:t>
                        </m:r>
                      </m:sup>
                    </m:sSup>
                  </m:oMath>
                </a14:m>
                <a:r>
                  <a:rPr lang="en-IN" dirty="0"/>
                  <a:t>, RMSE) that do not reflect operational readiness. This work formulates event-onset classification under real-world class imbalance.</a:t>
                </a:r>
              </a:p>
              <a:p>
                <a:pPr marL="342900" lvl="0" indent="-342900">
                  <a:buFont typeface="Arial" panose="020B0604020202020204" pitchFamily="34" charset="0"/>
                  <a:buChar char="•"/>
                </a:pPr>
                <a:r>
                  <a:rPr lang="en-IN" b="1" dirty="0"/>
                  <a:t>Rigorous Negative Finding on Multimodality:</a:t>
                </a:r>
                <a:r>
                  <a:rPr lang="en-IN" dirty="0"/>
                  <a:t> First study to demonstrate via frozen hold-out splits that ERA5 weather and CAMS air quality do not add predictive signal over high-frequency water telemetry.</a:t>
                </a:r>
              </a:p>
              <a:p>
                <a:pPr marL="342900" lvl="0" indent="-342900">
                  <a:buFont typeface="Arial" panose="020B0604020202020204" pitchFamily="34" charset="0"/>
                  <a:buChar char="•"/>
                </a:pPr>
                <a:r>
                  <a:rPr lang="en-IN" b="1" dirty="0"/>
                  <a:t>Lead Time Benchmarking:</a:t>
                </a:r>
                <a:r>
                  <a:rPr lang="en-IN" dirty="0"/>
                  <a:t> Demonstrates consistent anticipation of </a:t>
                </a:r>
                <a:r>
                  <a:rPr lang="en-IN" b="1" dirty="0"/>
                  <a:t>5.8 h (24 h horizon)</a:t>
                </a:r>
                <a:r>
                  <a:rPr lang="en-IN" dirty="0"/>
                  <a:t> and </a:t>
                </a:r>
                <a:r>
                  <a:rPr lang="en-IN" b="1" dirty="0"/>
                  <a:t>10 h (48 h horizon)</a:t>
                </a:r>
                <a:r>
                  <a:rPr lang="en-IN" dirty="0"/>
                  <a:t>, matching the 5–8 h anticipation reported by Cerqueira et al. (2024).</a:t>
                </a:r>
              </a:p>
            </p:txBody>
          </p:sp>
        </mc:Choice>
        <mc:Fallback xmlns="">
          <p:sp>
            <p:nvSpPr>
              <p:cNvPr id="4" name="TextBox 3">
                <a:extLst>
                  <a:ext uri="{FF2B5EF4-FFF2-40B4-BE49-F238E27FC236}">
                    <a16:creationId xmlns:a16="http://schemas.microsoft.com/office/drawing/2014/main" id="{6356057D-2A93-F83F-8199-88CCA6D1E2BE}"/>
                  </a:ext>
                </a:extLst>
              </p:cNvPr>
              <p:cNvSpPr txBox="1">
                <a:spLocks noRot="1" noChangeAspect="1" noMove="1" noResize="1" noEditPoints="1" noAdjustHandles="1" noChangeArrowheads="1" noChangeShapeType="1" noTextEdit="1"/>
              </p:cNvSpPr>
              <p:nvPr/>
            </p:nvSpPr>
            <p:spPr>
              <a:xfrm>
                <a:off x="445067" y="1992035"/>
                <a:ext cx="8253863" cy="2031325"/>
              </a:xfrm>
              <a:prstGeom prst="rect">
                <a:avLst/>
              </a:prstGeom>
              <a:blipFill>
                <a:blip r:embed="rId2"/>
                <a:stretch>
                  <a:fillRect l="-222" t="-601" b="-2102"/>
                </a:stretch>
              </a:blipFill>
            </p:spPr>
            <p:txBody>
              <a:bodyPr/>
              <a:lstStyle/>
              <a:p>
                <a:r>
                  <a:rPr lang="en-IN">
                    <a:noFill/>
                  </a:rPr>
                  <a:t> </a:t>
                </a:r>
              </a:p>
            </p:txBody>
          </p:sp>
        </mc:Fallback>
      </mc:AlternateContent>
    </p:spTree>
    <p:extLst>
      <p:ext uri="{BB962C8B-B14F-4D97-AF65-F5344CB8AC3E}">
        <p14:creationId xmlns:p14="http://schemas.microsoft.com/office/powerpoint/2010/main" val="4264676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3"/>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IN"/>
              <a:t>Conclusion</a:t>
            </a:r>
          </a:p>
        </p:txBody>
      </p:sp>
      <p:sp>
        <p:nvSpPr>
          <p:cNvPr id="7" name="Text Placeholder 6">
            <a:extLst>
              <a:ext uri="{FF2B5EF4-FFF2-40B4-BE49-F238E27FC236}">
                <a16:creationId xmlns:a16="http://schemas.microsoft.com/office/drawing/2014/main" id="{DFE8984A-ED8D-F365-6511-97F640D7AD07}"/>
              </a:ext>
            </a:extLst>
          </p:cNvPr>
          <p:cNvSpPr>
            <a:spLocks noGrp="1"/>
          </p:cNvSpPr>
          <p:nvPr>
            <p:ph type="body" idx="1"/>
          </p:nvPr>
        </p:nvSpPr>
        <p:spPr>
          <a:xfrm>
            <a:off x="457200" y="1600200"/>
            <a:ext cx="8229600" cy="4525963"/>
          </a:xfrm>
        </p:spPr>
        <p:txBody>
          <a:bodyPr>
            <a:normAutofit/>
          </a:bodyPr>
          <a:lstStyle/>
          <a:p>
            <a:pPr lvl="0"/>
            <a:r>
              <a:rPr lang="en-IN" dirty="0"/>
              <a:t>Framework Delivery: Developed, validated, and deployed an end-to-end multimodal machine learning system for anticipatory dissolved-oxygen deterioration warning in rivers.</a:t>
            </a:r>
          </a:p>
          <a:p>
            <a:pPr lvl="0"/>
            <a:r>
              <a:rPr lang="en-IN" dirty="0"/>
              <a:t>Modality Verdict: Empirical proof on an independent hold-out year shows that auxiliary weather and atmospheric inputs do not significantly enhance early detection beyond in-situ water sensors.</a:t>
            </a:r>
          </a:p>
          <a:p>
            <a:pPr lvl="0"/>
            <a:r>
              <a:rPr lang="en-IN" dirty="0"/>
              <a:t>Architectural Advantage: Late fusion via logistic regression stacking exhibits superior noise resilience compared to early fusion concatenation.</a:t>
            </a:r>
          </a:p>
          <a:p>
            <a:pPr lvl="0"/>
            <a:r>
              <a:rPr lang="en-IN" dirty="0"/>
              <a:t>Practical Utility: The proposed framework successfully extends operational warning lead times by 4 to 9 hours across 24 h and 48 h horizons, unlocking a critical window for proactive river basin management.</a:t>
            </a:r>
          </a:p>
          <a:p>
            <a:pPr lvl="0"/>
            <a:r>
              <a:rPr lang="en-IN" dirty="0"/>
              <a:t>Interpretability: Integrated </a:t>
            </a:r>
            <a:r>
              <a:rPr lang="en-IN" dirty="0" err="1"/>
              <a:t>TreeSHAP</a:t>
            </a:r>
            <a:r>
              <a:rPr lang="en-IN" dirty="0"/>
              <a:t> diagnostics confirm that 24 h minimum DO, seasonality, and diurnal swings drive deterioration risk.</a:t>
            </a:r>
          </a:p>
          <a:p>
            <a:pPr lvl="0"/>
            <a:r>
              <a:rPr lang="en-IN" dirty="0"/>
              <a:t>Methodological Rigor: Demonstrated that strict temporal partitioning is essential; development-set cross-validation systematically overestimates hold-out generalizability.</a:t>
            </a:r>
          </a:p>
        </p:txBody>
      </p:sp>
      <p:sp>
        <p:nvSpPr>
          <p:cNvPr id="170" name="Google Shape;170;p13"/>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4"/>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IN"/>
              <a:t>Future Work</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F1A042F7-92FF-25D3-32E2-85CF5C3C19F9}"/>
                  </a:ext>
                </a:extLst>
              </p:cNvPr>
              <p:cNvSpPr>
                <a:spLocks noGrp="1"/>
              </p:cNvSpPr>
              <p:nvPr>
                <p:ph type="body" idx="1"/>
              </p:nvPr>
            </p:nvSpPr>
            <p:spPr>
              <a:xfrm>
                <a:off x="457200" y="1600200"/>
                <a:ext cx="8229600" cy="4525963"/>
              </a:xfrm>
            </p:spPr>
            <p:txBody>
              <a:bodyPr>
                <a:normAutofit/>
              </a:bodyPr>
              <a:lstStyle/>
              <a:p>
                <a:pPr lvl="0"/>
                <a:r>
                  <a:rPr lang="en-IN" dirty="0"/>
                  <a:t>Catchment-Scale Hydrology: Integrate upstream rainfall runoff models and quantitative precipitation forecasts (NWP) to replace post-hoc reanalysis data.</a:t>
                </a:r>
              </a:p>
              <a:p>
                <a:pPr lvl="0"/>
                <a:r>
                  <a:rPr lang="en-IN" dirty="0"/>
                  <a:t>Expanded Geographic Scale: Scale the framework across wider river topologies and continental networks using rolling-origin temporal cross-validation.</a:t>
                </a:r>
              </a:p>
              <a:p>
                <a:pPr lvl="0"/>
                <a:r>
                  <a:rPr lang="en-IN" dirty="0"/>
                  <a:t>Transfer to Indian River Networks: Adapt and fine-tune models on real-time water quality monitoring streams from the Central Pollution Control Board (CPCB) of India (e.g., River Ganga, Yamuna).</a:t>
                </a:r>
              </a:p>
              <a:p>
                <a:pPr lvl="0"/>
                <a:r>
                  <a:rPr lang="en-IN" dirty="0"/>
                  <a:t>Multi-Parameter &amp; Multi-Severity Alerts: Extend the formulation to multi-hazard deterioration warnings (ammoniacal nitrogen </a:t>
                </a:r>
                <a14:m>
                  <m:oMath xmlns:m="http://schemas.openxmlformats.org/officeDocument/2006/math">
                    <m:sSub>
                      <m:sSubPr>
                        <m:ctrlPr>
                          <a:rPr lang="en-IN" i="0"/>
                        </m:ctrlPr>
                      </m:sSubPr>
                      <m:e>
                        <m:r>
                          <m:rPr>
                            <m:nor/>
                          </m:rPr>
                          <a:rPr lang="en-IN" i="0"/>
                          <m:t>NH</m:t>
                        </m:r>
                      </m:e>
                      <m:sub>
                        <m:r>
                          <a:rPr lang="en-IN">
                            <a:latin typeface="Cambria Math" panose="02040503050406030204" pitchFamily="18" charset="0"/>
                          </a:rPr>
                          <m:t>3</m:t>
                        </m:r>
                      </m:sub>
                    </m:sSub>
                    <m:r>
                      <m:rPr>
                        <m:nor/>
                      </m:rPr>
                      <a:rPr lang="en-IN" i="0"/>
                      <m:t>−N</m:t>
                    </m:r>
                  </m:oMath>
                </a14:m>
                <a:r>
                  <a:rPr lang="en-IN" dirty="0"/>
                  <a:t>, excessive turbidity) and ordinal severity tiers (mild, moderate, acute hypoxia).</a:t>
                </a:r>
              </a:p>
              <a:p>
                <a:pPr lvl="0"/>
                <a:r>
                  <a:rPr lang="en-IN" dirty="0"/>
                  <a:t>Hybrid Operational Alarm Logic: Implement a tiered alarm system combining deterministic threshold rules for acute events with probabilistic risk scores for long-horizon planning.</a:t>
                </a:r>
              </a:p>
              <a:p>
                <a:pPr lvl="0"/>
                <a:r>
                  <a:rPr lang="en-IN" dirty="0"/>
                  <a:t>Edge IoT Integration: Embed the inference pipeline into solar-powered edge computing buoys for on-site alert dissemination.</a:t>
                </a:r>
              </a:p>
            </p:txBody>
          </p:sp>
        </mc:Choice>
        <mc:Fallback xmlns="">
          <p:sp>
            <p:nvSpPr>
              <p:cNvPr id="7" name="Text Placeholder 6">
                <a:extLst>
                  <a:ext uri="{FF2B5EF4-FFF2-40B4-BE49-F238E27FC236}">
                    <a16:creationId xmlns:a16="http://schemas.microsoft.com/office/drawing/2014/main" id="{F1A042F7-92FF-25D3-32E2-85CF5C3C19F9}"/>
                  </a:ext>
                </a:extLst>
              </p:cNvPr>
              <p:cNvSpPr>
                <a:spLocks noGrp="1" noRot="1" noChangeAspect="1" noMove="1" noResize="1" noEditPoints="1" noAdjustHandles="1" noChangeArrowheads="1" noChangeShapeType="1" noTextEdit="1"/>
              </p:cNvSpPr>
              <p:nvPr>
                <p:ph type="body" idx="1"/>
              </p:nvPr>
            </p:nvSpPr>
            <p:spPr>
              <a:xfrm>
                <a:off x="457200" y="1600200"/>
                <a:ext cx="8229600" cy="4525963"/>
              </a:xfrm>
              <a:blipFill>
                <a:blip r:embed="rId3"/>
                <a:stretch>
                  <a:fillRect r="-370"/>
                </a:stretch>
              </a:blipFill>
            </p:spPr>
            <p:txBody>
              <a:bodyPr/>
              <a:lstStyle/>
              <a:p>
                <a:r>
                  <a:rPr lang="en-IN">
                    <a:noFill/>
                  </a:rPr>
                  <a:t> </a:t>
                </a:r>
              </a:p>
            </p:txBody>
          </p:sp>
        </mc:Fallback>
      </mc:AlternateContent>
      <p:sp>
        <p:nvSpPr>
          <p:cNvPr id="177" name="Google Shape;177;p14"/>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title"/>
          </p:nvPr>
        </p:nvSpPr>
        <p:spPr>
          <a:xfrm>
            <a:off x="457200" y="274638"/>
            <a:ext cx="8229600" cy="1143000"/>
          </a:xfrm>
          <a:noFill/>
          <a:ln>
            <a:noFill/>
          </a:ln>
        </p:spPr>
        <p:txBody>
          <a:bodyPr spcFirstLastPara="1" wrap="square" lIns="91425" tIns="45700" rIns="91425" bIns="45700" anchor="ctr" anchorCtr="0">
            <a:normAutofit/>
          </a:bodyPr>
          <a:lstStyle/>
          <a:p>
            <a:r>
              <a:rPr lang="en-IN"/>
              <a:t>References</a:t>
            </a:r>
          </a:p>
        </p:txBody>
      </p:sp>
      <p:sp>
        <p:nvSpPr>
          <p:cNvPr id="7" name="Text Placeholder 6">
            <a:extLst>
              <a:ext uri="{FF2B5EF4-FFF2-40B4-BE49-F238E27FC236}">
                <a16:creationId xmlns:a16="http://schemas.microsoft.com/office/drawing/2014/main" id="{D2325097-00D8-53D9-FF86-7361B299596E}"/>
              </a:ext>
            </a:extLst>
          </p:cNvPr>
          <p:cNvSpPr>
            <a:spLocks noGrp="1"/>
          </p:cNvSpPr>
          <p:nvPr>
            <p:ph type="body" idx="1"/>
          </p:nvPr>
        </p:nvSpPr>
        <p:spPr>
          <a:xfrm>
            <a:off x="457200" y="1600200"/>
            <a:ext cx="8229600" cy="4525963"/>
          </a:xfrm>
        </p:spPr>
        <p:txBody>
          <a:bodyPr>
            <a:normAutofit fontScale="62500" lnSpcReduction="20000"/>
          </a:bodyPr>
          <a:lstStyle/>
          <a:p>
            <a:pPr lvl="0"/>
            <a:r>
              <a:rPr lang="en-IN" dirty="0"/>
              <a:t>J. Moon, J. Lee, S. Lee, and H. Yoon, "Urban river dissolved oxygen prediction model using machine learning," Water, vol. 14, no. 12, p. 1899, 2022.</a:t>
            </a:r>
          </a:p>
          <a:p>
            <a:pPr lvl="0"/>
            <a:r>
              <a:rPr lang="en-IN" dirty="0"/>
              <a:t>P. A. C. Rocha, V. O. Santos, J. Van </a:t>
            </a:r>
            <a:r>
              <a:rPr lang="en-IN" dirty="0" err="1"/>
              <a:t>Griensven</a:t>
            </a:r>
            <a:r>
              <a:rPr lang="en-IN" dirty="0"/>
              <a:t> </a:t>
            </a:r>
            <a:r>
              <a:rPr lang="en-IN" dirty="0" err="1"/>
              <a:t>Thé</a:t>
            </a:r>
            <a:r>
              <a:rPr lang="en-IN" dirty="0"/>
              <a:t>, and B. Gharabaghi, "New graph-based and transformer deep learning models for river dissolved oxygen forecasting," Environments, vol. 10, no. 12, p. 217, 2023.</a:t>
            </a:r>
          </a:p>
          <a:p>
            <a:pPr lvl="0"/>
            <a:r>
              <a:rPr lang="en-IN" dirty="0"/>
              <a:t>N. Pant, D. Toshniwal, and B. R. Gurjar, "Multi-step forecasting of dissolved oxygen in River Ganga based on CEEMDAN-AdaBoost-</a:t>
            </a:r>
            <a:r>
              <a:rPr lang="en-IN" dirty="0" err="1"/>
              <a:t>BiLSTM</a:t>
            </a:r>
            <a:r>
              <a:rPr lang="en-IN" dirty="0"/>
              <a:t>-LSTM model," Scientific Reports, vol. 14, p. 11199, 2024.</a:t>
            </a:r>
          </a:p>
          <a:p>
            <a:pPr lvl="0"/>
            <a:r>
              <a:rPr lang="en-IN" dirty="0"/>
              <a:t>F. Granata, S. Zhu, and F. Di Nunno, "Dissolved oxygen forecasting in the Mississippi River: advanced ensemble machine learning models," Royal Society of Chemistry, </a:t>
            </a:r>
            <a:r>
              <a:rPr lang="en-IN" dirty="0" err="1"/>
              <a:t>doi</a:t>
            </a:r>
            <a:r>
              <a:rPr lang="en-IN" dirty="0"/>
              <a:t>: 10.1039/D4VA00119B, 2024.</a:t>
            </a:r>
          </a:p>
          <a:p>
            <a:pPr lvl="0"/>
            <a:r>
              <a:rPr lang="en-IN" dirty="0"/>
              <a:t>V. Cerqueira et al., "Forecasting ocean hypoxia in salmonid fish farms," Frontiers in Aquaculture, vol. 3, p. 1365123, 2024.</a:t>
            </a:r>
          </a:p>
          <a:p>
            <a:pPr lvl="0"/>
            <a:r>
              <a:rPr lang="en-IN" dirty="0"/>
              <a:t>I. Simonetti, C. </a:t>
            </a:r>
            <a:r>
              <a:rPr lang="en-IN" dirty="0" err="1"/>
              <a:t>Lubello</a:t>
            </a:r>
            <a:r>
              <a:rPr lang="en-IN" dirty="0"/>
              <a:t>, and L. </a:t>
            </a:r>
            <a:r>
              <a:rPr lang="en-IN" dirty="0" err="1"/>
              <a:t>Cappietti</a:t>
            </a:r>
            <a:r>
              <a:rPr lang="en-IN" dirty="0"/>
              <a:t>, "On the use of hydrodynamic modelling and random forest classifiers for the prediction of hypoxia in coastal lagoons," Science of the Total Environment, vol. 951, p. 175424, 2024.</a:t>
            </a:r>
          </a:p>
          <a:p>
            <a:pPr lvl="0"/>
            <a:r>
              <a:rPr lang="en-IN" dirty="0"/>
              <a:t>Y. Zhao and M. Chen, "Prediction of river dissolved oxygen (DO) based on multi-source data and various machine learning coupling models," PLOS ONE, vol. 20, no. 3, p. e0319256, 2025.</a:t>
            </a:r>
          </a:p>
          <a:p>
            <a:pPr lvl="0"/>
            <a:r>
              <a:rPr lang="en-IN" dirty="0"/>
              <a:t>K. Merabet et al., "Predicting water quality variables using gradient boosting machine: global versus local explainability using </a:t>
            </a:r>
            <a:r>
              <a:rPr lang="en-IN" dirty="0" err="1"/>
              <a:t>SHapley</a:t>
            </a:r>
            <a:r>
              <a:rPr lang="en-IN" dirty="0"/>
              <a:t> Additive Explanations (SHAP)," Earth Science Informatics, vol. 18, p. 298, 2025.</a:t>
            </a:r>
          </a:p>
          <a:p>
            <a:pPr lvl="0"/>
            <a:r>
              <a:rPr lang="en-IN" dirty="0"/>
              <a:t>R. Choudhary et al., "Predicting water quality index using stacked ensemble regression and SHAP based explainable artificial intelligence," Scientific Reports, vol. 15, p. 31139, 2025.</a:t>
            </a:r>
          </a:p>
          <a:p>
            <a:pPr lvl="0"/>
            <a:r>
              <a:rPr lang="en-IN" dirty="0"/>
              <a:t>"Multimodal deep-learning–driven water-quality forecasting and scenario assessment: shifting from reactive monitoring to proactive basin management," Journal of Hydrology, 2026.</a:t>
            </a:r>
          </a:p>
          <a:p>
            <a:pPr lvl="0"/>
            <a:r>
              <a:rPr lang="en-IN" dirty="0"/>
              <a:t>G. Ke et al., "</a:t>
            </a:r>
            <a:r>
              <a:rPr lang="en-IN" dirty="0" err="1"/>
              <a:t>LightGBM</a:t>
            </a:r>
            <a:r>
              <a:rPr lang="en-IN" dirty="0"/>
              <a:t>: A highly efficient gradient boosting decision tree," Advances in Neural Information Processing Systems (</a:t>
            </a:r>
            <a:r>
              <a:rPr lang="en-IN" dirty="0" err="1"/>
              <a:t>NeurIPS</a:t>
            </a:r>
            <a:r>
              <a:rPr lang="en-IN" dirty="0"/>
              <a:t>), 2017.</a:t>
            </a:r>
          </a:p>
          <a:p>
            <a:pPr lvl="0"/>
            <a:r>
              <a:rPr lang="en-IN" dirty="0"/>
              <a:t>S. M. Lundberg and S.-I. Lee, "A unified approach to interpreting model predictions," </a:t>
            </a:r>
            <a:r>
              <a:rPr lang="en-IN" dirty="0" err="1"/>
              <a:t>NeurIPS</a:t>
            </a:r>
            <a:r>
              <a:rPr lang="en-IN" dirty="0"/>
              <a:t>, 2017.</a:t>
            </a:r>
          </a:p>
          <a:p>
            <a:pPr lvl="0"/>
            <a:r>
              <a:rPr lang="en-IN" dirty="0"/>
              <a:t>D. H. Wolpert, "Stacked generalization," Neural Networks, vol. 5, no. 2, pp. 241–259, 1992.</a:t>
            </a:r>
          </a:p>
          <a:p>
            <a:pPr lvl="0"/>
            <a:r>
              <a:rPr lang="en-IN" dirty="0"/>
              <a:t>T. Saito and M. </a:t>
            </a:r>
            <a:r>
              <a:rPr lang="en-IN" dirty="0" err="1"/>
              <a:t>Rehmsmeier</a:t>
            </a:r>
            <a:r>
              <a:rPr lang="en-IN" dirty="0"/>
              <a:t>, "The precision-recall plot is more informative than the ROC plot when evaluating binary classifiers on imbalanced datasets," PLOS ONE, vol. 10, no. 3, p. e0118432, 2015.</a:t>
            </a:r>
          </a:p>
          <a:p>
            <a:pPr lvl="0"/>
            <a:r>
              <a:rPr lang="en-IN" dirty="0"/>
              <a:t>H. </a:t>
            </a:r>
            <a:r>
              <a:rPr lang="en-IN" dirty="0" err="1"/>
              <a:t>Hersbach</a:t>
            </a:r>
            <a:r>
              <a:rPr lang="en-IN" dirty="0"/>
              <a:t> et al., "The ERA5 global reanalysis," Quarterly Journal of the Royal Meteorological Society, vol. 146, no. 730, pp. 1999–2049, 2020.</a:t>
            </a:r>
          </a:p>
          <a:p>
            <a:pPr lvl="0"/>
            <a:r>
              <a:rPr lang="en-IN" dirty="0"/>
              <a:t>A. Inness et al., "The CAMS reanalysis of atmospheric composition," Atmospheric Chemistry and Physics, vol. 19, pp. 3515–3556, 2019.</a:t>
            </a:r>
          </a:p>
          <a:p>
            <a:pPr lvl="0"/>
            <a:r>
              <a:rPr lang="en-IN" dirty="0"/>
              <a:t>U.S. Geological Survey, "National Water Information System (NWIS)," </a:t>
            </a:r>
            <a:r>
              <a:rPr lang="en-IN" dirty="0">
                <a:hlinkClick r:id="rId3"/>
              </a:rPr>
              <a:t>waterdata.usgs.gov</a:t>
            </a:r>
            <a:r>
              <a:rPr lang="en-IN" dirty="0"/>
              <a:t>.</a:t>
            </a:r>
          </a:p>
          <a:p>
            <a:pPr lvl="0"/>
            <a:r>
              <a:rPr lang="en-IN" dirty="0"/>
              <a:t>U.S. Environmental Protection Agency, "Ambient water quality criteria for dissolved oxygen," EPA 440/5-86-003, 1986.</a:t>
            </a:r>
          </a:p>
          <a:p>
            <a:endParaRPr lang="en-IN" dirty="0"/>
          </a:p>
          <a:p>
            <a:endParaRPr lang="en-IN" dirty="0"/>
          </a:p>
        </p:txBody>
      </p:sp>
      <p:sp>
        <p:nvSpPr>
          <p:cNvPr id="184" name="Google Shape;184;p15"/>
          <p:cNvSpPr txBox="1">
            <a:spLocks noGrp="1"/>
          </p:cNvSpPr>
          <p:nvPr>
            <p:ph type="ftr" idx="11"/>
          </p:nvPr>
        </p:nvSpPr>
        <p:spPr>
          <a:xfrm>
            <a:off x="3124200" y="6356350"/>
            <a:ext cx="2895600" cy="365125"/>
          </a:xfrm>
          <a:noFill/>
          <a:ln>
            <a:noFill/>
          </a:ln>
        </p:spPr>
        <p:txBody>
          <a:bodyPr spcFirstLastPara="1" wrap="square" lIns="91425" tIns="45700" rIns="91425" bIns="45700" anchor="ctr" anchorCtr="0">
            <a:noAutofit/>
          </a:bodyPr>
          <a:lstStyle/>
          <a:p>
            <a:pPr lvl="0"/>
            <a:r>
              <a:rPr lang="en-US"/>
              <a:t>DEPARTMENT OF COMPUTER SCIENCE AND ENGINEERING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521</TotalTime>
  <Words>5868</Words>
  <Application>Microsoft Office PowerPoint</Application>
  <PresentationFormat>On-screen Show (4:3)</PresentationFormat>
  <Paragraphs>659</Paragraphs>
  <Slides>36</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Cambria Math</vt:lpstr>
      <vt:lpstr>Times New Roman</vt:lpstr>
      <vt:lpstr>Office Theme</vt:lpstr>
      <vt:lpstr>SRM INSTITUTE OF SCIENCE AND TECHNOLOGY Ramapuram , Chennai – 600 089 DEPARTMENT OF COMPUTER SCIENCE AND ENGINEERING</vt:lpstr>
      <vt:lpstr>ABSTRACT</vt:lpstr>
      <vt:lpstr>Scope and Motivation</vt:lpstr>
      <vt:lpstr>Introduction</vt:lpstr>
      <vt:lpstr>PowerPoint Presentation</vt:lpstr>
      <vt:lpstr>Problem Statement</vt:lpstr>
      <vt:lpstr>Objectives</vt:lpstr>
      <vt:lpstr>Proposed Work</vt:lpstr>
      <vt:lpstr>PowerPoint Presentation</vt:lpstr>
      <vt:lpstr>PowerPoint Presentation</vt:lpstr>
      <vt:lpstr>PowerPoint Presentation</vt:lpstr>
      <vt:lpstr>PowerPoint Presentation</vt:lpstr>
      <vt:lpstr>Modules</vt:lpstr>
      <vt:lpstr>Module Description</vt:lpstr>
      <vt:lpstr>Module Description</vt:lpstr>
      <vt:lpstr>Algorithm Formulation</vt:lpstr>
      <vt:lpstr>Algorithm Formulation</vt:lpstr>
      <vt:lpstr>Implementation Details</vt:lpstr>
      <vt:lpstr>Implementation Details</vt:lpstr>
      <vt:lpstr>Results &amp; Discussion — Dataset Splits &amp; Class Balance</vt:lpstr>
      <vt:lpstr>Results &amp; Discussion — Dataset Splits &amp; Class Balance And Model Evaluation at 24-Hour Horizon</vt:lpstr>
      <vt:lpstr>Results &amp; Discussion — Dataset Splits &amp; Class Balance And Model Evaluation at 24-Hour Horizon</vt:lpstr>
      <vt:lpstr>Results &amp; Discussion — Confusion Matrix &amp; ROC/PR Curves</vt:lpstr>
      <vt:lpstr>Results &amp; Discussion — Confusion Matrix &amp; ROC/PR Curves</vt:lpstr>
      <vt:lpstr>Results &amp; Discussion — Modality Ablation Study</vt:lpstr>
      <vt:lpstr>Results &amp; Discussion — Modality Ablation Study</vt:lpstr>
      <vt:lpstr>Results &amp; Discussion — Global Feature Importance (SHAP)</vt:lpstr>
      <vt:lpstr>Results &amp; Discussion — Case Study: Live Event Prediction</vt:lpstr>
      <vt:lpstr>Results &amp; Discussion — Local XAI: Warning Factor Decomposition</vt:lpstr>
      <vt:lpstr>PowerPoint Presentation</vt:lpstr>
      <vt:lpstr>Results &amp; Discussion</vt:lpstr>
      <vt:lpstr>PowerPoint Presentation</vt:lpstr>
      <vt:lpstr>PowerPoint Presentation</vt:lpstr>
      <vt:lpstr>Conclusion</vt:lpstr>
      <vt:lpstr>Future Work</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 Chennai – 600 089 DEPARTMENT OF COMPUTER SCIENCE AND ENGINEERING</dc:title>
  <dc:creator>DELL</dc:creator>
  <cp:lastModifiedBy>JACK ROSHAN J</cp:lastModifiedBy>
  <cp:revision>13</cp:revision>
  <dcterms:created xsi:type="dcterms:W3CDTF">2023-07-26T03:49:14Z</dcterms:created>
  <dcterms:modified xsi:type="dcterms:W3CDTF">2026-10-21T06:15:39Z</dcterms:modified>
</cp:coreProperties>
</file>