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i7nK151YdIZSeRnm+3JZk4hwiQ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BC6C1E-BED5-463D-9D9D-55BB47110D15}">
  <a:tblStyle styleId="{F9BC6C1E-BED5-463D-9D9D-55BB47110D15}"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17792F72-9F60-45A1-A759-DC8DF3A647CD}"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4660"/>
  </p:normalViewPr>
  <p:slideViewPr>
    <p:cSldViewPr snapToGrid="0">
      <p:cViewPr varScale="1">
        <p:scale>
          <a:sx n="78" d="100"/>
          <a:sy n="78" d="100"/>
        </p:scale>
        <p:origin x="1915"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t>211 causal features by source</a:t>
            </a:r>
          </a:p>
        </c:rich>
      </c:tx>
      <c:overlay val="0"/>
    </c:title>
    <c:autoTitleDeleted val="0"/>
    <c:plotArea>
      <c:layout/>
      <c:barChart>
        <c:barDir val="bar"/>
        <c:grouping val="clustered"/>
        <c:varyColors val="1"/>
        <c:ser>
          <c:idx val="0"/>
          <c:order val="0"/>
          <c:tx>
            <c:strRef>
              <c:f>Sheet1!$B$1</c:f>
              <c:strCache>
                <c:ptCount val="1"/>
                <c:pt idx="0">
                  <c:v>Features</c:v>
                </c:pt>
              </c:strCache>
            </c:strRef>
          </c:tx>
          <c:spPr>
            <a:solidFill>
              <a:srgbClr val="1F3864"/>
            </a:solidFill>
          </c:spPr>
          <c:invertIfNegative val="1"/>
          <c:dLbls>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Water</c:v>
                </c:pt>
                <c:pt idx="1">
                  <c:v>Weather</c:v>
                </c:pt>
                <c:pt idx="2">
                  <c:v>Air</c:v>
                </c:pt>
                <c:pt idx="3">
                  <c:v>Time</c:v>
                </c:pt>
                <c:pt idx="4">
                  <c:v>Station</c:v>
                </c:pt>
              </c:strCache>
            </c:strRef>
          </c:cat>
          <c:val>
            <c:numRef>
              <c:f>Sheet1!$B$2:$B$6</c:f>
              <c:numCache>
                <c:formatCode>General</c:formatCode>
                <c:ptCount val="5"/>
                <c:pt idx="0">
                  <c:v>148</c:v>
                </c:pt>
                <c:pt idx="1">
                  <c:v>39</c:v>
                </c:pt>
                <c:pt idx="2">
                  <c:v>16</c:v>
                </c:pt>
                <c:pt idx="3">
                  <c:v>5</c:v>
                </c:pt>
                <c:pt idx="4">
                  <c:v>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9F5-4900-B6C3-8422C5DE29AC}"/>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sz="4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just">
              <a:spcBef>
                <a:spcPts val="360"/>
              </a:spcBef>
              <a:spcAft>
                <a:spcPts val="0"/>
              </a:spcAft>
              <a:buClr>
                <a:schemeClr val="dk1"/>
              </a:buClr>
              <a:buSzPts val="1800"/>
              <a:buChar char="•"/>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24" name="Google Shape;24;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1792288" y="612775"/>
            <a:ext cx="5486400" cy="4114800"/>
          </a:xfrm>
          <a:prstGeom prst="rect">
            <a:avLst/>
          </a:prstGeom>
          <a:noFill/>
          <a:ln>
            <a:noFill/>
          </a:ln>
        </p:spPr>
      </p:sp>
      <p:sp>
        <p:nvSpPr>
          <p:cNvPr id="68" name="Google Shape;68;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047600" y="469900"/>
            <a:ext cx="6563100" cy="133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800"/>
              <a:buFont typeface="Times New Roman"/>
              <a:buNone/>
            </a:pPr>
            <a:r>
              <a:rPr lang="en-US" sz="1800" b="1">
                <a:latin typeface="Times New Roman"/>
                <a:ea typeface="Times New Roman"/>
                <a:cs typeface="Times New Roman"/>
                <a:sym typeface="Times New Roman"/>
              </a:rPr>
              <a:t>SRM INSTITUTE OF SCIENCE AND TECHNOLOGY</a:t>
            </a:r>
            <a:br>
              <a:rPr lang="en-US" sz="1800" b="1">
                <a:latin typeface="Times New Roman"/>
                <a:ea typeface="Times New Roman"/>
                <a:cs typeface="Times New Roman"/>
                <a:sym typeface="Times New Roman"/>
              </a:rPr>
            </a:br>
            <a:r>
              <a:rPr lang="en-US" sz="1800" b="1">
                <a:latin typeface="Times New Roman"/>
                <a:ea typeface="Times New Roman"/>
                <a:cs typeface="Times New Roman"/>
                <a:sym typeface="Times New Roman"/>
              </a:rPr>
              <a:t>Ramapuram , Chennai – 600 089</a:t>
            </a:r>
            <a:br>
              <a:rPr lang="en-US" sz="18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DEPARTMENT OF COMPUTER SCIENCE AND ENGINEERING</a:t>
            </a:r>
            <a:endParaRPr lang="en-US" sz="1800"/>
          </a:p>
        </p:txBody>
      </p:sp>
      <p:sp>
        <p:nvSpPr>
          <p:cNvPr id="89" name="Google Shape;89;p1"/>
          <p:cNvSpPr txBox="1">
            <a:spLocks noGrp="1"/>
          </p:cNvSpPr>
          <p:nvPr>
            <p:ph type="subTitle" idx="1"/>
          </p:nvPr>
        </p:nvSpPr>
        <p:spPr>
          <a:xfrm>
            <a:off x="609600" y="1800225"/>
            <a:ext cx="8077200" cy="12477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2400"/>
              <a:buNone/>
            </a:pPr>
            <a:r>
              <a:rPr lang="en-US" sz="2400">
                <a:solidFill>
                  <a:schemeClr val="dk1"/>
                </a:solidFill>
                <a:latin typeface="Times New Roman"/>
                <a:ea typeface="Times New Roman"/>
                <a:cs typeface="Times New Roman"/>
                <a:sym typeface="Times New Roman"/>
              </a:rPr>
              <a:t>21CSC305P/ MACHINE LEARNING</a:t>
            </a:r>
          </a:p>
          <a:p>
            <a:pPr marL="0" lvl="0" indent="0">
              <a:buClr>
                <a:schemeClr val="dk1"/>
              </a:buClr>
            </a:pPr>
            <a:r>
              <a:rPr lang="en-US" sz="2000">
                <a:solidFill>
                  <a:schemeClr val="dk1"/>
                </a:solidFill>
                <a:latin typeface="Times New Roman"/>
                <a:ea typeface="Times New Roman"/>
                <a:cs typeface="Times New Roman"/>
                <a:sym typeface="Times New Roman"/>
              </a:rPr>
              <a:t>Multimodal Machine Learning Framework for Early Warning of Dissolved-Oxygen Deterioration in Rivers</a:t>
            </a:r>
            <a:endParaRPr lang="en-US" sz="2000">
              <a:latin typeface="Times New Roman"/>
              <a:ea typeface="Times New Roman"/>
              <a:cs typeface="Times New Roman"/>
              <a:sym typeface="Times New Roman"/>
            </a:endParaRPr>
          </a:p>
          <a:p>
            <a:pPr marL="0" lvl="0" indent="0" algn="ctr" rtl="0">
              <a:spcBef>
                <a:spcPts val="640"/>
              </a:spcBef>
              <a:spcAft>
                <a:spcPts val="0"/>
              </a:spcAft>
              <a:buClr>
                <a:srgbClr val="888888"/>
              </a:buClr>
              <a:buSzPts val="3200"/>
              <a:buNone/>
            </a:pPr>
            <a:endParaRPr lang="en-US" dirty="0">
              <a:solidFill>
                <a:schemeClr val="dk1"/>
              </a:solidFill>
            </a:endParaRPr>
          </a:p>
        </p:txBody>
      </p:sp>
      <p:sp>
        <p:nvSpPr>
          <p:cNvPr id="90" name="Google Shape;90;p1"/>
          <p:cNvSpPr txBox="1"/>
          <p:nvPr/>
        </p:nvSpPr>
        <p:spPr>
          <a:xfrm>
            <a:off x="1633728" y="3276600"/>
            <a:ext cx="6400800" cy="8382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3200"/>
              <a:buFont typeface="Arial"/>
              <a:buNone/>
            </a:pPr>
            <a:r>
              <a:rPr lang="en-US" sz="3200" i="0" u="none" strike="noStrike" cap="none" dirty="0">
                <a:solidFill>
                  <a:schemeClr val="dk1"/>
                </a:solidFill>
                <a:latin typeface="Times New Roman"/>
                <a:ea typeface="Times New Roman"/>
                <a:cs typeface="Times New Roman"/>
                <a:sym typeface="Times New Roman"/>
              </a:rPr>
              <a:t>BATCH NUMBER : 15</a:t>
            </a:r>
            <a:endParaRPr dirty="0">
              <a:latin typeface="Times New Roman"/>
              <a:ea typeface="Times New Roman"/>
              <a:cs typeface="Times New Roman"/>
              <a:sym typeface="Times New Roman"/>
            </a:endParaRPr>
          </a:p>
        </p:txBody>
      </p:sp>
      <p:graphicFrame>
        <p:nvGraphicFramePr>
          <p:cNvPr id="91" name="Google Shape;91;p1"/>
          <p:cNvGraphicFramePr/>
          <p:nvPr>
            <p:extLst>
              <p:ext uri="{D42A27DB-BD31-4B8C-83A1-F6EECF244321}">
                <p14:modId xmlns:p14="http://schemas.microsoft.com/office/powerpoint/2010/main" val="2209475637"/>
              </p:ext>
            </p:extLst>
          </p:nvPr>
        </p:nvGraphicFramePr>
        <p:xfrm>
          <a:off x="304800" y="4114800"/>
          <a:ext cx="8305800" cy="2133600"/>
        </p:xfrm>
        <a:graphic>
          <a:graphicData uri="http://schemas.openxmlformats.org/drawingml/2006/table">
            <a:tbl>
              <a:tblPr firstRow="1" bandRow="1">
                <a:noFill/>
                <a:tableStyleId>{F9BC6C1E-BED5-463D-9D9D-55BB47110D15}</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83750">
                <a:tc>
                  <a:txBody>
                    <a:bodyPr/>
                    <a:lstStyle/>
                    <a:p>
                      <a:pPr marL="0" marR="0" lvl="0" indent="0" algn="l" rtl="0">
                        <a:spcBef>
                          <a:spcPts val="0"/>
                        </a:spcBef>
                        <a:spcAft>
                          <a:spcPts val="0"/>
                        </a:spcAft>
                        <a:buNone/>
                      </a:pPr>
                      <a:r>
                        <a:rPr lang="en-US" sz="1800" u="none" strike="noStrike" cap="none"/>
                        <a:t>Team Members </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Supervisor</a:t>
                      </a:r>
                      <a:endParaRPr/>
                    </a:p>
                  </a:txBody>
                  <a:tcPr marL="91450" marR="91450" marT="45725" marB="45725"/>
                </a:tc>
                <a:extLst>
                  <a:ext uri="{0D108BD9-81ED-4DB2-BD59-A6C34878D82A}">
                    <a16:rowId xmlns:a16="http://schemas.microsoft.com/office/drawing/2014/main" val="10000"/>
                  </a:ext>
                </a:extLst>
              </a:tr>
              <a:tr h="1749850">
                <a:tc>
                  <a:txBody>
                    <a:bodyPr/>
                    <a:lstStyle/>
                    <a:p>
                      <a:pPr marL="0" marR="0" lvl="0" indent="0" algn="l" rtl="0">
                        <a:spcBef>
                          <a:spcPts val="0"/>
                        </a:spcBef>
                        <a:spcAft>
                          <a:spcPts val="0"/>
                        </a:spcAft>
                        <a:buNone/>
                      </a:pPr>
                      <a:r>
                        <a:rPr lang="en-US" sz="1800" dirty="0" err="1"/>
                        <a:t>Jackroshan</a:t>
                      </a:r>
                      <a:r>
                        <a:rPr lang="en-US" sz="1800" dirty="0"/>
                        <a:t> J    – RA2411003020031</a:t>
                      </a:r>
                    </a:p>
                    <a:p>
                      <a:pPr marL="0" marR="0" lvl="0" indent="0" algn="l" rtl="0">
                        <a:spcBef>
                          <a:spcPts val="0"/>
                        </a:spcBef>
                        <a:spcAft>
                          <a:spcPts val="0"/>
                        </a:spcAft>
                        <a:buNone/>
                      </a:pPr>
                      <a:r>
                        <a:rPr lang="en-US" sz="1800" dirty="0"/>
                        <a:t>Yagnesh C        – RA2411003020036</a:t>
                      </a:r>
                    </a:p>
                    <a:p>
                      <a:pPr marL="0" marR="0" lvl="0" indent="0" algn="l" rtl="0">
                        <a:spcBef>
                          <a:spcPts val="0"/>
                        </a:spcBef>
                        <a:spcAft>
                          <a:spcPts val="0"/>
                        </a:spcAft>
                        <a:buNone/>
                      </a:pPr>
                      <a:r>
                        <a:rPr lang="en-US" sz="1800" dirty="0" err="1"/>
                        <a:t>Kirithikji</a:t>
                      </a:r>
                      <a:r>
                        <a:rPr lang="en-US" sz="1800" dirty="0"/>
                        <a:t>           – RA2411003020044</a:t>
                      </a:r>
                      <a:endParaRPr sz="1800"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a:t>Dr. Sahaya </a:t>
                      </a:r>
                      <a:r>
                        <a:rPr lang="en-US" sz="1800" dirty="0" err="1"/>
                        <a:t>Sakila.V</a:t>
                      </a:r>
                      <a:r>
                        <a:rPr lang="en-US" sz="1800" dirty="0"/>
                        <a:t>, ME., Ph.D.</a:t>
                      </a:r>
                    </a:p>
                    <a:p>
                      <a:pPr marL="0" marR="0" lvl="0" indent="0" algn="l" rtl="0">
                        <a:lnSpc>
                          <a:spcPct val="100000"/>
                        </a:lnSpc>
                        <a:spcBef>
                          <a:spcPts val="0"/>
                        </a:spcBef>
                        <a:spcAft>
                          <a:spcPts val="0"/>
                        </a:spcAft>
                        <a:buClr>
                          <a:schemeClr val="dk1"/>
                        </a:buClr>
                        <a:buSzPts val="1800"/>
                        <a:buFont typeface="Calibri"/>
                        <a:buNone/>
                      </a:pPr>
                      <a:r>
                        <a:rPr lang="en-US" sz="1800" dirty="0"/>
                        <a:t>           Assistant Professor</a:t>
                      </a:r>
                      <a:endParaRPr dirty="0"/>
                    </a:p>
                  </a:txBody>
                  <a:tcPr marL="91450" marR="91450" marT="45725" marB="45725"/>
                </a:tc>
                <a:extLst>
                  <a:ext uri="{0D108BD9-81ED-4DB2-BD59-A6C34878D82A}">
                    <a16:rowId xmlns:a16="http://schemas.microsoft.com/office/drawing/2014/main" val="10001"/>
                  </a:ext>
                </a:extLst>
              </a:tr>
            </a:tbl>
          </a:graphicData>
        </a:graphic>
      </p:graphicFrame>
      <p:pic>
        <p:nvPicPr>
          <p:cNvPr id="93" name="Google Shape;93;p1"/>
          <p:cNvPicPr preferRelativeResize="0"/>
          <p:nvPr/>
        </p:nvPicPr>
        <p:blipFill>
          <a:blip r:embed="rId3">
            <a:alphaModFix/>
          </a:blip>
          <a:stretch>
            <a:fillRect/>
          </a:stretch>
        </p:blipFill>
        <p:spPr>
          <a:xfrm>
            <a:off x="304800" y="177250"/>
            <a:ext cx="1742800" cy="1622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ABSTRACT</a:t>
            </a:r>
          </a:p>
        </p:txBody>
      </p:sp>
      <p:sp>
        <p:nvSpPr>
          <p:cNvPr id="3" name="Text Placeholder 2"/>
          <p:cNvSpPr>
            <a:spLocks noGrp="1"/>
          </p:cNvSpPr>
          <p:nvPr>
            <p:ph type="body" idx="1"/>
          </p:nvPr>
        </p:nvSpPr>
        <p:spPr>
          <a:xfrm>
            <a:off x="457200" y="1325880"/>
            <a:ext cx="8229600" cy="4937759"/>
          </a:xfrm>
        </p:spPr>
        <p:txBody>
          <a:bodyPr wrap="square"/>
          <a:lstStyle/>
          <a:p>
            <a:pPr marL="0" indent="0" algn="just">
              <a:spcAft>
                <a:spcPts val="800"/>
              </a:spcAft>
              <a:buNone/>
            </a:pPr>
            <a:r>
              <a:rPr sz="1400"/>
              <a:t>Dissolved oxygen (DO) below 5 mg/L causes hypoxic stress and fish kills in rivers, yet conventional monitoring flags low DO only after it has occurred. This work presents a multimodal stacking-ensemble framework that forecasts DO 6, 12, 24 and 48 h ahead and issues early warnings of Low-DO conditions.</a:t>
            </a:r>
          </a:p>
          <a:p>
            <a:pPr marL="0" indent="0" algn="just">
              <a:spcAft>
                <a:spcPts val="800"/>
              </a:spcAft>
              <a:buNone/>
            </a:pPr>
            <a:r>
              <a:rPr sz="1400"/>
              <a:t>Hourly sensor data from 30 USGS stations in 15 US states (2023–2025, 789,120 station-hours) are fused with ERA5 weather and CAMS air quality to build 211 strictly causal features. Each forecast has two outputs: the DO value in mg/L (regression) and a water class, Low (&lt; 5), Medium (5–7) or Good (&gt; 7 mg/L) (three-class classification).</a:t>
            </a:r>
          </a:p>
          <a:p>
            <a:pPr marL="0" indent="0" algn="just">
              <a:spcAft>
                <a:spcPts val="800"/>
              </a:spcAft>
              <a:buNone/>
            </a:pPr>
            <a:r>
              <a:rPr sz="1400"/>
              <a:t>Five base models (Random Forest, XGBoost, LightGBM, BiLSTM, CNN-LSTM) are combined by a stacking meta-learner and a probability-threshold warning rule. Models are trained on 2023, tuned on 2024 and evaluated once on the unseen 2025 year.</a:t>
            </a:r>
          </a:p>
          <a:p>
            <a:pPr marL="0" indent="0" algn="just">
              <a:spcAft>
                <a:spcPts val="800"/>
              </a:spcAft>
              <a:buNone/>
            </a:pPr>
            <a:r>
              <a:rPr sz="1400"/>
              <a:t>The ensemble gives the lowest DO error at every horizon (24 h: RMSE 0.672 mg/L, R² 0.951) and classifies water condition with 90.4% accuracy and 0.886 macro F1 at 24 h, with 94.1% recall on Low-DO hours. Ablation shows weather and air quality add small gains over water sensors alone.</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2</a:t>
            </a:fld>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Scope and Motivation</a:t>
            </a:r>
          </a:p>
        </p:txBody>
      </p:sp>
      <p:sp>
        <p:nvSpPr>
          <p:cNvPr id="3" name="Text Placeholder 2"/>
          <p:cNvSpPr>
            <a:spLocks noGrp="1"/>
          </p:cNvSpPr>
          <p:nvPr>
            <p:ph type="body" idx="1"/>
          </p:nvPr>
        </p:nvSpPr>
        <p:spPr>
          <a:xfrm>
            <a:off x="457200" y="1325880"/>
            <a:ext cx="8229600" cy="4937759"/>
          </a:xfrm>
        </p:spPr>
        <p:txBody>
          <a:bodyPr wrap="square"/>
          <a:lstStyle/>
          <a:p>
            <a:pPr marL="0" indent="0" algn="l">
              <a:spcAft>
                <a:spcPts val="500"/>
              </a:spcAft>
              <a:buNone/>
            </a:pPr>
            <a:r>
              <a:rPr sz="1600" b="1">
                <a:solidFill>
                  <a:srgbClr val="1F3864"/>
                </a:solidFill>
              </a:rPr>
              <a:t>Motivation</a:t>
            </a:r>
          </a:p>
          <a:p>
            <a:pPr algn="l">
              <a:spcAft>
                <a:spcPts val="500"/>
              </a:spcAft>
            </a:pPr>
            <a:r>
              <a:rPr sz="1500" b="1"/>
              <a:t>Ecological risk: </a:t>
            </a:r>
            <a:r>
              <a:rPr sz="1500"/>
              <a:t>DO below 5 mg/L stresses fish and aquatic life; prolonged hypoxia leads to fish kills and poorer drinking-water sources.</a:t>
            </a:r>
          </a:p>
          <a:p>
            <a:pPr algn="l">
              <a:spcAft>
                <a:spcPts val="500"/>
              </a:spcAft>
            </a:pPr>
            <a:r>
              <a:rPr sz="1500" b="1"/>
              <a:t>Reactive monitoring: </a:t>
            </a:r>
            <a:r>
              <a:rPr sz="1500"/>
              <a:t>sensor alarms fire only after DO has already fallen, leaving no time for aeration, flow release or discharge control.</a:t>
            </a:r>
          </a:p>
          <a:p>
            <a:pPr algn="l">
              <a:spcAft>
                <a:spcPts val="500"/>
              </a:spcAft>
            </a:pPr>
            <a:r>
              <a:rPr sz="1500" b="1"/>
              <a:t>Research gap: </a:t>
            </a:r>
            <a:r>
              <a:rPr sz="1500"/>
              <a:t>most studies train one regression model on one site, often with random or block splits that leak future data.</a:t>
            </a:r>
          </a:p>
          <a:p>
            <a:pPr marL="0" indent="0" algn="l">
              <a:spcAft>
                <a:spcPts val="500"/>
              </a:spcAft>
              <a:buNone/>
            </a:pPr>
            <a:r>
              <a:rPr sz="1600" b="1">
                <a:solidFill>
                  <a:srgbClr val="1F3864"/>
                </a:solidFill>
              </a:rPr>
              <a:t>Project scope</a:t>
            </a:r>
          </a:p>
          <a:p>
            <a:pPr algn="l">
              <a:spcAft>
                <a:spcPts val="500"/>
              </a:spcAft>
            </a:pPr>
            <a:r>
              <a:rPr sz="1500" b="1"/>
              <a:t>Coverage: </a:t>
            </a:r>
            <a:r>
              <a:rPr sz="1500"/>
              <a:t>30 USGS continuous-monitoring stations in 15 US states, hourly, 2023–2025.</a:t>
            </a:r>
          </a:p>
          <a:p>
            <a:pPr algn="l">
              <a:spcAft>
                <a:spcPts val="500"/>
              </a:spcAft>
            </a:pPr>
            <a:r>
              <a:rPr sz="1500" b="1"/>
              <a:t>Outputs: </a:t>
            </a:r>
            <a:r>
              <a:rPr sz="1500"/>
              <a:t>DO in mg/L and a Low / Medium / Good class, at 6, 12, 24 and 48 h ahead.</a:t>
            </a:r>
          </a:p>
          <a:p>
            <a:pPr algn="l">
              <a:spcAft>
                <a:spcPts val="500"/>
              </a:spcAft>
            </a:pPr>
            <a:r>
              <a:rPr sz="1500" b="1"/>
              <a:t>Modalities: </a:t>
            </a:r>
            <a:r>
              <a:rPr sz="1500"/>
              <a:t>in-situ water sensors, ERA5 weather, CAMS air quality.</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3</a:t>
            </a:fld>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Introduction</a:t>
            </a:r>
          </a:p>
        </p:txBody>
      </p:sp>
      <p:sp>
        <p:nvSpPr>
          <p:cNvPr id="3" name="Text Placeholder 2"/>
          <p:cNvSpPr>
            <a:spLocks noGrp="1"/>
          </p:cNvSpPr>
          <p:nvPr>
            <p:ph type="body" idx="1"/>
          </p:nvPr>
        </p:nvSpPr>
        <p:spPr>
          <a:xfrm>
            <a:off x="457200" y="1417320"/>
            <a:ext cx="8229600" cy="4846320"/>
          </a:xfrm>
        </p:spPr>
        <p:txBody>
          <a:bodyPr wrap="square"/>
          <a:lstStyle/>
          <a:p>
            <a:pPr algn="l">
              <a:spcAft>
                <a:spcPts val="1000"/>
              </a:spcAft>
            </a:pPr>
            <a:r>
              <a:rPr sz="1600" b="1"/>
              <a:t>DO dynamics: </a:t>
            </a:r>
            <a:r>
              <a:rPr sz="1600"/>
              <a:t>governed by water temperature, the photosynthesis–respiration daily cycle, reaeration and organic load; strongly non-linear and seasonal.</a:t>
            </a:r>
          </a:p>
          <a:p>
            <a:pPr algn="l">
              <a:spcAft>
                <a:spcPts val="1000"/>
              </a:spcAft>
            </a:pPr>
            <a:r>
              <a:rPr sz="1600" b="1"/>
              <a:t>Dual forecasting task: </a:t>
            </a:r>
            <a:r>
              <a:rPr sz="1600"/>
              <a:t>regression of the DO value (for operators) and three-class classification of water condition (for alerts) from one shared feature set.</a:t>
            </a:r>
          </a:p>
          <a:p>
            <a:pPr algn="l">
              <a:spcAft>
                <a:spcPts val="1000"/>
              </a:spcAft>
            </a:pPr>
            <a:r>
              <a:rPr sz="1600" b="1"/>
              <a:t>Hybrid model family: </a:t>
            </a:r>
            <a:r>
              <a:rPr sz="1600"/>
              <a:t>tree ensembles (RF, XGBoost, LightGBM) capture feature interactions; deep sequence models (BiLSTM, CNN-LSTM) learn 72-hour temporal patterns.</a:t>
            </a:r>
          </a:p>
          <a:p>
            <a:pPr algn="l">
              <a:spcAft>
                <a:spcPts val="1000"/>
              </a:spcAft>
            </a:pPr>
            <a:r>
              <a:rPr sz="1600" b="1"/>
              <a:t>Stacking: </a:t>
            </a:r>
            <a:r>
              <a:rPr sz="1600"/>
              <a:t>a meta-learner learns how much to trust each base model, using out-of-fold predictions only.</a:t>
            </a:r>
          </a:p>
          <a:p>
            <a:pPr algn="l">
              <a:spcAft>
                <a:spcPts val="1000"/>
              </a:spcAft>
            </a:pPr>
            <a:r>
              <a:rPr sz="1600" b="1"/>
              <a:t>Early warning: </a:t>
            </a:r>
            <a:r>
              <a:rPr sz="1600"/>
              <a:t>a frozen threshold on P(Low) turns class probabilities into an actionable yes / no alert.</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4</a:t>
            </a:fld>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Literature Survey</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5</a:t>
            </a:fld>
            <a:endParaRPr lang="en-US" sz="1000"/>
          </a:p>
        </p:txBody>
      </p:sp>
      <p:graphicFrame>
        <p:nvGraphicFramePr>
          <p:cNvPr id="5" name="Table 4"/>
          <p:cNvGraphicFramePr>
            <a:graphicFrameLocks noGrp="1"/>
          </p:cNvGraphicFramePr>
          <p:nvPr>
            <p:extLst>
              <p:ext uri="{D42A27DB-BD31-4B8C-83A1-F6EECF244321}">
                <p14:modId xmlns:p14="http://schemas.microsoft.com/office/powerpoint/2010/main" val="1109019754"/>
              </p:ext>
            </p:extLst>
          </p:nvPr>
        </p:nvGraphicFramePr>
        <p:xfrm>
          <a:off x="274320" y="1188720"/>
          <a:ext cx="8595356" cy="4727448"/>
        </p:xfrm>
        <a:graphic>
          <a:graphicData uri="http://schemas.openxmlformats.org/drawingml/2006/table">
            <a:tbl>
              <a:tblPr>
                <a:tableStyleId>{5940675A-B579-460E-94D1-54222C63F5DA}</a:tableStyleId>
              </a:tblPr>
              <a:tblGrid>
                <a:gridCol w="293023">
                  <a:extLst>
                    <a:ext uri="{9D8B030D-6E8A-4147-A177-3AD203B41FA5}">
                      <a16:colId xmlns:a16="http://schemas.microsoft.com/office/drawing/2014/main" val="20000"/>
                    </a:ext>
                  </a:extLst>
                </a:gridCol>
                <a:gridCol w="1465118">
                  <a:extLst>
                    <a:ext uri="{9D8B030D-6E8A-4147-A177-3AD203B41FA5}">
                      <a16:colId xmlns:a16="http://schemas.microsoft.com/office/drawing/2014/main" val="20001"/>
                    </a:ext>
                  </a:extLst>
                </a:gridCol>
                <a:gridCol w="488372">
                  <a:extLst>
                    <a:ext uri="{9D8B030D-6E8A-4147-A177-3AD203B41FA5}">
                      <a16:colId xmlns:a16="http://schemas.microsoft.com/office/drawing/2014/main" val="20002"/>
                    </a:ext>
                  </a:extLst>
                </a:gridCol>
                <a:gridCol w="1953490">
                  <a:extLst>
                    <a:ext uri="{9D8B030D-6E8A-4147-A177-3AD203B41FA5}">
                      <a16:colId xmlns:a16="http://schemas.microsoft.com/office/drawing/2014/main" val="20003"/>
                    </a:ext>
                  </a:extLst>
                </a:gridCol>
                <a:gridCol w="1562792">
                  <a:extLst>
                    <a:ext uri="{9D8B030D-6E8A-4147-A177-3AD203B41FA5}">
                      <a16:colId xmlns:a16="http://schemas.microsoft.com/office/drawing/2014/main" val="20004"/>
                    </a:ext>
                  </a:extLst>
                </a:gridCol>
                <a:gridCol w="2832561">
                  <a:extLst>
                    <a:ext uri="{9D8B030D-6E8A-4147-A177-3AD203B41FA5}">
                      <a16:colId xmlns:a16="http://schemas.microsoft.com/office/drawing/2014/main" val="20005"/>
                    </a:ext>
                  </a:extLst>
                </a:gridCol>
              </a:tblGrid>
              <a:tr h="429768">
                <a:tc>
                  <a:txBody>
                    <a:bodyPr/>
                    <a:lstStyle/>
                    <a:p>
                      <a:pPr algn="ctr"/>
                      <a:r>
                        <a:rPr sz="900" b="1">
                          <a:solidFill>
                            <a:srgbClr val="FFFFFF"/>
                          </a:solidFill>
                        </a:rPr>
                        <a:t>#</a:t>
                      </a:r>
                    </a:p>
                  </a:txBody>
                  <a:tcPr marL="45720" marR="45720" marT="18288" marB="18288" anchor="ctr">
                    <a:solidFill>
                      <a:srgbClr val="1F3864"/>
                    </a:solidFill>
                  </a:tcPr>
                </a:tc>
                <a:tc>
                  <a:txBody>
                    <a:bodyPr/>
                    <a:lstStyle/>
                    <a:p>
                      <a:pPr algn="ctr"/>
                      <a:r>
                        <a:rPr sz="900" b="1">
                          <a:solidFill>
                            <a:srgbClr val="FFFFFF"/>
                          </a:solidFill>
                        </a:rPr>
                        <a:t>Paper / Author</a:t>
                      </a:r>
                    </a:p>
                  </a:txBody>
                  <a:tcPr marL="45720" marR="45720" marT="18288" marB="18288" anchor="ctr">
                    <a:solidFill>
                      <a:srgbClr val="1F3864"/>
                    </a:solidFill>
                  </a:tcPr>
                </a:tc>
                <a:tc>
                  <a:txBody>
                    <a:bodyPr/>
                    <a:lstStyle/>
                    <a:p>
                      <a:pPr algn="ctr"/>
                      <a:r>
                        <a:rPr sz="900" b="1">
                          <a:solidFill>
                            <a:srgbClr val="FFFFFF"/>
                          </a:solidFill>
                        </a:rPr>
                        <a:t>Year</a:t>
                      </a:r>
                    </a:p>
                  </a:txBody>
                  <a:tcPr marL="45720" marR="45720" marT="18288" marB="18288" anchor="ctr">
                    <a:solidFill>
                      <a:srgbClr val="1F3864"/>
                    </a:solidFill>
                  </a:tcPr>
                </a:tc>
                <a:tc>
                  <a:txBody>
                    <a:bodyPr/>
                    <a:lstStyle/>
                    <a:p>
                      <a:pPr algn="ctr"/>
                      <a:r>
                        <a:rPr sz="900" b="1">
                          <a:solidFill>
                            <a:srgbClr val="FFFFFF"/>
                          </a:solidFill>
                        </a:rPr>
                        <a:t>Methodology</a:t>
                      </a:r>
                    </a:p>
                  </a:txBody>
                  <a:tcPr marL="45720" marR="45720" marT="18288" marB="18288" anchor="ctr">
                    <a:solidFill>
                      <a:srgbClr val="1F3864"/>
                    </a:solidFill>
                  </a:tcPr>
                </a:tc>
                <a:tc>
                  <a:txBody>
                    <a:bodyPr/>
                    <a:lstStyle/>
                    <a:p>
                      <a:pPr algn="ctr"/>
                      <a:r>
                        <a:rPr sz="900" b="1">
                          <a:solidFill>
                            <a:srgbClr val="FFFFFF"/>
                          </a:solidFill>
                        </a:rPr>
                        <a:t>Evaluation Metrics</a:t>
                      </a:r>
                    </a:p>
                  </a:txBody>
                  <a:tcPr marL="45720" marR="45720" marT="18288" marB="18288" anchor="ctr">
                    <a:solidFill>
                      <a:srgbClr val="1F3864"/>
                    </a:solidFill>
                  </a:tcPr>
                </a:tc>
                <a:tc>
                  <a:txBody>
                    <a:bodyPr/>
                    <a:lstStyle/>
                    <a:p>
                      <a:pPr algn="ctr"/>
                      <a:r>
                        <a:rPr sz="900" b="1">
                          <a:solidFill>
                            <a:srgbClr val="FFFFFF"/>
                          </a:solidFill>
                        </a:rPr>
                        <a:t>Key Remarks &amp; Limitations</a:t>
                      </a:r>
                    </a:p>
                  </a:txBody>
                  <a:tcPr marL="45720" marR="45720" marT="18288" marB="18288" anchor="ctr">
                    <a:solidFill>
                      <a:srgbClr val="1F3864"/>
                    </a:solidFill>
                  </a:tcPr>
                </a:tc>
                <a:extLst>
                  <a:ext uri="{0D108BD9-81ED-4DB2-BD59-A6C34878D82A}">
                    <a16:rowId xmlns:a16="http://schemas.microsoft.com/office/drawing/2014/main" val="10000"/>
                  </a:ext>
                </a:extLst>
              </a:tr>
              <a:tr h="429768">
                <a:tc>
                  <a:txBody>
                    <a:bodyPr/>
                    <a:lstStyle/>
                    <a:p>
                      <a:pPr algn="ctr"/>
                      <a:r>
                        <a:rPr sz="900"/>
                        <a:t>1</a:t>
                      </a:r>
                    </a:p>
                  </a:txBody>
                  <a:tcPr marL="45720" marR="45720" marT="18288" marB="18288" anchor="ctr">
                    <a:solidFill>
                      <a:srgbClr val="FFFFFF"/>
                    </a:solidFill>
                  </a:tcPr>
                </a:tc>
                <a:tc>
                  <a:txBody>
                    <a:bodyPr/>
                    <a:lstStyle/>
                    <a:p>
                      <a:pPr algn="ctr"/>
                      <a:r>
                        <a:rPr sz="900"/>
                        <a:t>Moon et al. (Water)</a:t>
                      </a:r>
                    </a:p>
                  </a:txBody>
                  <a:tcPr marL="45720" marR="45720" marT="18288" marB="18288" anchor="ctr">
                    <a:solidFill>
                      <a:srgbClr val="FFFFFF"/>
                    </a:solidFill>
                  </a:tcPr>
                </a:tc>
                <a:tc>
                  <a:txBody>
                    <a:bodyPr/>
                    <a:lstStyle/>
                    <a:p>
                      <a:pPr algn="ctr"/>
                      <a:r>
                        <a:rPr sz="900"/>
                        <a:t>2022</a:t>
                      </a:r>
                    </a:p>
                  </a:txBody>
                  <a:tcPr marL="45720" marR="45720" marT="18288" marB="18288" anchor="ctr">
                    <a:solidFill>
                      <a:srgbClr val="FFFFFF"/>
                    </a:solidFill>
                  </a:tcPr>
                </a:tc>
                <a:tc>
                  <a:txBody>
                    <a:bodyPr/>
                    <a:lstStyle/>
                    <a:p>
                      <a:pPr algn="ctr"/>
                      <a:r>
                        <a:rPr sz="900"/>
                        <a:t>RF, Gradient Boosting, AdaBoost regressors</a:t>
                      </a:r>
                    </a:p>
                  </a:txBody>
                  <a:tcPr marL="45720" marR="45720" marT="18288" marB="18288" anchor="ctr">
                    <a:solidFill>
                      <a:srgbClr val="FFFFFF"/>
                    </a:solidFill>
                  </a:tcPr>
                </a:tc>
                <a:tc>
                  <a:txBody>
                    <a:bodyPr/>
                    <a:lstStyle/>
                    <a:p>
                      <a:pPr algn="ctr"/>
                      <a:r>
                        <a:rPr sz="900"/>
                        <a:t>R², RMSE, MAE, CV(RMSE)</a:t>
                      </a:r>
                    </a:p>
                  </a:txBody>
                  <a:tcPr marL="45720" marR="45720" marT="18288" marB="18288" anchor="ctr">
                    <a:solidFill>
                      <a:srgbClr val="FFFFFF"/>
                    </a:solidFill>
                  </a:tcPr>
                </a:tc>
                <a:tc>
                  <a:txBody>
                    <a:bodyPr/>
                    <a:lstStyle/>
                    <a:p>
                      <a:pPr algn="ctr"/>
                      <a:r>
                        <a:rPr sz="900"/>
                        <a:t>AdaBoost performed best; static estimation with no future forecast horizon.</a:t>
                      </a:r>
                    </a:p>
                  </a:txBody>
                  <a:tcPr marL="45720" marR="45720" marT="18288" marB="18288" anchor="ctr">
                    <a:solidFill>
                      <a:srgbClr val="FFFFFF"/>
                    </a:solidFill>
                  </a:tcPr>
                </a:tc>
                <a:extLst>
                  <a:ext uri="{0D108BD9-81ED-4DB2-BD59-A6C34878D82A}">
                    <a16:rowId xmlns:a16="http://schemas.microsoft.com/office/drawing/2014/main" val="10001"/>
                  </a:ext>
                </a:extLst>
              </a:tr>
              <a:tr h="429768">
                <a:tc>
                  <a:txBody>
                    <a:bodyPr/>
                    <a:lstStyle/>
                    <a:p>
                      <a:pPr algn="ctr"/>
                      <a:r>
                        <a:rPr sz="900"/>
                        <a:t>2</a:t>
                      </a:r>
                    </a:p>
                  </a:txBody>
                  <a:tcPr marL="45720" marR="45720" marT="18288" marB="18288" anchor="ctr">
                    <a:solidFill>
                      <a:srgbClr val="F2F4F8"/>
                    </a:solidFill>
                  </a:tcPr>
                </a:tc>
                <a:tc>
                  <a:txBody>
                    <a:bodyPr/>
                    <a:lstStyle/>
                    <a:p>
                      <a:pPr algn="ctr"/>
                      <a:r>
                        <a:rPr sz="900"/>
                        <a:t>Rocha et al. (Environments)</a:t>
                      </a:r>
                    </a:p>
                  </a:txBody>
                  <a:tcPr marL="45720" marR="45720" marT="18288" marB="18288" anchor="ctr">
                    <a:solidFill>
                      <a:srgbClr val="F2F4F8"/>
                    </a:solidFill>
                  </a:tcPr>
                </a:tc>
                <a:tc>
                  <a:txBody>
                    <a:bodyPr/>
                    <a:lstStyle/>
                    <a:p>
                      <a:pPr algn="ctr"/>
                      <a:r>
                        <a:rPr sz="900"/>
                        <a:t>2023</a:t>
                      </a:r>
                    </a:p>
                  </a:txBody>
                  <a:tcPr marL="45720" marR="45720" marT="18288" marB="18288" anchor="ctr">
                    <a:solidFill>
                      <a:srgbClr val="F2F4F8"/>
                    </a:solidFill>
                  </a:tcPr>
                </a:tc>
                <a:tc>
                  <a:txBody>
                    <a:bodyPr/>
                    <a:lstStyle/>
                    <a:p>
                      <a:pPr algn="ctr"/>
                      <a:r>
                        <a:rPr sz="900"/>
                        <a:t>GNN-SAGE &amp; Transformer vs. XGBoost; SHAP</a:t>
                      </a:r>
                    </a:p>
                  </a:txBody>
                  <a:tcPr marL="45720" marR="45720" marT="18288" marB="18288" anchor="ctr">
                    <a:solidFill>
                      <a:srgbClr val="F2F4F8"/>
                    </a:solidFill>
                  </a:tcPr>
                </a:tc>
                <a:tc>
                  <a:txBody>
                    <a:bodyPr/>
                    <a:lstStyle/>
                    <a:p>
                      <a:pPr algn="ctr"/>
                      <a:r>
                        <a:rPr sz="900"/>
                        <a:t>RMSE, MAE, MAPE, R²</a:t>
                      </a:r>
                    </a:p>
                  </a:txBody>
                  <a:tcPr marL="45720" marR="45720" marT="18288" marB="18288" anchor="ctr">
                    <a:solidFill>
                      <a:srgbClr val="F2F4F8"/>
                    </a:solidFill>
                  </a:tcPr>
                </a:tc>
                <a:tc>
                  <a:txBody>
                    <a:bodyPr/>
                    <a:lstStyle/>
                    <a:p>
                      <a:pPr algn="ctr"/>
                      <a:r>
                        <a:rPr sz="900"/>
                        <a:t>GNN-SAGE RMSE 0.34 mg/L at 6 h; value regression only; no event lead-time evaluation.</a:t>
                      </a:r>
                    </a:p>
                  </a:txBody>
                  <a:tcPr marL="45720" marR="45720" marT="18288" marB="18288" anchor="ctr">
                    <a:solidFill>
                      <a:srgbClr val="F2F4F8"/>
                    </a:solidFill>
                  </a:tcPr>
                </a:tc>
                <a:extLst>
                  <a:ext uri="{0D108BD9-81ED-4DB2-BD59-A6C34878D82A}">
                    <a16:rowId xmlns:a16="http://schemas.microsoft.com/office/drawing/2014/main" val="10002"/>
                  </a:ext>
                </a:extLst>
              </a:tr>
              <a:tr h="429768">
                <a:tc>
                  <a:txBody>
                    <a:bodyPr/>
                    <a:lstStyle/>
                    <a:p>
                      <a:pPr algn="ctr"/>
                      <a:r>
                        <a:rPr sz="900"/>
                        <a:t>3</a:t>
                      </a:r>
                    </a:p>
                  </a:txBody>
                  <a:tcPr marL="45720" marR="45720" marT="18288" marB="18288" anchor="ctr">
                    <a:solidFill>
                      <a:srgbClr val="FFFFFF"/>
                    </a:solidFill>
                  </a:tcPr>
                </a:tc>
                <a:tc>
                  <a:txBody>
                    <a:bodyPr/>
                    <a:lstStyle/>
                    <a:p>
                      <a:pPr algn="ctr"/>
                      <a:r>
                        <a:rPr sz="900"/>
                        <a:t>Pant et al. (Sci. Reports)</a:t>
                      </a:r>
                    </a:p>
                  </a:txBody>
                  <a:tcPr marL="45720" marR="45720" marT="18288" marB="18288" anchor="ctr">
                    <a:solidFill>
                      <a:srgbClr val="FFFFFF"/>
                    </a:solidFill>
                  </a:tcPr>
                </a:tc>
                <a:tc>
                  <a:txBody>
                    <a:bodyPr/>
                    <a:lstStyle/>
                    <a:p>
                      <a:pPr algn="ctr"/>
                      <a:r>
                        <a:rPr sz="900"/>
                        <a:t>2024</a:t>
                      </a:r>
                    </a:p>
                  </a:txBody>
                  <a:tcPr marL="45720" marR="45720" marT="18288" marB="18288" anchor="ctr">
                    <a:solidFill>
                      <a:srgbClr val="FFFFFF"/>
                    </a:solidFill>
                  </a:tcPr>
                </a:tc>
                <a:tc>
                  <a:txBody>
                    <a:bodyPr/>
                    <a:lstStyle/>
                    <a:p>
                      <a:pPr algn="ctr"/>
                      <a:r>
                        <a:rPr sz="900"/>
                        <a:t>CEEMDAN + AdaBoost-BiLSTM + LSTM</a:t>
                      </a:r>
                    </a:p>
                  </a:txBody>
                  <a:tcPr marL="45720" marR="45720" marT="18288" marB="18288" anchor="ctr">
                    <a:solidFill>
                      <a:srgbClr val="FFFFFF"/>
                    </a:solidFill>
                  </a:tcPr>
                </a:tc>
                <a:tc>
                  <a:txBody>
                    <a:bodyPr/>
                    <a:lstStyle/>
                    <a:p>
                      <a:pPr algn="ctr"/>
                      <a:r>
                        <a:rPr sz="900"/>
                        <a:t>RMSE, MAE, MAPE, DM test</a:t>
                      </a:r>
                    </a:p>
                  </a:txBody>
                  <a:tcPr marL="45720" marR="45720" marT="18288" marB="18288" anchor="ctr">
                    <a:solidFill>
                      <a:srgbClr val="FFFFFF"/>
                    </a:solidFill>
                  </a:tcPr>
                </a:tc>
                <a:tc>
                  <a:txBody>
                    <a:bodyPr/>
                    <a:lstStyle/>
                    <a:p>
                      <a:pPr algn="ctr"/>
                      <a:r>
                        <a:rPr sz="900"/>
                        <a:t>River Ganga; ~25% RMSE reduction at 1–3 h; short multi-step regression only.</a:t>
                      </a:r>
                    </a:p>
                  </a:txBody>
                  <a:tcPr marL="45720" marR="45720" marT="18288" marB="18288" anchor="ctr">
                    <a:solidFill>
                      <a:srgbClr val="FFFFFF"/>
                    </a:solidFill>
                  </a:tcPr>
                </a:tc>
                <a:extLst>
                  <a:ext uri="{0D108BD9-81ED-4DB2-BD59-A6C34878D82A}">
                    <a16:rowId xmlns:a16="http://schemas.microsoft.com/office/drawing/2014/main" val="10003"/>
                  </a:ext>
                </a:extLst>
              </a:tr>
              <a:tr h="429768">
                <a:tc>
                  <a:txBody>
                    <a:bodyPr/>
                    <a:lstStyle/>
                    <a:p>
                      <a:pPr algn="ctr"/>
                      <a:r>
                        <a:rPr sz="900"/>
                        <a:t>4</a:t>
                      </a:r>
                    </a:p>
                  </a:txBody>
                  <a:tcPr marL="45720" marR="45720" marT="18288" marB="18288" anchor="ctr">
                    <a:solidFill>
                      <a:srgbClr val="F2F4F8"/>
                    </a:solidFill>
                  </a:tcPr>
                </a:tc>
                <a:tc>
                  <a:txBody>
                    <a:bodyPr/>
                    <a:lstStyle/>
                    <a:p>
                      <a:pPr algn="ctr"/>
                      <a:r>
                        <a:rPr sz="900"/>
                        <a:t>Granata et al. (Env. Sci.: Advances)</a:t>
                      </a:r>
                    </a:p>
                  </a:txBody>
                  <a:tcPr marL="45720" marR="45720" marT="18288" marB="18288" anchor="ctr">
                    <a:solidFill>
                      <a:srgbClr val="F2F4F8"/>
                    </a:solidFill>
                  </a:tcPr>
                </a:tc>
                <a:tc>
                  <a:txBody>
                    <a:bodyPr/>
                    <a:lstStyle/>
                    <a:p>
                      <a:pPr algn="ctr"/>
                      <a:r>
                        <a:rPr sz="900"/>
                        <a:t>2024</a:t>
                      </a:r>
                    </a:p>
                  </a:txBody>
                  <a:tcPr marL="45720" marR="45720" marT="18288" marB="18288" anchor="ctr">
                    <a:solidFill>
                      <a:srgbClr val="F2F4F8"/>
                    </a:solidFill>
                  </a:tcPr>
                </a:tc>
                <a:tc>
                  <a:txBody>
                    <a:bodyPr/>
                    <a:lstStyle/>
                    <a:p>
                      <a:pPr algn="ctr"/>
                      <a:r>
                        <a:rPr sz="900"/>
                        <a:t>Additive regression with RBF; stacked MLP-RF</a:t>
                      </a:r>
                    </a:p>
                  </a:txBody>
                  <a:tcPr marL="45720" marR="45720" marT="18288" marB="18288" anchor="ctr">
                    <a:solidFill>
                      <a:srgbClr val="F2F4F8"/>
                    </a:solidFill>
                  </a:tcPr>
                </a:tc>
                <a:tc>
                  <a:txBody>
                    <a:bodyPr/>
                    <a:lstStyle/>
                    <a:p>
                      <a:pPr algn="ctr"/>
                      <a:r>
                        <a:rPr sz="900"/>
                        <a:t>R², MAE, MAPE, RMSE</a:t>
                      </a:r>
                    </a:p>
                  </a:txBody>
                  <a:tcPr marL="45720" marR="45720" marT="18288" marB="18288" anchor="ctr">
                    <a:solidFill>
                      <a:srgbClr val="F2F4F8"/>
                    </a:solidFill>
                  </a:tcPr>
                </a:tc>
                <a:tc>
                  <a:txBody>
                    <a:bodyPr/>
                    <a:lstStyle/>
                    <a:p>
                      <a:pPr algn="ctr"/>
                      <a:r>
                        <a:rPr sz="900"/>
                        <a:t>Mississippi River; 3-day RMSE 0.28 mg/L; no warning logic.</a:t>
                      </a:r>
                    </a:p>
                  </a:txBody>
                  <a:tcPr marL="45720" marR="45720" marT="18288" marB="18288" anchor="ctr">
                    <a:solidFill>
                      <a:srgbClr val="F2F4F8"/>
                    </a:solidFill>
                  </a:tcPr>
                </a:tc>
                <a:extLst>
                  <a:ext uri="{0D108BD9-81ED-4DB2-BD59-A6C34878D82A}">
                    <a16:rowId xmlns:a16="http://schemas.microsoft.com/office/drawing/2014/main" val="10004"/>
                  </a:ext>
                </a:extLst>
              </a:tr>
              <a:tr h="429768">
                <a:tc>
                  <a:txBody>
                    <a:bodyPr/>
                    <a:lstStyle/>
                    <a:p>
                      <a:pPr algn="ctr"/>
                      <a:r>
                        <a:rPr sz="900"/>
                        <a:t>5</a:t>
                      </a:r>
                    </a:p>
                  </a:txBody>
                  <a:tcPr marL="45720" marR="45720" marT="18288" marB="18288" anchor="ctr">
                    <a:solidFill>
                      <a:srgbClr val="FFFFFF"/>
                    </a:solidFill>
                  </a:tcPr>
                </a:tc>
                <a:tc>
                  <a:txBody>
                    <a:bodyPr/>
                    <a:lstStyle/>
                    <a:p>
                      <a:pPr algn="ctr"/>
                      <a:r>
                        <a:rPr sz="900"/>
                        <a:t>Cerqueira et al. (Front. Aquac.)</a:t>
                      </a:r>
                    </a:p>
                  </a:txBody>
                  <a:tcPr marL="45720" marR="45720" marT="18288" marB="18288" anchor="ctr">
                    <a:solidFill>
                      <a:srgbClr val="FFFFFF"/>
                    </a:solidFill>
                  </a:tcPr>
                </a:tc>
                <a:tc>
                  <a:txBody>
                    <a:bodyPr/>
                    <a:lstStyle/>
                    <a:p>
                      <a:pPr algn="ctr"/>
                      <a:r>
                        <a:rPr sz="900"/>
                        <a:t>2024</a:t>
                      </a:r>
                    </a:p>
                  </a:txBody>
                  <a:tcPr marL="45720" marR="45720" marT="18288" marB="18288" anchor="ctr">
                    <a:solidFill>
                      <a:srgbClr val="FFFFFF"/>
                    </a:solidFill>
                  </a:tcPr>
                </a:tc>
                <a:tc>
                  <a:txBody>
                    <a:bodyPr/>
                    <a:lstStyle/>
                    <a:p>
                      <a:pPr algn="ctr"/>
                      <a:r>
                        <a:rPr sz="900"/>
                        <a:t>Global autoregressive LightGBM (1–24 h)</a:t>
                      </a:r>
                    </a:p>
                  </a:txBody>
                  <a:tcPr marL="45720" marR="45720" marT="18288" marB="18288" anchor="ctr">
                    <a:solidFill>
                      <a:srgbClr val="FFFFFF"/>
                    </a:solidFill>
                  </a:tcPr>
                </a:tc>
                <a:tc>
                  <a:txBody>
                    <a:bodyPr/>
                    <a:lstStyle/>
                    <a:p>
                      <a:pPr algn="ctr"/>
                      <a:r>
                        <a:rPr sz="900"/>
                        <a:t>Event recall, FAR, lead time</a:t>
                      </a:r>
                    </a:p>
                  </a:txBody>
                  <a:tcPr marL="45720" marR="45720" marT="18288" marB="18288" anchor="ctr">
                    <a:solidFill>
                      <a:srgbClr val="FFFFFF"/>
                    </a:solidFill>
                  </a:tcPr>
                </a:tc>
                <a:tc>
                  <a:txBody>
                    <a:bodyPr/>
                    <a:lstStyle/>
                    <a:p>
                      <a:pPr algn="ctr"/>
                      <a:r>
                        <a:rPr sz="900"/>
                        <a:t>Event recall 60–85% with 5–8 h anticipation; ocean salmon farms only.</a:t>
                      </a:r>
                    </a:p>
                  </a:txBody>
                  <a:tcPr marL="45720" marR="45720" marT="18288" marB="18288" anchor="ctr">
                    <a:solidFill>
                      <a:srgbClr val="FFFFFF"/>
                    </a:solidFill>
                  </a:tcPr>
                </a:tc>
                <a:extLst>
                  <a:ext uri="{0D108BD9-81ED-4DB2-BD59-A6C34878D82A}">
                    <a16:rowId xmlns:a16="http://schemas.microsoft.com/office/drawing/2014/main" val="10005"/>
                  </a:ext>
                </a:extLst>
              </a:tr>
              <a:tr h="429768">
                <a:tc>
                  <a:txBody>
                    <a:bodyPr/>
                    <a:lstStyle/>
                    <a:p>
                      <a:pPr algn="ctr"/>
                      <a:r>
                        <a:rPr sz="900"/>
                        <a:t>6</a:t>
                      </a:r>
                    </a:p>
                  </a:txBody>
                  <a:tcPr marL="45720" marR="45720" marT="18288" marB="18288" anchor="ctr">
                    <a:solidFill>
                      <a:srgbClr val="F2F4F8"/>
                    </a:solidFill>
                  </a:tcPr>
                </a:tc>
                <a:tc>
                  <a:txBody>
                    <a:bodyPr/>
                    <a:lstStyle/>
                    <a:p>
                      <a:pPr algn="ctr"/>
                      <a:r>
                        <a:rPr sz="900"/>
                        <a:t>Simonetti et al. (STOTEN)</a:t>
                      </a:r>
                    </a:p>
                  </a:txBody>
                  <a:tcPr marL="45720" marR="45720" marT="18288" marB="18288" anchor="ctr">
                    <a:solidFill>
                      <a:srgbClr val="F2F4F8"/>
                    </a:solidFill>
                  </a:tcPr>
                </a:tc>
                <a:tc>
                  <a:txBody>
                    <a:bodyPr/>
                    <a:lstStyle/>
                    <a:p>
                      <a:pPr algn="ctr"/>
                      <a:r>
                        <a:rPr sz="900"/>
                        <a:t>2024</a:t>
                      </a:r>
                    </a:p>
                  </a:txBody>
                  <a:tcPr marL="45720" marR="45720" marT="18288" marB="18288" anchor="ctr">
                    <a:solidFill>
                      <a:srgbClr val="F2F4F8"/>
                    </a:solidFill>
                  </a:tcPr>
                </a:tc>
                <a:tc>
                  <a:txBody>
                    <a:bodyPr/>
                    <a:lstStyle/>
                    <a:p>
                      <a:pPr algn="ctr"/>
                      <a:r>
                        <a:rPr sz="900"/>
                        <a:t>Hydrodynamic model coupled with RF</a:t>
                      </a:r>
                    </a:p>
                  </a:txBody>
                  <a:tcPr marL="45720" marR="45720" marT="18288" marB="18288" anchor="ctr">
                    <a:solidFill>
                      <a:srgbClr val="F2F4F8"/>
                    </a:solidFill>
                  </a:tcPr>
                </a:tc>
                <a:tc>
                  <a:txBody>
                    <a:bodyPr/>
                    <a:lstStyle/>
                    <a:p>
                      <a:pPr algn="ctr"/>
                      <a:r>
                        <a:rPr sz="900"/>
                        <a:t>Accuracy, severe-hypoxia score</a:t>
                      </a:r>
                    </a:p>
                  </a:txBody>
                  <a:tcPr marL="45720" marR="45720" marT="18288" marB="18288" anchor="ctr">
                    <a:solidFill>
                      <a:srgbClr val="F2F4F8"/>
                    </a:solidFill>
                  </a:tcPr>
                </a:tc>
                <a:tc>
                  <a:txBody>
                    <a:bodyPr/>
                    <a:lstStyle/>
                    <a:p>
                      <a:pPr algn="ctr"/>
                      <a:r>
                        <a:rPr sz="900"/>
                        <a:t>Coastal lagoon; 91% accuracy; single site; accuracy distorted by imbalance.</a:t>
                      </a:r>
                    </a:p>
                  </a:txBody>
                  <a:tcPr marL="45720" marR="45720" marT="18288" marB="18288" anchor="ctr">
                    <a:solidFill>
                      <a:srgbClr val="F2F4F8"/>
                    </a:solidFill>
                  </a:tcPr>
                </a:tc>
                <a:extLst>
                  <a:ext uri="{0D108BD9-81ED-4DB2-BD59-A6C34878D82A}">
                    <a16:rowId xmlns:a16="http://schemas.microsoft.com/office/drawing/2014/main" val="10006"/>
                  </a:ext>
                </a:extLst>
              </a:tr>
              <a:tr h="429768">
                <a:tc>
                  <a:txBody>
                    <a:bodyPr/>
                    <a:lstStyle/>
                    <a:p>
                      <a:pPr algn="ctr"/>
                      <a:r>
                        <a:rPr sz="900"/>
                        <a:t>7</a:t>
                      </a:r>
                    </a:p>
                  </a:txBody>
                  <a:tcPr marL="45720" marR="45720" marT="18288" marB="18288" anchor="ctr">
                    <a:solidFill>
                      <a:srgbClr val="FFFFFF"/>
                    </a:solidFill>
                  </a:tcPr>
                </a:tc>
                <a:tc>
                  <a:txBody>
                    <a:bodyPr/>
                    <a:lstStyle/>
                    <a:p>
                      <a:pPr algn="ctr"/>
                      <a:r>
                        <a:rPr sz="900"/>
                        <a:t>Zhao &amp; Chen (PLOS ONE)</a:t>
                      </a:r>
                    </a:p>
                  </a:txBody>
                  <a:tcPr marL="45720" marR="45720" marT="18288" marB="18288" anchor="ctr">
                    <a:solidFill>
                      <a:srgbClr val="FFFFFF"/>
                    </a:solidFill>
                  </a:tcPr>
                </a:tc>
                <a:tc>
                  <a:txBody>
                    <a:bodyPr/>
                    <a:lstStyle/>
                    <a:p>
                      <a:pPr algn="ctr"/>
                      <a:r>
                        <a:rPr sz="900"/>
                        <a:t>2025</a:t>
                      </a:r>
                    </a:p>
                  </a:txBody>
                  <a:tcPr marL="45720" marR="45720" marT="18288" marB="18288" anchor="ctr">
                    <a:solidFill>
                      <a:srgbClr val="FFFFFF"/>
                    </a:solidFill>
                  </a:tcPr>
                </a:tc>
                <a:tc>
                  <a:txBody>
                    <a:bodyPr/>
                    <a:lstStyle/>
                    <a:p>
                      <a:pPr algn="ctr"/>
                      <a:r>
                        <a:rPr sz="900"/>
                        <a:t>DWT denoising, KPCA, GWO-optimised XGBoost</a:t>
                      </a:r>
                    </a:p>
                  </a:txBody>
                  <a:tcPr marL="45720" marR="45720" marT="18288" marB="18288" anchor="ctr">
                    <a:solidFill>
                      <a:srgbClr val="FFFFFF"/>
                    </a:solidFill>
                  </a:tcPr>
                </a:tc>
                <a:tc>
                  <a:txBody>
                    <a:bodyPr/>
                    <a:lstStyle/>
                    <a:p>
                      <a:pPr algn="ctr"/>
                      <a:r>
                        <a:rPr sz="900"/>
                        <a:t>MAE, MSE, MAPE, NSE, KGE</a:t>
                      </a:r>
                    </a:p>
                  </a:txBody>
                  <a:tcPr marL="45720" marR="45720" marT="18288" marB="18288" anchor="ctr">
                    <a:solidFill>
                      <a:srgbClr val="FFFFFF"/>
                    </a:solidFill>
                  </a:tcPr>
                </a:tc>
                <a:tc>
                  <a:txBody>
                    <a:bodyPr/>
                    <a:lstStyle/>
                    <a:p>
                      <a:pPr algn="ctr"/>
                      <a:r>
                        <a:rPr sz="900"/>
                        <a:t>Multi-source weather improves regression (NSE 0.78–0.90); no early-warning test.</a:t>
                      </a:r>
                    </a:p>
                  </a:txBody>
                  <a:tcPr marL="45720" marR="45720" marT="18288" marB="18288" anchor="ctr">
                    <a:solidFill>
                      <a:srgbClr val="FFFFFF"/>
                    </a:solidFill>
                  </a:tcPr>
                </a:tc>
                <a:extLst>
                  <a:ext uri="{0D108BD9-81ED-4DB2-BD59-A6C34878D82A}">
                    <a16:rowId xmlns:a16="http://schemas.microsoft.com/office/drawing/2014/main" val="10007"/>
                  </a:ext>
                </a:extLst>
              </a:tr>
              <a:tr h="429768">
                <a:tc>
                  <a:txBody>
                    <a:bodyPr/>
                    <a:lstStyle/>
                    <a:p>
                      <a:pPr algn="ctr"/>
                      <a:r>
                        <a:rPr sz="900"/>
                        <a:t>8</a:t>
                      </a:r>
                    </a:p>
                  </a:txBody>
                  <a:tcPr marL="45720" marR="45720" marT="18288" marB="18288" anchor="ctr">
                    <a:solidFill>
                      <a:srgbClr val="F2F4F8"/>
                    </a:solidFill>
                  </a:tcPr>
                </a:tc>
                <a:tc>
                  <a:txBody>
                    <a:bodyPr/>
                    <a:lstStyle/>
                    <a:p>
                      <a:pPr algn="ctr"/>
                      <a:r>
                        <a:rPr sz="900"/>
                        <a:t>Merabet et al. (Earth Sci. Inf.)</a:t>
                      </a:r>
                    </a:p>
                  </a:txBody>
                  <a:tcPr marL="45720" marR="45720" marT="18288" marB="18288" anchor="ctr">
                    <a:solidFill>
                      <a:srgbClr val="F2F4F8"/>
                    </a:solidFill>
                  </a:tcPr>
                </a:tc>
                <a:tc>
                  <a:txBody>
                    <a:bodyPr/>
                    <a:lstStyle/>
                    <a:p>
                      <a:pPr algn="ctr"/>
                      <a:r>
                        <a:rPr sz="900"/>
                        <a:t>2025</a:t>
                      </a:r>
                    </a:p>
                  </a:txBody>
                  <a:tcPr marL="45720" marR="45720" marT="18288" marB="18288" anchor="ctr">
                    <a:solidFill>
                      <a:srgbClr val="F2F4F8"/>
                    </a:solidFill>
                  </a:tcPr>
                </a:tc>
                <a:tc>
                  <a:txBody>
                    <a:bodyPr/>
                    <a:lstStyle/>
                    <a:p>
                      <a:pPr algn="ctr"/>
                      <a:r>
                        <a:rPr sz="900"/>
                        <a:t>CatBoost, LightGBM, NGBoost, XGBoost; SHAP</a:t>
                      </a:r>
                    </a:p>
                  </a:txBody>
                  <a:tcPr marL="45720" marR="45720" marT="18288" marB="18288" anchor="ctr">
                    <a:solidFill>
                      <a:srgbClr val="F2F4F8"/>
                    </a:solidFill>
                  </a:tcPr>
                </a:tc>
                <a:tc>
                  <a:txBody>
                    <a:bodyPr/>
                    <a:lstStyle/>
                    <a:p>
                      <a:pPr algn="ctr"/>
                      <a:r>
                        <a:rPr sz="900"/>
                        <a:t>RMSE, MAE, R², NSE</a:t>
                      </a:r>
                    </a:p>
                  </a:txBody>
                  <a:tcPr marL="45720" marR="45720" marT="18288" marB="18288" anchor="ctr">
                    <a:solidFill>
                      <a:srgbClr val="F2F4F8"/>
                    </a:solidFill>
                  </a:tcPr>
                </a:tc>
                <a:tc>
                  <a:txBody>
                    <a:bodyPr/>
                    <a:lstStyle/>
                    <a:p>
                      <a:pPr algn="ctr"/>
                      <a:r>
                        <a:rPr sz="900"/>
                        <a:t>DO highly predictable (NSE 0.961); SHAP analysis; regression only.</a:t>
                      </a:r>
                    </a:p>
                  </a:txBody>
                  <a:tcPr marL="45720" marR="45720" marT="18288" marB="18288" anchor="ctr">
                    <a:solidFill>
                      <a:srgbClr val="F2F4F8"/>
                    </a:solidFill>
                  </a:tcPr>
                </a:tc>
                <a:extLst>
                  <a:ext uri="{0D108BD9-81ED-4DB2-BD59-A6C34878D82A}">
                    <a16:rowId xmlns:a16="http://schemas.microsoft.com/office/drawing/2014/main" val="10008"/>
                  </a:ext>
                </a:extLst>
              </a:tr>
              <a:tr h="429768">
                <a:tc>
                  <a:txBody>
                    <a:bodyPr/>
                    <a:lstStyle/>
                    <a:p>
                      <a:pPr algn="ctr"/>
                      <a:r>
                        <a:rPr sz="900"/>
                        <a:t>9</a:t>
                      </a:r>
                    </a:p>
                  </a:txBody>
                  <a:tcPr marL="45720" marR="45720" marT="18288" marB="18288" anchor="ctr">
                    <a:solidFill>
                      <a:srgbClr val="FFFFFF"/>
                    </a:solidFill>
                  </a:tcPr>
                </a:tc>
                <a:tc>
                  <a:txBody>
                    <a:bodyPr/>
                    <a:lstStyle/>
                    <a:p>
                      <a:pPr algn="ctr"/>
                      <a:r>
                        <a:rPr sz="900"/>
                        <a:t>Choudhary et al. (Sci. Reports)</a:t>
                      </a:r>
                    </a:p>
                  </a:txBody>
                  <a:tcPr marL="45720" marR="45720" marT="18288" marB="18288" anchor="ctr">
                    <a:solidFill>
                      <a:srgbClr val="FFFFFF"/>
                    </a:solidFill>
                  </a:tcPr>
                </a:tc>
                <a:tc>
                  <a:txBody>
                    <a:bodyPr/>
                    <a:lstStyle/>
                    <a:p>
                      <a:pPr algn="ctr"/>
                      <a:r>
                        <a:rPr sz="900"/>
                        <a:t>2025</a:t>
                      </a:r>
                    </a:p>
                  </a:txBody>
                  <a:tcPr marL="45720" marR="45720" marT="18288" marB="18288" anchor="ctr">
                    <a:solidFill>
                      <a:srgbClr val="FFFFFF"/>
                    </a:solidFill>
                  </a:tcPr>
                </a:tc>
                <a:tc>
                  <a:txBody>
                    <a:bodyPr/>
                    <a:lstStyle/>
                    <a:p>
                      <a:pPr algn="ctr"/>
                      <a:r>
                        <a:rPr sz="900"/>
                        <a:t>Stacking of 6 tree ensembles, linear meta-learner</a:t>
                      </a:r>
                    </a:p>
                  </a:txBody>
                  <a:tcPr marL="45720" marR="45720" marT="18288" marB="18288" anchor="ctr">
                    <a:solidFill>
                      <a:srgbClr val="FFFFFF"/>
                    </a:solidFill>
                  </a:tcPr>
                </a:tc>
                <a:tc>
                  <a:txBody>
                    <a:bodyPr/>
                    <a:lstStyle/>
                    <a:p>
                      <a:pPr algn="ctr"/>
                      <a:r>
                        <a:rPr sz="900"/>
                        <a:t>R², Adj. R², MAE, RMSE</a:t>
                      </a:r>
                    </a:p>
                  </a:txBody>
                  <a:tcPr marL="45720" marR="45720" marT="18288" marB="18288" anchor="ctr">
                    <a:solidFill>
                      <a:srgbClr val="FFFFFF"/>
                    </a:solidFill>
                  </a:tcPr>
                </a:tc>
                <a:tc>
                  <a:txBody>
                    <a:bodyPr/>
                    <a:lstStyle/>
                    <a:p>
                      <a:pPr algn="ctr"/>
                      <a:r>
                        <a:rPr sz="900"/>
                        <a:t>Water quality index; static, no temporal forecast.</a:t>
                      </a:r>
                    </a:p>
                  </a:txBody>
                  <a:tcPr marL="45720" marR="45720" marT="18288" marB="18288" anchor="ctr">
                    <a:solidFill>
                      <a:srgbClr val="FFFFFF"/>
                    </a:solidFill>
                  </a:tcPr>
                </a:tc>
                <a:extLst>
                  <a:ext uri="{0D108BD9-81ED-4DB2-BD59-A6C34878D82A}">
                    <a16:rowId xmlns:a16="http://schemas.microsoft.com/office/drawing/2014/main" val="10009"/>
                  </a:ext>
                </a:extLst>
              </a:tr>
              <a:tr h="429768">
                <a:tc>
                  <a:txBody>
                    <a:bodyPr/>
                    <a:lstStyle/>
                    <a:p>
                      <a:pPr algn="ctr"/>
                      <a:r>
                        <a:rPr sz="900"/>
                        <a:t>10</a:t>
                      </a:r>
                    </a:p>
                  </a:txBody>
                  <a:tcPr marL="45720" marR="45720" marT="18288" marB="18288" anchor="ctr">
                    <a:solidFill>
                      <a:srgbClr val="F2F4F8"/>
                    </a:solidFill>
                  </a:tcPr>
                </a:tc>
                <a:tc>
                  <a:txBody>
                    <a:bodyPr/>
                    <a:lstStyle/>
                    <a:p>
                      <a:pPr algn="ctr"/>
                      <a:r>
                        <a:rPr sz="900"/>
                        <a:t>Base paper (J. Hydrology)</a:t>
                      </a:r>
                    </a:p>
                  </a:txBody>
                  <a:tcPr marL="45720" marR="45720" marT="18288" marB="18288" anchor="ctr">
                    <a:solidFill>
                      <a:srgbClr val="F2F4F8"/>
                    </a:solidFill>
                  </a:tcPr>
                </a:tc>
                <a:tc>
                  <a:txBody>
                    <a:bodyPr/>
                    <a:lstStyle/>
                    <a:p>
                      <a:pPr algn="ctr"/>
                      <a:r>
                        <a:rPr sz="900"/>
                        <a:t>2026</a:t>
                      </a:r>
                    </a:p>
                  </a:txBody>
                  <a:tcPr marL="45720" marR="45720" marT="18288" marB="18288" anchor="ctr">
                    <a:solidFill>
                      <a:srgbClr val="F2F4F8"/>
                    </a:solidFill>
                  </a:tcPr>
                </a:tc>
                <a:tc>
                  <a:txBody>
                    <a:bodyPr/>
                    <a:lstStyle/>
                    <a:p>
                      <a:pPr algn="ctr"/>
                      <a:r>
                        <a:rPr sz="900"/>
                        <a:t>LSTM + Transformer + MLP gated fusion</a:t>
                      </a:r>
                    </a:p>
                  </a:txBody>
                  <a:tcPr marL="45720" marR="45720" marT="18288" marB="18288" anchor="ctr">
                    <a:solidFill>
                      <a:srgbClr val="F2F4F8"/>
                    </a:solidFill>
                  </a:tcPr>
                </a:tc>
                <a:tc>
                  <a:txBody>
                    <a:bodyPr/>
                    <a:lstStyle/>
                    <a:p>
                      <a:pPr algn="ctr"/>
                      <a:r>
                        <a:rPr sz="900"/>
                        <a:t>NSE, RMSE, MAE, interval coverage</a:t>
                      </a:r>
                    </a:p>
                  </a:txBody>
                  <a:tcPr marL="45720" marR="45720" marT="18288" marB="18288" anchor="ctr">
                    <a:solidFill>
                      <a:srgbClr val="F2F4F8"/>
                    </a:solidFill>
                  </a:tcPr>
                </a:tc>
                <a:tc>
                  <a:txBody>
                    <a:bodyPr/>
                    <a:lstStyle/>
                    <a:p>
                      <a:pPr algn="ctr"/>
                      <a:r>
                        <a:rPr sz="900" dirty="0"/>
                        <a:t>Multimodal value forecasting; risk of temporal leakage via block splits.</a:t>
                      </a:r>
                    </a:p>
                  </a:txBody>
                  <a:tcPr marL="45720" marR="45720" marT="18288" marB="18288" anchor="ctr">
                    <a:solidFill>
                      <a:srgbClr val="F2F4F8"/>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Problem Statement</a:t>
            </a:r>
          </a:p>
        </p:txBody>
      </p:sp>
      <p:sp>
        <p:nvSpPr>
          <p:cNvPr id="3" name="Text Placeholder 2"/>
          <p:cNvSpPr>
            <a:spLocks noGrp="1"/>
          </p:cNvSpPr>
          <p:nvPr>
            <p:ph type="body" idx="1"/>
          </p:nvPr>
        </p:nvSpPr>
        <p:spPr>
          <a:xfrm>
            <a:off x="457200" y="1417320"/>
            <a:ext cx="8229600" cy="4846320"/>
          </a:xfrm>
        </p:spPr>
        <p:txBody>
          <a:bodyPr wrap="square"/>
          <a:lstStyle/>
          <a:p>
            <a:pPr algn="l">
              <a:spcAft>
                <a:spcPts val="800"/>
              </a:spcAft>
            </a:pPr>
            <a:r>
              <a:rPr sz="1600" b="1"/>
              <a:t>Operational blind spot: </a:t>
            </a:r>
            <a:r>
              <a:rPr sz="1600"/>
              <a:t>river monitoring detects hypoxia only after it occurs, so no preventive action is possible.</a:t>
            </a:r>
          </a:p>
          <a:p>
            <a:pPr algn="l">
              <a:spcAft>
                <a:spcPts val="800"/>
              </a:spcAft>
            </a:pPr>
            <a:r>
              <a:rPr sz="1600" b="1"/>
              <a:t>Single-task, single-model studies: </a:t>
            </a:r>
            <a:r>
              <a:rPr sz="1600"/>
              <a:t>prior work predicts either the DO value or a hypoxia class, usually with one algorithm; the benefit of combining ML and DL models is untested.</a:t>
            </a:r>
          </a:p>
          <a:p>
            <a:pPr algn="l">
              <a:spcAft>
                <a:spcPts val="800"/>
              </a:spcAft>
            </a:pPr>
            <a:r>
              <a:rPr sz="1600" b="1"/>
              <a:t>Evaluation flaws: </a:t>
            </a:r>
            <a:r>
              <a:rPr sz="1600"/>
              <a:t>random or block cross-validation leaks future information and inflates accuracy.</a:t>
            </a:r>
          </a:p>
          <a:p>
            <a:pPr algn="l">
              <a:spcAft>
                <a:spcPts val="800"/>
              </a:spcAft>
            </a:pPr>
            <a:r>
              <a:rPr sz="1600" b="1"/>
              <a:t>Unquantified multimodality: </a:t>
            </a:r>
            <a:r>
              <a:rPr sz="1600"/>
              <a:t>the value of weather and air-quality data for river DO is rarely tested by controlled ablation.</a:t>
            </a:r>
          </a:p>
          <a:p>
            <a:pPr marL="0" indent="0" algn="l">
              <a:spcAft>
                <a:spcPts val="800"/>
              </a:spcAft>
              <a:buNone/>
            </a:pPr>
            <a:r>
              <a:rPr sz="1700" b="1">
                <a:solidFill>
                  <a:srgbClr val="1F3864"/>
                </a:solidFill>
              </a:rPr>
              <a:t>Problem definition</a:t>
            </a:r>
          </a:p>
          <a:p>
            <a:pPr algn="l">
              <a:spcAft>
                <a:spcPts val="800"/>
              </a:spcAft>
            </a:pPr>
            <a:r>
              <a:rPr sz="1600"/>
              <a:t>Given hourly multi-source data up to time t, predict DO(t+h) and its class (Low / Medium / Good) for h = 6, 12, 24, 48 h, and warn before DO falls below 5 mg/L, using only past information.</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6</a:t>
            </a:fld>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Objectives</a:t>
            </a:r>
          </a:p>
        </p:txBody>
      </p:sp>
      <p:sp>
        <p:nvSpPr>
          <p:cNvPr id="3" name="Text Placeholder 2"/>
          <p:cNvSpPr>
            <a:spLocks noGrp="1"/>
          </p:cNvSpPr>
          <p:nvPr>
            <p:ph type="body" idx="1"/>
          </p:nvPr>
        </p:nvSpPr>
        <p:spPr>
          <a:xfrm>
            <a:off x="457200" y="1417320"/>
            <a:ext cx="8229600" cy="4846320"/>
          </a:xfrm>
        </p:spPr>
        <p:txBody>
          <a:bodyPr wrap="square"/>
          <a:lstStyle/>
          <a:p>
            <a:pPr algn="l">
              <a:spcAft>
                <a:spcPts val="900"/>
              </a:spcAft>
            </a:pPr>
            <a:r>
              <a:rPr sz="1600" b="1"/>
              <a:t>Objective 1: </a:t>
            </a:r>
            <a:r>
              <a:rPr sz="1600"/>
              <a:t>build a leakage-free hourly multimodal dataset (30 stations; water, weather, air) with 211 causal features.</a:t>
            </a:r>
          </a:p>
          <a:p>
            <a:pPr algn="l">
              <a:spcAft>
                <a:spcPts val="900"/>
              </a:spcAft>
            </a:pPr>
            <a:r>
              <a:rPr sz="1600" b="1"/>
              <a:t>Objective 2 (Regression): </a:t>
            </a:r>
            <a:r>
              <a:rPr sz="1600"/>
              <a:t>forecast DO in mg/L at 6, 12, 24 and 48 h ahead.</a:t>
            </a:r>
          </a:p>
          <a:p>
            <a:pPr algn="l">
              <a:spcAft>
                <a:spcPts val="900"/>
              </a:spcAft>
            </a:pPr>
            <a:r>
              <a:rPr sz="1600" b="1"/>
              <a:t>Objective 3 (Classification): </a:t>
            </a:r>
            <a:r>
              <a:rPr sz="1600"/>
              <a:t>classify future water condition as Low / Medium / Good, with class-wise evaluation.</a:t>
            </a:r>
          </a:p>
          <a:p>
            <a:pPr algn="l">
              <a:spcAft>
                <a:spcPts val="900"/>
              </a:spcAft>
            </a:pPr>
            <a:r>
              <a:rPr sz="1600" b="1"/>
              <a:t>Objective 4: </a:t>
            </a:r>
            <a:r>
              <a:rPr sz="1600"/>
              <a:t>train and compare 3 ML (RF, XGBoost, LightGBM) and 2 DL (BiLSTM, CNN-LSTM) models against persistence and linear / logistic baselines.</a:t>
            </a:r>
          </a:p>
          <a:p>
            <a:pPr algn="l">
              <a:spcAft>
                <a:spcPts val="900"/>
              </a:spcAft>
            </a:pPr>
            <a:r>
              <a:rPr sz="1600" b="1"/>
              <a:t>Objective 5: </a:t>
            </a:r>
            <a:r>
              <a:rPr sz="1600"/>
              <a:t>design a stacking ensemble with a warning rule, and measure onset recall, false alarms and lead time.</a:t>
            </a:r>
          </a:p>
          <a:p>
            <a:pPr algn="l">
              <a:spcAft>
                <a:spcPts val="900"/>
              </a:spcAft>
            </a:pPr>
            <a:r>
              <a:rPr sz="1600" b="1"/>
              <a:t>Objective 6: </a:t>
            </a:r>
            <a:r>
              <a:rPr sz="1600"/>
              <a:t>quantify each data source by ablation and deploy the frozen models in a Streamlit + FastAPI application.</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7</a:t>
            </a:fld>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Proposed Work</a:t>
            </a:r>
          </a:p>
        </p:txBody>
      </p:sp>
      <p:sp>
        <p:nvSpPr>
          <p:cNvPr id="3" name="Text Placeholder 2"/>
          <p:cNvSpPr>
            <a:spLocks noGrp="1"/>
          </p:cNvSpPr>
          <p:nvPr>
            <p:ph type="body" idx="1"/>
          </p:nvPr>
        </p:nvSpPr>
        <p:spPr>
          <a:xfrm>
            <a:off x="457200" y="1371600"/>
            <a:ext cx="8229600" cy="4892040"/>
          </a:xfrm>
        </p:spPr>
        <p:txBody>
          <a:bodyPr wrap="square"/>
          <a:lstStyle/>
          <a:p>
            <a:pPr algn="l">
              <a:spcAft>
                <a:spcPts val="800"/>
              </a:spcAft>
            </a:pPr>
            <a:r>
              <a:rPr sz="1500" b="1"/>
              <a:t>Data integration: </a:t>
            </a:r>
            <a:r>
              <a:rPr sz="1500"/>
              <a:t>USGS NWIS sensors (DO, temperature, conductivity, pH, turbidity, discharge), ERA5 weather and CAMS air quality via Open-Meteo, aligned to one hourly UTC grid.</a:t>
            </a:r>
          </a:p>
          <a:p>
            <a:pPr algn="l">
              <a:spcAft>
                <a:spcPts val="800"/>
              </a:spcAft>
            </a:pPr>
            <a:r>
              <a:rPr sz="1500" b="1"/>
              <a:t>Causal features: </a:t>
            </a:r>
            <a:r>
              <a:rPr sz="1500"/>
              <a:t>211 features using only values at or before t: lags 1–48 h, rolling 6 / 24 / 72 h statistics, 24 h DO swing, hours since Low, rain sums, cyclic time.</a:t>
            </a:r>
          </a:p>
          <a:p>
            <a:pPr algn="l">
              <a:spcAft>
                <a:spcPts val="800"/>
              </a:spcAft>
            </a:pPr>
            <a:r>
              <a:rPr sz="1500" b="1"/>
              <a:t>Five base models: </a:t>
            </a:r>
            <a:r>
              <a:rPr sz="1500"/>
              <a:t>RF, XGBoost, LightGBM, BiLSTM, CNN-LSTM; each predicts DO and class for all four horizons.</a:t>
            </a:r>
          </a:p>
          <a:p>
            <a:pPr algn="l">
              <a:spcAft>
                <a:spcPts val="800"/>
              </a:spcAft>
            </a:pPr>
            <a:r>
              <a:rPr sz="1500" b="1"/>
              <a:t>Stacking ensemble: </a:t>
            </a:r>
            <a:r>
              <a:rPr sz="1500"/>
              <a:t>Ridge meta-learner for DO and multinomial logistic meta-learner for class, fitted out-of-fold on 2024.</a:t>
            </a:r>
          </a:p>
          <a:p>
            <a:pPr algn="l">
              <a:spcAft>
                <a:spcPts val="800"/>
              </a:spcAft>
            </a:pPr>
            <a:r>
              <a:rPr sz="1500" b="1"/>
              <a:t>Warning rule: </a:t>
            </a:r>
            <a:r>
              <a:rPr sz="1500"/>
              <a:t>warn when P(Low) ≥ τ_h; τ_24h = 0.24, chosen to keep false alarms ≤ 2%.</a:t>
            </a:r>
          </a:p>
          <a:p>
            <a:pPr algn="l">
              <a:spcAft>
                <a:spcPts val="800"/>
              </a:spcAft>
            </a:pPr>
            <a:r>
              <a:rPr sz="1500" b="1"/>
              <a:t>Deployment: </a:t>
            </a:r>
            <a:r>
              <a:rPr sz="1500"/>
              <a:t>Streamlit dashboard and FastAPI service running on live USGS data.</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8</a:t>
            </a:fld>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Proposed Work: Problem, Data &amp; Pipeline</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9</a:t>
            </a:fld>
            <a:endParaRPr lang="en-US" sz="1000"/>
          </a:p>
        </p:txBody>
      </p:sp>
      <p:pic>
        <p:nvPicPr>
          <p:cNvPr id="5" name="Picture 4" descr="s09_8.jpg"/>
          <p:cNvPicPr>
            <a:picLocks noChangeAspect="1"/>
          </p:cNvPicPr>
          <p:nvPr/>
        </p:nvPicPr>
        <p:blipFill>
          <a:blip r:embed="rId2"/>
          <a:stretch>
            <a:fillRect/>
          </a:stretch>
        </p:blipFill>
        <p:spPr>
          <a:xfrm>
            <a:off x="365760" y="1417320"/>
            <a:ext cx="8412480" cy="40850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System Architecture</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10</a:t>
            </a:fld>
            <a:endParaRPr lang="en-US" sz="1000"/>
          </a:p>
        </p:txBody>
      </p:sp>
      <p:pic>
        <p:nvPicPr>
          <p:cNvPr id="5" name="Picture 4" descr="s12_3.png"/>
          <p:cNvPicPr>
            <a:picLocks noChangeAspect="1"/>
          </p:cNvPicPr>
          <p:nvPr/>
        </p:nvPicPr>
        <p:blipFill>
          <a:blip r:embed="rId2"/>
          <a:stretch>
            <a:fillRect/>
          </a:stretch>
        </p:blipFill>
        <p:spPr>
          <a:xfrm>
            <a:off x="454902" y="1188720"/>
            <a:ext cx="8234194" cy="5120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Modules</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11</a:t>
            </a:fld>
            <a:endParaRPr lang="en-US" sz="1000"/>
          </a:p>
        </p:txBody>
      </p:sp>
      <p:sp>
        <p:nvSpPr>
          <p:cNvPr id="5" name="Rounded Rectangle 4"/>
          <p:cNvSpPr/>
          <p:nvPr/>
        </p:nvSpPr>
        <p:spPr>
          <a:xfrm>
            <a:off x="457200" y="1417320"/>
            <a:ext cx="260604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4360" y="155448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1</a:t>
            </a:r>
          </a:p>
        </p:txBody>
      </p:sp>
      <p:sp>
        <p:nvSpPr>
          <p:cNvPr id="7" name="TextBox 6"/>
          <p:cNvSpPr txBox="1"/>
          <p:nvPr/>
        </p:nvSpPr>
        <p:spPr>
          <a:xfrm>
            <a:off x="1097280" y="1527048"/>
            <a:ext cx="1874519" cy="457200"/>
          </a:xfrm>
          <a:prstGeom prst="rect">
            <a:avLst/>
          </a:prstGeom>
          <a:noFill/>
        </p:spPr>
        <p:txBody>
          <a:bodyPr wrap="square" anchor="ctr">
            <a:spAutoFit/>
          </a:bodyPr>
          <a:lstStyle/>
          <a:p>
            <a:pPr algn="l">
              <a:spcAft>
                <a:spcPts val="400"/>
              </a:spcAft>
            </a:pPr>
            <a:r>
              <a:rPr sz="1600" b="1">
                <a:solidFill>
                  <a:srgbClr val="1F3864"/>
                </a:solidFill>
              </a:rPr>
              <a:t>Data Ingestion</a:t>
            </a:r>
          </a:p>
        </p:txBody>
      </p:sp>
      <p:sp>
        <p:nvSpPr>
          <p:cNvPr id="8" name="TextBox 7"/>
          <p:cNvSpPr txBox="1"/>
          <p:nvPr/>
        </p:nvSpPr>
        <p:spPr>
          <a:xfrm>
            <a:off x="594360" y="2039112"/>
            <a:ext cx="2331720" cy="1463040"/>
          </a:xfrm>
          <a:prstGeom prst="rect">
            <a:avLst/>
          </a:prstGeom>
          <a:noFill/>
        </p:spPr>
        <p:txBody>
          <a:bodyPr wrap="square">
            <a:spAutoFit/>
          </a:bodyPr>
          <a:lstStyle/>
          <a:p>
            <a:pPr algn="l">
              <a:spcAft>
                <a:spcPts val="400"/>
              </a:spcAft>
            </a:pPr>
            <a:r>
              <a:rPr sz="1400">
                <a:solidFill>
                  <a:srgbClr val="000000"/>
                </a:solidFill>
              </a:rPr>
              <a:t>USGS sensors, ERA5 weather and CAMS air quality harmonised to hourly UTC.</a:t>
            </a:r>
          </a:p>
        </p:txBody>
      </p:sp>
      <p:sp>
        <p:nvSpPr>
          <p:cNvPr id="9" name="Rounded Rectangle 8"/>
          <p:cNvSpPr/>
          <p:nvPr/>
        </p:nvSpPr>
        <p:spPr>
          <a:xfrm>
            <a:off x="3246120" y="1417320"/>
            <a:ext cx="260604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383279" y="155448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2</a:t>
            </a:r>
          </a:p>
        </p:txBody>
      </p:sp>
      <p:sp>
        <p:nvSpPr>
          <p:cNvPr id="11" name="TextBox 10"/>
          <p:cNvSpPr txBox="1"/>
          <p:nvPr/>
        </p:nvSpPr>
        <p:spPr>
          <a:xfrm>
            <a:off x="3886200" y="1527048"/>
            <a:ext cx="1874519" cy="457200"/>
          </a:xfrm>
          <a:prstGeom prst="rect">
            <a:avLst/>
          </a:prstGeom>
          <a:noFill/>
        </p:spPr>
        <p:txBody>
          <a:bodyPr wrap="square" anchor="ctr">
            <a:spAutoFit/>
          </a:bodyPr>
          <a:lstStyle/>
          <a:p>
            <a:pPr algn="l">
              <a:spcAft>
                <a:spcPts val="400"/>
              </a:spcAft>
            </a:pPr>
            <a:r>
              <a:rPr sz="1600" b="1">
                <a:solidFill>
                  <a:srgbClr val="1F3864"/>
                </a:solidFill>
              </a:rPr>
              <a:t>Preprocessing &amp; QC</a:t>
            </a:r>
          </a:p>
        </p:txBody>
      </p:sp>
      <p:sp>
        <p:nvSpPr>
          <p:cNvPr id="12" name="TextBox 11"/>
          <p:cNvSpPr txBox="1"/>
          <p:nvPr/>
        </p:nvSpPr>
        <p:spPr>
          <a:xfrm>
            <a:off x="3383279" y="2039112"/>
            <a:ext cx="2331720" cy="1463040"/>
          </a:xfrm>
          <a:prstGeom prst="rect">
            <a:avLst/>
          </a:prstGeom>
          <a:noFill/>
        </p:spPr>
        <p:txBody>
          <a:bodyPr wrap="square">
            <a:spAutoFit/>
          </a:bodyPr>
          <a:lstStyle/>
          <a:p>
            <a:pPr algn="l">
              <a:spcAft>
                <a:spcPts val="400"/>
              </a:spcAft>
            </a:pPr>
            <a:r>
              <a:rPr sz="1400">
                <a:solidFill>
                  <a:srgbClr val="000000"/>
                </a:solidFill>
              </a:rPr>
              <a:t>Range and spike checks, missing masks, forward-fill ≤ 3 h.</a:t>
            </a:r>
          </a:p>
        </p:txBody>
      </p:sp>
      <p:sp>
        <p:nvSpPr>
          <p:cNvPr id="13" name="Rounded Rectangle 12"/>
          <p:cNvSpPr/>
          <p:nvPr/>
        </p:nvSpPr>
        <p:spPr>
          <a:xfrm>
            <a:off x="6035040" y="1417320"/>
            <a:ext cx="260604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172200" y="155448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3</a:t>
            </a:r>
          </a:p>
        </p:txBody>
      </p:sp>
      <p:sp>
        <p:nvSpPr>
          <p:cNvPr id="15" name="TextBox 14"/>
          <p:cNvSpPr txBox="1"/>
          <p:nvPr/>
        </p:nvSpPr>
        <p:spPr>
          <a:xfrm>
            <a:off x="6675120" y="1527048"/>
            <a:ext cx="1874519" cy="457200"/>
          </a:xfrm>
          <a:prstGeom prst="rect">
            <a:avLst/>
          </a:prstGeom>
          <a:noFill/>
        </p:spPr>
        <p:txBody>
          <a:bodyPr wrap="square" anchor="ctr">
            <a:spAutoFit/>
          </a:bodyPr>
          <a:lstStyle/>
          <a:p>
            <a:pPr algn="l">
              <a:spcAft>
                <a:spcPts val="400"/>
              </a:spcAft>
            </a:pPr>
            <a:r>
              <a:rPr sz="1600" b="1">
                <a:solidFill>
                  <a:srgbClr val="1F3864"/>
                </a:solidFill>
              </a:rPr>
              <a:t>Feature &amp; Label Engineering</a:t>
            </a:r>
          </a:p>
        </p:txBody>
      </p:sp>
      <p:sp>
        <p:nvSpPr>
          <p:cNvPr id="16" name="TextBox 15"/>
          <p:cNvSpPr txBox="1"/>
          <p:nvPr/>
        </p:nvSpPr>
        <p:spPr>
          <a:xfrm>
            <a:off x="6172200" y="2039112"/>
            <a:ext cx="2331720" cy="1463040"/>
          </a:xfrm>
          <a:prstGeom prst="rect">
            <a:avLst/>
          </a:prstGeom>
          <a:noFill/>
        </p:spPr>
        <p:txBody>
          <a:bodyPr wrap="square">
            <a:spAutoFit/>
          </a:bodyPr>
          <a:lstStyle/>
          <a:p>
            <a:pPr algn="l">
              <a:spcAft>
                <a:spcPts val="400"/>
              </a:spcAft>
            </a:pPr>
            <a:r>
              <a:rPr sz="1400">
                <a:solidFill>
                  <a:srgbClr val="000000"/>
                </a:solidFill>
              </a:rPr>
              <a:t>211 causal features; DO target and Low / Medium / Good class at 4 horizons.</a:t>
            </a:r>
          </a:p>
        </p:txBody>
      </p:sp>
      <p:sp>
        <p:nvSpPr>
          <p:cNvPr id="17" name="Rounded Rectangle 16"/>
          <p:cNvSpPr/>
          <p:nvPr/>
        </p:nvSpPr>
        <p:spPr>
          <a:xfrm>
            <a:off x="457200" y="3794760"/>
            <a:ext cx="260604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94360" y="393192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4</a:t>
            </a:r>
          </a:p>
        </p:txBody>
      </p:sp>
      <p:sp>
        <p:nvSpPr>
          <p:cNvPr id="19" name="TextBox 18"/>
          <p:cNvSpPr txBox="1"/>
          <p:nvPr/>
        </p:nvSpPr>
        <p:spPr>
          <a:xfrm>
            <a:off x="1097280" y="3904488"/>
            <a:ext cx="1874519" cy="457200"/>
          </a:xfrm>
          <a:prstGeom prst="rect">
            <a:avLst/>
          </a:prstGeom>
          <a:noFill/>
        </p:spPr>
        <p:txBody>
          <a:bodyPr wrap="square" anchor="ctr">
            <a:spAutoFit/>
          </a:bodyPr>
          <a:lstStyle/>
          <a:p>
            <a:pPr algn="l">
              <a:spcAft>
                <a:spcPts val="400"/>
              </a:spcAft>
            </a:pPr>
            <a:r>
              <a:rPr sz="1600" b="1">
                <a:solidFill>
                  <a:srgbClr val="1F3864"/>
                </a:solidFill>
              </a:rPr>
              <a:t>Base Model Training</a:t>
            </a:r>
          </a:p>
        </p:txBody>
      </p:sp>
      <p:sp>
        <p:nvSpPr>
          <p:cNvPr id="20" name="TextBox 19"/>
          <p:cNvSpPr txBox="1"/>
          <p:nvPr/>
        </p:nvSpPr>
        <p:spPr>
          <a:xfrm>
            <a:off x="594360" y="4416552"/>
            <a:ext cx="2331720" cy="1463040"/>
          </a:xfrm>
          <a:prstGeom prst="rect">
            <a:avLst/>
          </a:prstGeom>
          <a:noFill/>
        </p:spPr>
        <p:txBody>
          <a:bodyPr wrap="square">
            <a:spAutoFit/>
          </a:bodyPr>
          <a:lstStyle/>
          <a:p>
            <a:pPr algn="l">
              <a:spcAft>
                <a:spcPts val="400"/>
              </a:spcAft>
            </a:pPr>
            <a:r>
              <a:rPr sz="1400">
                <a:solidFill>
                  <a:srgbClr val="000000"/>
                </a:solidFill>
              </a:rPr>
              <a:t>3 ML + 2 DL models, trained on 2023; DL on RTX 3050 GPU.</a:t>
            </a:r>
          </a:p>
        </p:txBody>
      </p:sp>
      <p:sp>
        <p:nvSpPr>
          <p:cNvPr id="21" name="Rounded Rectangle 20"/>
          <p:cNvSpPr/>
          <p:nvPr/>
        </p:nvSpPr>
        <p:spPr>
          <a:xfrm>
            <a:off x="3246120" y="3794760"/>
            <a:ext cx="260604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3383279" y="393192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5</a:t>
            </a:r>
          </a:p>
        </p:txBody>
      </p:sp>
      <p:sp>
        <p:nvSpPr>
          <p:cNvPr id="23" name="TextBox 22"/>
          <p:cNvSpPr txBox="1"/>
          <p:nvPr/>
        </p:nvSpPr>
        <p:spPr>
          <a:xfrm>
            <a:off x="3886200" y="3904488"/>
            <a:ext cx="1874519" cy="457200"/>
          </a:xfrm>
          <a:prstGeom prst="rect">
            <a:avLst/>
          </a:prstGeom>
          <a:noFill/>
        </p:spPr>
        <p:txBody>
          <a:bodyPr wrap="square" anchor="ctr">
            <a:spAutoFit/>
          </a:bodyPr>
          <a:lstStyle/>
          <a:p>
            <a:pPr algn="l">
              <a:spcAft>
                <a:spcPts val="400"/>
              </a:spcAft>
            </a:pPr>
            <a:r>
              <a:rPr sz="1600" b="1">
                <a:solidFill>
                  <a:srgbClr val="1F3864"/>
                </a:solidFill>
              </a:rPr>
              <a:t>Stacking &amp; Warning Rule</a:t>
            </a:r>
          </a:p>
        </p:txBody>
      </p:sp>
      <p:sp>
        <p:nvSpPr>
          <p:cNvPr id="24" name="TextBox 23"/>
          <p:cNvSpPr txBox="1"/>
          <p:nvPr/>
        </p:nvSpPr>
        <p:spPr>
          <a:xfrm>
            <a:off x="3383279" y="4416552"/>
            <a:ext cx="2331720" cy="1463040"/>
          </a:xfrm>
          <a:prstGeom prst="rect">
            <a:avLst/>
          </a:prstGeom>
          <a:noFill/>
        </p:spPr>
        <p:txBody>
          <a:bodyPr wrap="square">
            <a:spAutoFit/>
          </a:bodyPr>
          <a:lstStyle/>
          <a:p>
            <a:pPr algn="l">
              <a:spcAft>
                <a:spcPts val="400"/>
              </a:spcAft>
            </a:pPr>
            <a:r>
              <a:rPr sz="1400">
                <a:solidFill>
                  <a:srgbClr val="000000"/>
                </a:solidFill>
              </a:rPr>
              <a:t>Ridge and multinomial-logistic meta-learners; frozen P(Low) ≥ τ rule.</a:t>
            </a:r>
          </a:p>
        </p:txBody>
      </p:sp>
      <p:sp>
        <p:nvSpPr>
          <p:cNvPr id="25" name="Rounded Rectangle 24"/>
          <p:cNvSpPr/>
          <p:nvPr/>
        </p:nvSpPr>
        <p:spPr>
          <a:xfrm>
            <a:off x="6035040" y="3794760"/>
            <a:ext cx="260604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172200" y="393192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6</a:t>
            </a:r>
          </a:p>
        </p:txBody>
      </p:sp>
      <p:sp>
        <p:nvSpPr>
          <p:cNvPr id="27" name="TextBox 26"/>
          <p:cNvSpPr txBox="1"/>
          <p:nvPr/>
        </p:nvSpPr>
        <p:spPr>
          <a:xfrm>
            <a:off x="6675120" y="3904488"/>
            <a:ext cx="1874519" cy="457200"/>
          </a:xfrm>
          <a:prstGeom prst="rect">
            <a:avLst/>
          </a:prstGeom>
          <a:noFill/>
        </p:spPr>
        <p:txBody>
          <a:bodyPr wrap="square" anchor="ctr">
            <a:spAutoFit/>
          </a:bodyPr>
          <a:lstStyle/>
          <a:p>
            <a:pPr algn="l">
              <a:spcAft>
                <a:spcPts val="400"/>
              </a:spcAft>
            </a:pPr>
            <a:r>
              <a:rPr sz="1600" b="1">
                <a:solidFill>
                  <a:srgbClr val="1F3864"/>
                </a:solidFill>
              </a:rPr>
              <a:t>Evaluation &amp; Deployment</a:t>
            </a:r>
          </a:p>
        </p:txBody>
      </p:sp>
      <p:sp>
        <p:nvSpPr>
          <p:cNvPr id="28" name="TextBox 27"/>
          <p:cNvSpPr txBox="1"/>
          <p:nvPr/>
        </p:nvSpPr>
        <p:spPr>
          <a:xfrm>
            <a:off x="6172200" y="4416552"/>
            <a:ext cx="2331720" cy="1463040"/>
          </a:xfrm>
          <a:prstGeom prst="rect">
            <a:avLst/>
          </a:prstGeom>
          <a:noFill/>
        </p:spPr>
        <p:txBody>
          <a:bodyPr wrap="square">
            <a:spAutoFit/>
          </a:bodyPr>
          <a:lstStyle/>
          <a:p>
            <a:pPr algn="l">
              <a:spcAft>
                <a:spcPts val="400"/>
              </a:spcAft>
            </a:pPr>
            <a:r>
              <a:rPr sz="1400">
                <a:solidFill>
                  <a:srgbClr val="000000"/>
                </a:solidFill>
              </a:rPr>
              <a:t>Regression, class-wise and warning metrics; ablation; Streamlit + FastAPI.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Module Description (1–3)</a:t>
            </a:r>
          </a:p>
        </p:txBody>
      </p:sp>
      <p:sp>
        <p:nvSpPr>
          <p:cNvPr id="3" name="Text Placeholder 2"/>
          <p:cNvSpPr>
            <a:spLocks noGrp="1"/>
          </p:cNvSpPr>
          <p:nvPr>
            <p:ph type="body" idx="1"/>
          </p:nvPr>
        </p:nvSpPr>
        <p:spPr>
          <a:xfrm>
            <a:off x="457200" y="1325880"/>
            <a:ext cx="8229600" cy="4937759"/>
          </a:xfrm>
        </p:spPr>
        <p:txBody>
          <a:bodyPr wrap="square"/>
          <a:lstStyle/>
          <a:p>
            <a:pPr marL="0" indent="0" algn="l">
              <a:spcAft>
                <a:spcPts val="300"/>
              </a:spcAft>
              <a:buNone/>
            </a:pPr>
            <a:r>
              <a:rPr sz="1700" b="1">
                <a:solidFill>
                  <a:srgbClr val="1F3864"/>
                </a:solidFill>
              </a:rPr>
              <a:t>Module 1: Multi-Source Ingestion &amp; Harmonisation</a:t>
            </a:r>
          </a:p>
          <a:p>
            <a:pPr lvl="1" algn="l">
              <a:spcAft>
                <a:spcPts val="300"/>
              </a:spcAft>
            </a:pPr>
            <a:r>
              <a:rPr sz="1400"/>
              <a:t>USGS NWIS 15-minute sensor readings averaged to hourly values on a full UTC grid.</a:t>
            </a:r>
          </a:p>
          <a:p>
            <a:pPr lvl="1" algn="l">
              <a:spcAft>
                <a:spcPts val="300"/>
              </a:spcAft>
            </a:pPr>
            <a:r>
              <a:rPr sz="1400"/>
              <a:t>ERA5 weather and CAMS air quality fetched from Open-Meteo for each station's coordinates.</a:t>
            </a:r>
          </a:p>
          <a:p>
            <a:pPr lvl="1" algn="l">
              <a:spcAft>
                <a:spcPts val="300"/>
              </a:spcAft>
            </a:pPr>
            <a:r>
              <a:rPr sz="1400"/>
              <a:t>30 stations × 2023–2025 = 789,120 station-hours.</a:t>
            </a:r>
          </a:p>
          <a:p>
            <a:pPr marL="0" indent="0" algn="l">
              <a:spcAft>
                <a:spcPts val="300"/>
              </a:spcAft>
              <a:buNone/>
            </a:pPr>
            <a:r>
              <a:rPr sz="1700" b="1">
                <a:solidFill>
                  <a:srgbClr val="1F3864"/>
                </a:solidFill>
              </a:rPr>
              <a:t>Module 2: Preprocessing &amp; Quality Control</a:t>
            </a:r>
          </a:p>
          <a:p>
            <a:pPr lvl="1" algn="l">
              <a:spcAft>
                <a:spcPts val="300"/>
              </a:spcAft>
            </a:pPr>
            <a:r>
              <a:rPr sz="1400"/>
              <a:t>Range and spike checks: impossible values and DO spikes set to missing.</a:t>
            </a:r>
          </a:p>
          <a:p>
            <a:pPr lvl="1" algn="l">
              <a:spcAft>
                <a:spcPts val="300"/>
              </a:spcAft>
            </a:pPr>
            <a:r>
              <a:rPr sz="1400"/>
              <a:t>Missing-value flags recorded before filling; forward-fill ≤ 3 h, no interpolation (no future leakage).</a:t>
            </a:r>
          </a:p>
          <a:p>
            <a:pPr lvl="1" algn="l">
              <a:spcAft>
                <a:spcPts val="300"/>
              </a:spcAft>
            </a:pPr>
            <a:r>
              <a:rPr sz="1400"/>
              <a:t>Variables more than 50% missing in 2023 are dropped.</a:t>
            </a:r>
          </a:p>
          <a:p>
            <a:pPr marL="0" indent="0" algn="l">
              <a:spcAft>
                <a:spcPts val="300"/>
              </a:spcAft>
              <a:buNone/>
            </a:pPr>
            <a:r>
              <a:rPr sz="1700" b="1">
                <a:solidFill>
                  <a:srgbClr val="1F3864"/>
                </a:solidFill>
              </a:rPr>
              <a:t>Module 3: Feature &amp; Label Engineering</a:t>
            </a:r>
          </a:p>
          <a:p>
            <a:pPr lvl="1" algn="l">
              <a:spcAft>
                <a:spcPts val="300"/>
              </a:spcAft>
            </a:pPr>
            <a:r>
              <a:rPr sz="1400"/>
              <a:t>211 causal features: water 148, weather 39, air 16, time 5, station 3.</a:t>
            </a:r>
          </a:p>
          <a:p>
            <a:pPr lvl="1" algn="l">
              <a:spcAft>
                <a:spcPts val="300"/>
              </a:spcAft>
            </a:pPr>
            <a:r>
              <a:rPr sz="1400"/>
              <a:t>Targets for h = 6, 12, 24, 48 h: DO(t+h) in mg/L and class Low &lt; 5, Medium 5–7, Good &gt; 7 mg/L.</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12</a:t>
            </a:fld>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Module Description (4–6)</a:t>
            </a:r>
          </a:p>
        </p:txBody>
      </p:sp>
      <p:sp>
        <p:nvSpPr>
          <p:cNvPr id="3" name="Text Placeholder 2"/>
          <p:cNvSpPr>
            <a:spLocks noGrp="1"/>
          </p:cNvSpPr>
          <p:nvPr>
            <p:ph type="body" idx="1"/>
          </p:nvPr>
        </p:nvSpPr>
        <p:spPr>
          <a:xfrm>
            <a:off x="457200" y="1325880"/>
            <a:ext cx="8229600" cy="4937759"/>
          </a:xfrm>
        </p:spPr>
        <p:txBody>
          <a:bodyPr wrap="square"/>
          <a:lstStyle/>
          <a:p>
            <a:pPr marL="0" indent="0" algn="l">
              <a:spcAft>
                <a:spcPts val="300"/>
              </a:spcAft>
              <a:buNone/>
            </a:pPr>
            <a:r>
              <a:rPr sz="1700" b="1">
                <a:solidFill>
                  <a:srgbClr val="1F3864"/>
                </a:solidFill>
              </a:rPr>
              <a:t>Module 4: Base Model Training</a:t>
            </a:r>
          </a:p>
          <a:p>
            <a:pPr lvl="1" algn="l">
              <a:spcAft>
                <a:spcPts val="300"/>
              </a:spcAft>
            </a:pPr>
            <a:r>
              <a:rPr sz="1400"/>
              <a:t>RF (300 trees, balanced classes), XGBoost (hist, depth 8), LightGBM (63 leaves, balanced classes).</a:t>
            </a:r>
          </a:p>
          <a:p>
            <a:pPr lvl="1" algn="l">
              <a:spcAft>
                <a:spcPts val="300"/>
              </a:spcAft>
            </a:pPr>
            <a:r>
              <a:rPr sz="1400"/>
              <a:t>BiLSTM (72 h sequence + feature branch) and CNN-LSTM (Conv1D ×2 → LSTM); multi-task (DO + class), 3 seeds, RTX 3050 GPU.</a:t>
            </a:r>
          </a:p>
          <a:p>
            <a:pPr marL="0" indent="0" algn="l">
              <a:spcAft>
                <a:spcPts val="300"/>
              </a:spcAft>
              <a:buNone/>
            </a:pPr>
            <a:r>
              <a:rPr sz="1700" b="1">
                <a:solidFill>
                  <a:srgbClr val="1F3864"/>
                </a:solidFill>
              </a:rPr>
              <a:t>Module 5: Stacking Ensemble &amp; Warning Rule</a:t>
            </a:r>
          </a:p>
          <a:p>
            <a:pPr lvl="1" algn="l">
              <a:spcAft>
                <a:spcPts val="300"/>
              </a:spcAft>
            </a:pPr>
            <a:r>
              <a:rPr sz="1400"/>
              <a:t>Meta-learners fitted out-of-fold on 2024 (6 two-month folds, 14-day purge): Ridge → DO, multinomial logistic → class.</a:t>
            </a:r>
          </a:p>
          <a:p>
            <a:pPr lvl="1" algn="l">
              <a:spcAft>
                <a:spcPts val="300"/>
              </a:spcAft>
            </a:pPr>
            <a:r>
              <a:rPr sz="1400"/>
              <a:t>Warning when P(Low) ≥ τ_h; τ set for false alarms ≤ 2%; all settings frozen with 77 SHA-256 model hashes.</a:t>
            </a:r>
          </a:p>
          <a:p>
            <a:pPr marL="0" indent="0" algn="l">
              <a:spcAft>
                <a:spcPts val="300"/>
              </a:spcAft>
              <a:buNone/>
            </a:pPr>
            <a:r>
              <a:rPr sz="1700" b="1">
                <a:solidFill>
                  <a:srgbClr val="1F3864"/>
                </a:solidFill>
              </a:rPr>
              <a:t>Module 6: Evaluation &amp; Deployment</a:t>
            </a:r>
          </a:p>
          <a:p>
            <a:pPr lvl="1" algn="l">
              <a:spcAft>
                <a:spcPts val="300"/>
              </a:spcAft>
            </a:pPr>
            <a:r>
              <a:rPr sz="1400"/>
              <a:t>Regression: R², RMSE, MAE, NSE, skill vs persistence. Classification: accuracy, balanced accuracy, macro F1, ROC-AUC, class-wise P / R / F1.</a:t>
            </a:r>
          </a:p>
          <a:p>
            <a:pPr lvl="1" algn="l">
              <a:spcAft>
                <a:spcPts val="300"/>
              </a:spcAft>
            </a:pPr>
            <a:r>
              <a:rPr sz="1400"/>
              <a:t>Early warning: onset recall, false-alarm rate, lead time; bootstrap 95% CI; modality ablation.</a:t>
            </a:r>
          </a:p>
          <a:p>
            <a:pPr lvl="1" algn="l">
              <a:spcAft>
                <a:spcPts val="300"/>
              </a:spcAft>
            </a:pPr>
            <a:r>
              <a:rPr sz="1400"/>
              <a:t>Streamlit + FastAPI app: Overview, Predict, Monitor, Live, Results.</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13</a:t>
            </a:fld>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Algorithm 1: Causal Features &amp; Labels</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14</a:t>
            </a:fld>
            <a:endParaRPr lang="en-US" sz="1000"/>
          </a:p>
        </p:txBody>
      </p:sp>
      <p:sp>
        <p:nvSpPr>
          <p:cNvPr id="5" name="Rounded Rectangle 4"/>
          <p:cNvSpPr/>
          <p:nvPr/>
        </p:nvSpPr>
        <p:spPr>
          <a:xfrm>
            <a:off x="457200" y="1280160"/>
            <a:ext cx="8229600" cy="4937760"/>
          </a:xfrm>
          <a:prstGeom prst="roundRect">
            <a:avLst>
              <a:gd name="adj" fmla="val 3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71600"/>
            <a:ext cx="7863840" cy="4754880"/>
          </a:xfrm>
          <a:prstGeom prst="rect">
            <a:avLst/>
          </a:prstGeom>
          <a:noFill/>
        </p:spPr>
        <p:txBody>
          <a:bodyPr wrap="square">
            <a:spAutoFit/>
          </a:bodyPr>
          <a:lstStyle/>
          <a:p>
            <a:pPr>
              <a:spcAft>
                <a:spcPts val="600"/>
              </a:spcAft>
            </a:pPr>
            <a:r>
              <a:rPr sz="1500" b="1">
                <a:solidFill>
                  <a:srgbClr val="1F3864"/>
                </a:solidFill>
              </a:rPr>
              <a:t>Algorithm 1 — Causal Feature and Multi-Horizon Label Generation</a:t>
            </a:r>
          </a:p>
          <a:p>
            <a:pPr marL="0">
              <a:spcAft>
                <a:spcPts val="200"/>
              </a:spcAft>
            </a:pPr>
            <a:r>
              <a:rPr sz="1300" b="1"/>
              <a:t>Input:</a:t>
            </a:r>
            <a:r>
              <a:rPr sz="1300"/>
              <a:t> hourly series X_raw(s, t) for each station s; horizons H = {6, 12, 24, 48}</a:t>
            </a:r>
          </a:p>
          <a:p>
            <a:pPr marL="0">
              <a:spcAft>
                <a:spcPts val="200"/>
              </a:spcAft>
            </a:pPr>
            <a:r>
              <a:rPr sz="1300" b="1"/>
              <a:t>Output:</a:t>
            </a:r>
            <a:r>
              <a:rPr sz="1300"/>
              <a:t> feature vector x(s, t) ∈ R^211; targets y_reg(h), y_cls(h)</a:t>
            </a:r>
          </a:p>
          <a:p>
            <a:pPr marL="0">
              <a:spcAft>
                <a:spcPts val="200"/>
              </a:spcAft>
            </a:pPr>
            <a:r>
              <a:rPr sz="1300"/>
              <a:t>1. for each station s and hour t:</a:t>
            </a:r>
          </a:p>
          <a:p>
            <a:pPr marL="457200">
              <a:spcAft>
                <a:spcPts val="200"/>
              </a:spcAft>
            </a:pPr>
            <a:r>
              <a:rPr sz="1300"/>
              <a:t>2. Lags: DO, temperature, pH, conductivity, turbidity at t−1 … t−48</a:t>
            </a:r>
          </a:p>
          <a:p>
            <a:pPr marL="457200">
              <a:spcAft>
                <a:spcPts val="200"/>
              </a:spcAft>
            </a:pPr>
            <a:r>
              <a:rPr sz="1300"/>
              <a:t>3. Rolling mean / min / max / std over W ∈ {6, 24, 72} h, window ending at t</a:t>
            </a:r>
          </a:p>
          <a:p>
            <a:pPr marL="457200">
              <a:spcAft>
                <a:spcPts val="200"/>
              </a:spcAft>
            </a:pPr>
            <a:r>
              <a:rPr sz="1300"/>
              <a:t>4. DO_swing24 = max(DO[t−24 : t]) − min(DO[t−24 : t]);  hours_since_Low</a:t>
            </a:r>
          </a:p>
          <a:p>
            <a:pPr marL="457200">
              <a:spcAft>
                <a:spcPts val="200"/>
              </a:spcAft>
            </a:pPr>
            <a:r>
              <a:rPr sz="1300"/>
              <a:t>5. Weather and air: 24 h means; rain sums over 1, 3 and 7 days</a:t>
            </a:r>
          </a:p>
          <a:p>
            <a:pPr marL="457200">
              <a:spcAft>
                <a:spcPts val="200"/>
              </a:spcAft>
            </a:pPr>
            <a:r>
              <a:rPr sz="1300"/>
              <a:t>6. Time and station: sin / cos(hour), sin / cos(day of year), station id, lat / lon</a:t>
            </a:r>
          </a:p>
          <a:p>
            <a:pPr marL="457200">
              <a:spcAft>
                <a:spcPts val="200"/>
              </a:spcAft>
            </a:pPr>
            <a:r>
              <a:rPr sz="1300"/>
              <a:t>7. for each h ∈ H:</a:t>
            </a:r>
          </a:p>
          <a:p>
            <a:pPr marL="914400">
              <a:spcAft>
                <a:spcPts val="200"/>
              </a:spcAft>
            </a:pPr>
            <a:r>
              <a:rPr sz="1300"/>
              <a:t>8. y_reg(h) = DO(t + h)</a:t>
            </a:r>
          </a:p>
          <a:p>
            <a:pPr marL="914400">
              <a:spcAft>
                <a:spcPts val="200"/>
              </a:spcAft>
            </a:pPr>
            <a:r>
              <a:rPr sz="1300"/>
              <a:t>9. y_cls(h) = Low if DO(t+h) &lt; 5;  Medium if 5 ≤ DO(t+h) ≤ 7;  Good if DO(t+h) &gt; 7</a:t>
            </a:r>
          </a:p>
          <a:p>
            <a:pPr marL="0">
              <a:spcAft>
                <a:spcPts val="200"/>
              </a:spcAft>
            </a:pPr>
            <a:r>
              <a:rPr sz="1300"/>
              <a:t>10. return x(s, t), y_reg, y_cls     (only values at time ≤ t enter 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Algorithm 2: Stacking &amp; Warning Rule</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15</a:t>
            </a:fld>
            <a:endParaRPr lang="en-US" sz="1000"/>
          </a:p>
        </p:txBody>
      </p:sp>
      <p:sp>
        <p:nvSpPr>
          <p:cNvPr id="5" name="Rounded Rectangle 4"/>
          <p:cNvSpPr/>
          <p:nvPr/>
        </p:nvSpPr>
        <p:spPr>
          <a:xfrm>
            <a:off x="457200" y="1280160"/>
            <a:ext cx="8229600" cy="4937760"/>
          </a:xfrm>
          <a:prstGeom prst="roundRect">
            <a:avLst>
              <a:gd name="adj" fmla="val 3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71600"/>
            <a:ext cx="7863840" cy="4754880"/>
          </a:xfrm>
          <a:prstGeom prst="rect">
            <a:avLst/>
          </a:prstGeom>
          <a:noFill/>
        </p:spPr>
        <p:txBody>
          <a:bodyPr wrap="square">
            <a:spAutoFit/>
          </a:bodyPr>
          <a:lstStyle/>
          <a:p>
            <a:pPr>
              <a:spcAft>
                <a:spcPts val="600"/>
              </a:spcAft>
            </a:pPr>
            <a:r>
              <a:rPr sz="1500" b="1">
                <a:solidFill>
                  <a:srgbClr val="1F3864"/>
                </a:solidFill>
              </a:rPr>
              <a:t>Algorithm 2 — Proposed Stacking Ensemble with Early-Warning Rule</a:t>
            </a:r>
          </a:p>
          <a:p>
            <a:pPr marL="0">
              <a:spcAft>
                <a:spcPts val="200"/>
              </a:spcAft>
            </a:pPr>
            <a:r>
              <a:rPr sz="1300" b="1"/>
              <a:t>Input:</a:t>
            </a:r>
            <a:r>
              <a:rPr sz="1300"/>
              <a:t> D_train (2023), D_val (2024), D_test (2025); base models M1 … M5 (RF, XGB, LGBM, BiLSTM, CNN-LSTM)</a:t>
            </a:r>
          </a:p>
          <a:p>
            <a:pPr marL="0">
              <a:spcAft>
                <a:spcPts val="200"/>
              </a:spcAft>
            </a:pPr>
            <a:r>
              <a:rPr sz="1300" b="1"/>
              <a:t>Output:</a:t>
            </a:r>
            <a:r>
              <a:rPr sz="1300"/>
              <a:t> forecast DÔ_h, class probabilities p_h, warning W_h for each horizon h</a:t>
            </a:r>
          </a:p>
          <a:p>
            <a:pPr marL="0">
              <a:spcAft>
                <a:spcPts val="200"/>
              </a:spcAft>
            </a:pPr>
            <a:r>
              <a:rPr sz="1300"/>
              <a:t>1. Train M1 … M5 on D_train for every horizon h</a:t>
            </a:r>
          </a:p>
          <a:p>
            <a:pPr marL="0">
              <a:spcAft>
                <a:spcPts val="200"/>
              </a:spcAft>
            </a:pPr>
            <a:r>
              <a:rPr sz="1300"/>
              <a:t>2. Predict on D_val: DO forecasts ŷ_m,h and class probabilities p̂_m,h (m = 1 … 5)</a:t>
            </a:r>
          </a:p>
          <a:p>
            <a:pPr marL="0">
              <a:spcAft>
                <a:spcPts val="200"/>
              </a:spcAft>
            </a:pPr>
            <a:r>
              <a:rPr sz="1300"/>
              <a:t>3. Ridge meta-learner:  DÔ_h = β0 + Σ_m β_m · ŷ_m,h</a:t>
            </a:r>
          </a:p>
          <a:p>
            <a:pPr marL="0">
              <a:spcAft>
                <a:spcPts val="200"/>
              </a:spcAft>
            </a:pPr>
            <a:r>
              <a:rPr sz="1300"/>
              <a:t>4. Multinomial logistic meta-learner:  p_h = softmax(W · [p̂_1,h, …, p̂_5,h] + b)</a:t>
            </a:r>
          </a:p>
          <a:p>
            <a:pPr marL="0">
              <a:spcAft>
                <a:spcPts val="200"/>
              </a:spcAft>
            </a:pPr>
            <a:r>
              <a:rPr sz="1300"/>
              <a:t>5. Cross-fit steps 3–4 on 6 two-month folds of D_val with a 14-day purge → out-of-fold p_h</a:t>
            </a:r>
          </a:p>
          <a:p>
            <a:pPr marL="0">
              <a:spcAft>
                <a:spcPts val="200"/>
              </a:spcAft>
            </a:pPr>
            <a:r>
              <a:rPr sz="1300"/>
              <a:t>6. τ_h = lowest threshold with false-alarm rate ≤ 2% on out-of-fold p_h(Low)</a:t>
            </a:r>
          </a:p>
          <a:p>
            <a:pPr marL="0">
              <a:spcAft>
                <a:spcPts val="200"/>
              </a:spcAft>
            </a:pPr>
            <a:r>
              <a:rPr sz="1300"/>
              <a:t>7. Freeze β, W, τ_h and all model files (SHA-256 hashes in FROZEN.md)</a:t>
            </a:r>
          </a:p>
          <a:p>
            <a:pPr marL="0">
              <a:spcAft>
                <a:spcPts val="200"/>
              </a:spcAft>
            </a:pPr>
            <a:r>
              <a:rPr sz="1300"/>
              <a:t>8. On D_test, run once:</a:t>
            </a:r>
          </a:p>
          <a:p>
            <a:pPr marL="457200">
              <a:spcAft>
                <a:spcPts val="200"/>
              </a:spcAft>
            </a:pPr>
            <a:r>
              <a:rPr sz="1300"/>
              <a:t>class_h = Low if p_h(Low) ≥ τ_h, else argmax over {Medium, Good}</a:t>
            </a:r>
          </a:p>
          <a:p>
            <a:pPr marL="457200">
              <a:spcAft>
                <a:spcPts val="200"/>
              </a:spcAft>
            </a:pPr>
            <a:r>
              <a:rPr sz="1300"/>
              <a:t>W_h = 1 if p_h(Low) ≥ τ_h, else 0</a:t>
            </a:r>
          </a:p>
          <a:p>
            <a:pPr marL="0">
              <a:spcAft>
                <a:spcPts val="200"/>
              </a:spcAft>
            </a:pPr>
            <a:r>
              <a:rPr sz="1300"/>
              <a:t>9. return DÔ_h, class_h, W_h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Implementation Details</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16</a:t>
            </a:fld>
            <a:endParaRPr lang="en-US" sz="1000"/>
          </a:p>
        </p:txBody>
      </p:sp>
      <p:sp>
        <p:nvSpPr>
          <p:cNvPr id="5" name="TextBox 4"/>
          <p:cNvSpPr txBox="1"/>
          <p:nvPr/>
        </p:nvSpPr>
        <p:spPr>
          <a:xfrm>
            <a:off x="457200" y="1325880"/>
            <a:ext cx="3108960" cy="4846320"/>
          </a:xfrm>
          <a:prstGeom prst="rect">
            <a:avLst/>
          </a:prstGeom>
          <a:noFill/>
        </p:spPr>
        <p:txBody>
          <a:bodyPr wrap="square">
            <a:spAutoFit/>
          </a:bodyPr>
          <a:lstStyle/>
          <a:p>
            <a:pPr marL="228600" indent="-228600" algn="l">
              <a:spcAft>
                <a:spcPts val="400"/>
              </a:spcAft>
              <a:buChar char="•"/>
            </a:pPr>
            <a:r>
              <a:rPr sz="1300" b="1"/>
              <a:t>Language: </a:t>
            </a:r>
            <a:r>
              <a:rPr sz="1300"/>
              <a:t>Python 3.10</a:t>
            </a:r>
          </a:p>
          <a:p>
            <a:pPr marL="228600" indent="-228600" algn="l">
              <a:spcAft>
                <a:spcPts val="400"/>
              </a:spcAft>
              <a:buChar char="•"/>
            </a:pPr>
            <a:r>
              <a:rPr sz="1300" b="1"/>
              <a:t>Hardware: </a:t>
            </a:r>
            <a:r>
              <a:rPr sz="1300"/>
              <a:t>Windows laptop; NVIDIA RTX 3050 (6 GB) for DL models, all CPU cores for tree models</a:t>
            </a:r>
          </a:p>
          <a:p>
            <a:pPr marL="228600" indent="-228600" algn="l">
              <a:spcAft>
                <a:spcPts val="400"/>
              </a:spcAft>
              <a:buChar char="•"/>
            </a:pPr>
            <a:r>
              <a:rPr sz="1300" b="1"/>
              <a:t>ML: </a:t>
            </a:r>
            <a:r>
              <a:rPr sz="1300"/>
              <a:t>scikit-learn, XGBoost, LightGBM</a:t>
            </a:r>
          </a:p>
          <a:p>
            <a:pPr marL="228600" indent="-228600" algn="l">
              <a:spcAft>
                <a:spcPts val="400"/>
              </a:spcAft>
              <a:buChar char="•"/>
            </a:pPr>
            <a:r>
              <a:rPr sz="1300" b="1"/>
              <a:t>DL: </a:t>
            </a:r>
            <a:r>
              <a:rPr sz="1300"/>
              <a:t>PyTorch (CUDA)</a:t>
            </a:r>
          </a:p>
          <a:p>
            <a:pPr marL="228600" indent="-228600" algn="l">
              <a:spcAft>
                <a:spcPts val="400"/>
              </a:spcAft>
              <a:buChar char="•"/>
            </a:pPr>
            <a:r>
              <a:rPr sz="1300" b="1"/>
              <a:t>Data: </a:t>
            </a:r>
            <a:r>
              <a:rPr sz="1300"/>
              <a:t>pandas, NumPy, PyArrow (Parquet)</a:t>
            </a:r>
          </a:p>
          <a:p>
            <a:pPr marL="228600" indent="-228600" algn="l">
              <a:spcAft>
                <a:spcPts val="400"/>
              </a:spcAft>
              <a:buChar char="•"/>
            </a:pPr>
            <a:r>
              <a:rPr sz="1300" b="1"/>
              <a:t>Deployment: </a:t>
            </a:r>
            <a:r>
              <a:rPr sz="1300"/>
              <a:t>Streamlit, FastAPI</a:t>
            </a:r>
          </a:p>
          <a:p>
            <a:pPr marL="228600" indent="-228600" algn="l">
              <a:spcAft>
                <a:spcPts val="400"/>
              </a:spcAft>
              <a:buChar char="•"/>
            </a:pPr>
            <a:r>
              <a:rPr sz="1300" b="1"/>
              <a:t>Reproducibility: </a:t>
            </a:r>
            <a:r>
              <a:rPr sz="1300"/>
              <a:t>77 model files frozen with SHA-256 hashes; 2025 test scored once</a:t>
            </a:r>
          </a:p>
        </p:txBody>
      </p:sp>
      <p:graphicFrame>
        <p:nvGraphicFramePr>
          <p:cNvPr id="6" name="Table 5"/>
          <p:cNvGraphicFramePr>
            <a:graphicFrameLocks noGrp="1"/>
          </p:cNvGraphicFramePr>
          <p:nvPr/>
        </p:nvGraphicFramePr>
        <p:xfrm>
          <a:off x="3749039" y="1371600"/>
          <a:ext cx="4937759" cy="4526280"/>
        </p:xfrm>
        <a:graphic>
          <a:graphicData uri="http://schemas.openxmlformats.org/drawingml/2006/table">
            <a:tbl>
              <a:tblPr>
                <a:tableStyleId>{5940675A-B579-460E-94D1-54222C63F5DA}</a:tableStyleId>
              </a:tblPr>
              <a:tblGrid>
                <a:gridCol w="1283817">
                  <a:extLst>
                    <a:ext uri="{9D8B030D-6E8A-4147-A177-3AD203B41FA5}">
                      <a16:colId xmlns:a16="http://schemas.microsoft.com/office/drawing/2014/main" val="20000"/>
                    </a:ext>
                  </a:extLst>
                </a:gridCol>
                <a:gridCol w="691286">
                  <a:extLst>
                    <a:ext uri="{9D8B030D-6E8A-4147-A177-3AD203B41FA5}">
                      <a16:colId xmlns:a16="http://schemas.microsoft.com/office/drawing/2014/main" val="20001"/>
                    </a:ext>
                  </a:extLst>
                </a:gridCol>
                <a:gridCol w="2962656">
                  <a:extLst>
                    <a:ext uri="{9D8B030D-6E8A-4147-A177-3AD203B41FA5}">
                      <a16:colId xmlns:a16="http://schemas.microsoft.com/office/drawing/2014/main" val="20002"/>
                    </a:ext>
                  </a:extLst>
                </a:gridCol>
              </a:tblGrid>
              <a:tr h="502920">
                <a:tc>
                  <a:txBody>
                    <a:bodyPr/>
                    <a:lstStyle/>
                    <a:p>
                      <a:pPr algn="l"/>
                      <a:r>
                        <a:rPr sz="1100" b="1">
                          <a:solidFill>
                            <a:srgbClr val="FFFFFF"/>
                          </a:solidFill>
                        </a:rPr>
                        <a:t>Model</a:t>
                      </a:r>
                    </a:p>
                  </a:txBody>
                  <a:tcPr marL="45720" marR="45720" marT="18288" marB="18288" anchor="ctr">
                    <a:solidFill>
                      <a:srgbClr val="1F3864"/>
                    </a:solidFill>
                  </a:tcPr>
                </a:tc>
                <a:tc>
                  <a:txBody>
                    <a:bodyPr/>
                    <a:lstStyle/>
                    <a:p>
                      <a:pPr algn="ctr"/>
                      <a:r>
                        <a:rPr sz="1100" b="1">
                          <a:solidFill>
                            <a:srgbClr val="FFFFFF"/>
                          </a:solidFill>
                        </a:rPr>
                        <a:t>Type</a:t>
                      </a:r>
                    </a:p>
                  </a:txBody>
                  <a:tcPr marL="45720" marR="45720" marT="18288" marB="18288" anchor="ctr">
                    <a:solidFill>
                      <a:srgbClr val="1F3864"/>
                    </a:solidFill>
                  </a:tcPr>
                </a:tc>
                <a:tc>
                  <a:txBody>
                    <a:bodyPr/>
                    <a:lstStyle/>
                    <a:p>
                      <a:pPr algn="ctr"/>
                      <a:r>
                        <a:rPr sz="1100" b="1">
                          <a:solidFill>
                            <a:srgbClr val="FFFFFF"/>
                          </a:solidFill>
                        </a:rPr>
                        <a:t>Key configuration</a:t>
                      </a:r>
                    </a:p>
                  </a:txBody>
                  <a:tcPr marL="45720" marR="45720" marT="18288" marB="18288" anchor="ctr">
                    <a:solidFill>
                      <a:srgbClr val="1F3864"/>
                    </a:solidFill>
                  </a:tcPr>
                </a:tc>
                <a:extLst>
                  <a:ext uri="{0D108BD9-81ED-4DB2-BD59-A6C34878D82A}">
                    <a16:rowId xmlns:a16="http://schemas.microsoft.com/office/drawing/2014/main" val="10000"/>
                  </a:ext>
                </a:extLst>
              </a:tr>
              <a:tr h="502920">
                <a:tc>
                  <a:txBody>
                    <a:bodyPr/>
                    <a:lstStyle/>
                    <a:p>
                      <a:pPr algn="l"/>
                      <a:r>
                        <a:rPr sz="1100" b="1"/>
                        <a:t>Random Forest</a:t>
                      </a:r>
                    </a:p>
                  </a:txBody>
                  <a:tcPr marL="45720" marR="45720" marT="18288" marB="18288" anchor="ctr">
                    <a:solidFill>
                      <a:srgbClr val="FFFFFF"/>
                    </a:solidFill>
                  </a:tcPr>
                </a:tc>
                <a:tc>
                  <a:txBody>
                    <a:bodyPr/>
                    <a:lstStyle/>
                    <a:p>
                      <a:pPr algn="ctr"/>
                      <a:r>
                        <a:rPr sz="1100"/>
                        <a:t>ML</a:t>
                      </a:r>
                    </a:p>
                  </a:txBody>
                  <a:tcPr marL="45720" marR="45720" marT="18288" marB="18288" anchor="ctr">
                    <a:solidFill>
                      <a:srgbClr val="FFFFFF"/>
                    </a:solidFill>
                  </a:tcPr>
                </a:tc>
                <a:tc>
                  <a:txBody>
                    <a:bodyPr/>
                    <a:lstStyle/>
                    <a:p>
                      <a:pPr algn="ctr"/>
                      <a:r>
                        <a:rPr sz="1100"/>
                        <a:t>300 trees, balanced class weights</a:t>
                      </a:r>
                    </a:p>
                  </a:txBody>
                  <a:tcPr marL="45720" marR="45720" marT="18288" marB="18288" anchor="ctr">
                    <a:solidFill>
                      <a:srgbClr val="FFFFFF"/>
                    </a:solidFill>
                  </a:tcPr>
                </a:tc>
                <a:extLst>
                  <a:ext uri="{0D108BD9-81ED-4DB2-BD59-A6C34878D82A}">
                    <a16:rowId xmlns:a16="http://schemas.microsoft.com/office/drawing/2014/main" val="10001"/>
                  </a:ext>
                </a:extLst>
              </a:tr>
              <a:tr h="502920">
                <a:tc>
                  <a:txBody>
                    <a:bodyPr/>
                    <a:lstStyle/>
                    <a:p>
                      <a:pPr algn="l"/>
                      <a:r>
                        <a:rPr sz="1100" b="1"/>
                        <a:t>XGBoost</a:t>
                      </a:r>
                    </a:p>
                  </a:txBody>
                  <a:tcPr marL="45720" marR="45720" marT="18288" marB="18288" anchor="ctr">
                    <a:solidFill>
                      <a:srgbClr val="F2F4F8"/>
                    </a:solidFill>
                  </a:tcPr>
                </a:tc>
                <a:tc>
                  <a:txBody>
                    <a:bodyPr/>
                    <a:lstStyle/>
                    <a:p>
                      <a:pPr algn="ctr"/>
                      <a:r>
                        <a:rPr sz="1100"/>
                        <a:t>ML</a:t>
                      </a:r>
                    </a:p>
                  </a:txBody>
                  <a:tcPr marL="45720" marR="45720" marT="18288" marB="18288" anchor="ctr">
                    <a:solidFill>
                      <a:srgbClr val="F2F4F8"/>
                    </a:solidFill>
                  </a:tcPr>
                </a:tc>
                <a:tc>
                  <a:txBody>
                    <a:bodyPr/>
                    <a:lstStyle/>
                    <a:p>
                      <a:pPr algn="ctr"/>
                      <a:r>
                        <a:rPr sz="1100"/>
                        <a:t>hist tree method, max depth 8</a:t>
                      </a:r>
                    </a:p>
                  </a:txBody>
                  <a:tcPr marL="45720" marR="45720" marT="18288" marB="18288" anchor="ctr">
                    <a:solidFill>
                      <a:srgbClr val="F2F4F8"/>
                    </a:solidFill>
                  </a:tcPr>
                </a:tc>
                <a:extLst>
                  <a:ext uri="{0D108BD9-81ED-4DB2-BD59-A6C34878D82A}">
                    <a16:rowId xmlns:a16="http://schemas.microsoft.com/office/drawing/2014/main" val="10002"/>
                  </a:ext>
                </a:extLst>
              </a:tr>
              <a:tr h="502920">
                <a:tc>
                  <a:txBody>
                    <a:bodyPr/>
                    <a:lstStyle/>
                    <a:p>
                      <a:pPr algn="l"/>
                      <a:r>
                        <a:rPr sz="1100" b="1"/>
                        <a:t>LightGBM</a:t>
                      </a:r>
                    </a:p>
                  </a:txBody>
                  <a:tcPr marL="45720" marR="45720" marT="18288" marB="18288" anchor="ctr">
                    <a:solidFill>
                      <a:srgbClr val="FFFFFF"/>
                    </a:solidFill>
                  </a:tcPr>
                </a:tc>
                <a:tc>
                  <a:txBody>
                    <a:bodyPr/>
                    <a:lstStyle/>
                    <a:p>
                      <a:pPr algn="ctr"/>
                      <a:r>
                        <a:rPr sz="1100"/>
                        <a:t>ML</a:t>
                      </a:r>
                    </a:p>
                  </a:txBody>
                  <a:tcPr marL="45720" marR="45720" marT="18288" marB="18288" anchor="ctr">
                    <a:solidFill>
                      <a:srgbClr val="FFFFFF"/>
                    </a:solidFill>
                  </a:tcPr>
                </a:tc>
                <a:tc>
                  <a:txBody>
                    <a:bodyPr/>
                    <a:lstStyle/>
                    <a:p>
                      <a:pPr algn="ctr"/>
                      <a:r>
                        <a:rPr sz="1100"/>
                        <a:t>63 leaves, balanced class weights</a:t>
                      </a:r>
                    </a:p>
                  </a:txBody>
                  <a:tcPr marL="45720" marR="45720" marT="18288" marB="18288" anchor="ctr">
                    <a:solidFill>
                      <a:srgbClr val="FFFFFF"/>
                    </a:solidFill>
                  </a:tcPr>
                </a:tc>
                <a:extLst>
                  <a:ext uri="{0D108BD9-81ED-4DB2-BD59-A6C34878D82A}">
                    <a16:rowId xmlns:a16="http://schemas.microsoft.com/office/drawing/2014/main" val="10003"/>
                  </a:ext>
                </a:extLst>
              </a:tr>
              <a:tr h="502920">
                <a:tc>
                  <a:txBody>
                    <a:bodyPr/>
                    <a:lstStyle/>
                    <a:p>
                      <a:pPr algn="l"/>
                      <a:r>
                        <a:rPr sz="1100" b="1"/>
                        <a:t>BiLSTM</a:t>
                      </a:r>
                    </a:p>
                  </a:txBody>
                  <a:tcPr marL="45720" marR="45720" marT="18288" marB="18288" anchor="ctr">
                    <a:solidFill>
                      <a:srgbClr val="F2F4F8"/>
                    </a:solidFill>
                  </a:tcPr>
                </a:tc>
                <a:tc>
                  <a:txBody>
                    <a:bodyPr/>
                    <a:lstStyle/>
                    <a:p>
                      <a:pPr algn="ctr"/>
                      <a:r>
                        <a:rPr sz="1100"/>
                        <a:t>DL</a:t>
                      </a:r>
                    </a:p>
                  </a:txBody>
                  <a:tcPr marL="45720" marR="45720" marT="18288" marB="18288" anchor="ctr">
                    <a:solidFill>
                      <a:srgbClr val="F2F4F8"/>
                    </a:solidFill>
                  </a:tcPr>
                </a:tc>
                <a:tc>
                  <a:txBody>
                    <a:bodyPr/>
                    <a:lstStyle/>
                    <a:p>
                      <a:pPr algn="ctr"/>
                      <a:r>
                        <a:rPr sz="1100"/>
                        <a:t>72 h sequence + feature branch; multi-task; 3 seeds</a:t>
                      </a:r>
                    </a:p>
                  </a:txBody>
                  <a:tcPr marL="45720" marR="45720" marT="18288" marB="18288" anchor="ctr">
                    <a:solidFill>
                      <a:srgbClr val="F2F4F8"/>
                    </a:solidFill>
                  </a:tcPr>
                </a:tc>
                <a:extLst>
                  <a:ext uri="{0D108BD9-81ED-4DB2-BD59-A6C34878D82A}">
                    <a16:rowId xmlns:a16="http://schemas.microsoft.com/office/drawing/2014/main" val="10004"/>
                  </a:ext>
                </a:extLst>
              </a:tr>
              <a:tr h="502920">
                <a:tc>
                  <a:txBody>
                    <a:bodyPr/>
                    <a:lstStyle/>
                    <a:p>
                      <a:pPr algn="l"/>
                      <a:r>
                        <a:rPr sz="1100" b="1"/>
                        <a:t>CNN-LSTM</a:t>
                      </a:r>
                    </a:p>
                  </a:txBody>
                  <a:tcPr marL="45720" marR="45720" marT="18288" marB="18288" anchor="ctr">
                    <a:solidFill>
                      <a:srgbClr val="FFFFFF"/>
                    </a:solidFill>
                  </a:tcPr>
                </a:tc>
                <a:tc>
                  <a:txBody>
                    <a:bodyPr/>
                    <a:lstStyle/>
                    <a:p>
                      <a:pPr algn="ctr"/>
                      <a:r>
                        <a:rPr sz="1100"/>
                        <a:t>DL</a:t>
                      </a:r>
                    </a:p>
                  </a:txBody>
                  <a:tcPr marL="45720" marR="45720" marT="18288" marB="18288" anchor="ctr">
                    <a:solidFill>
                      <a:srgbClr val="FFFFFF"/>
                    </a:solidFill>
                  </a:tcPr>
                </a:tc>
                <a:tc>
                  <a:txBody>
                    <a:bodyPr/>
                    <a:lstStyle/>
                    <a:p>
                      <a:pPr algn="ctr"/>
                      <a:r>
                        <a:rPr sz="1100"/>
                        <a:t>Conv1D ×2 → LSTM; 72 h sequence; 3 seeds</a:t>
                      </a:r>
                    </a:p>
                  </a:txBody>
                  <a:tcPr marL="45720" marR="45720" marT="18288" marB="18288" anchor="ctr">
                    <a:solidFill>
                      <a:srgbClr val="FFFFFF"/>
                    </a:solidFill>
                  </a:tcPr>
                </a:tc>
                <a:extLst>
                  <a:ext uri="{0D108BD9-81ED-4DB2-BD59-A6C34878D82A}">
                    <a16:rowId xmlns:a16="http://schemas.microsoft.com/office/drawing/2014/main" val="10005"/>
                  </a:ext>
                </a:extLst>
              </a:tr>
              <a:tr h="502920">
                <a:tc>
                  <a:txBody>
                    <a:bodyPr/>
                    <a:lstStyle/>
                    <a:p>
                      <a:pPr algn="l"/>
                      <a:r>
                        <a:rPr sz="1100" b="1"/>
                        <a:t>Meta (DO)</a:t>
                      </a:r>
                    </a:p>
                  </a:txBody>
                  <a:tcPr marL="45720" marR="45720" marT="18288" marB="18288" anchor="ctr">
                    <a:solidFill>
                      <a:srgbClr val="F2F4F8"/>
                    </a:solidFill>
                  </a:tcPr>
                </a:tc>
                <a:tc>
                  <a:txBody>
                    <a:bodyPr/>
                    <a:lstStyle/>
                    <a:p>
                      <a:pPr algn="ctr"/>
                      <a:r>
                        <a:rPr sz="1100"/>
                        <a:t>Stack</a:t>
                      </a:r>
                    </a:p>
                  </a:txBody>
                  <a:tcPr marL="45720" marR="45720" marT="18288" marB="18288" anchor="ctr">
                    <a:solidFill>
                      <a:srgbClr val="F2F4F8"/>
                    </a:solidFill>
                  </a:tcPr>
                </a:tc>
                <a:tc>
                  <a:txBody>
                    <a:bodyPr/>
                    <a:lstStyle/>
                    <a:p>
                      <a:pPr algn="ctr"/>
                      <a:r>
                        <a:rPr sz="1100"/>
                        <a:t>Ridge regression</a:t>
                      </a:r>
                    </a:p>
                  </a:txBody>
                  <a:tcPr marL="45720" marR="45720" marT="18288" marB="18288" anchor="ctr">
                    <a:solidFill>
                      <a:srgbClr val="F2F4F8"/>
                    </a:solidFill>
                  </a:tcPr>
                </a:tc>
                <a:extLst>
                  <a:ext uri="{0D108BD9-81ED-4DB2-BD59-A6C34878D82A}">
                    <a16:rowId xmlns:a16="http://schemas.microsoft.com/office/drawing/2014/main" val="10006"/>
                  </a:ext>
                </a:extLst>
              </a:tr>
              <a:tr h="502920">
                <a:tc>
                  <a:txBody>
                    <a:bodyPr/>
                    <a:lstStyle/>
                    <a:p>
                      <a:pPr algn="l"/>
                      <a:r>
                        <a:rPr sz="1100" b="1"/>
                        <a:t>Meta (class)</a:t>
                      </a:r>
                    </a:p>
                  </a:txBody>
                  <a:tcPr marL="45720" marR="45720" marT="18288" marB="18288" anchor="ctr">
                    <a:solidFill>
                      <a:srgbClr val="FFFFFF"/>
                    </a:solidFill>
                  </a:tcPr>
                </a:tc>
                <a:tc>
                  <a:txBody>
                    <a:bodyPr/>
                    <a:lstStyle/>
                    <a:p>
                      <a:pPr algn="ctr"/>
                      <a:r>
                        <a:rPr sz="1100"/>
                        <a:t>Stack</a:t>
                      </a:r>
                    </a:p>
                  </a:txBody>
                  <a:tcPr marL="45720" marR="45720" marT="18288" marB="18288" anchor="ctr">
                    <a:solidFill>
                      <a:srgbClr val="FFFFFF"/>
                    </a:solidFill>
                  </a:tcPr>
                </a:tc>
                <a:tc>
                  <a:txBody>
                    <a:bodyPr/>
                    <a:lstStyle/>
                    <a:p>
                      <a:pPr algn="ctr"/>
                      <a:r>
                        <a:rPr sz="1100"/>
                        <a:t>Multinomial logistic regression</a:t>
                      </a:r>
                    </a:p>
                  </a:txBody>
                  <a:tcPr marL="45720" marR="45720" marT="18288" marB="18288" anchor="ctr">
                    <a:solidFill>
                      <a:srgbClr val="FFFFFF"/>
                    </a:solidFill>
                  </a:tcPr>
                </a:tc>
                <a:extLst>
                  <a:ext uri="{0D108BD9-81ED-4DB2-BD59-A6C34878D82A}">
                    <a16:rowId xmlns:a16="http://schemas.microsoft.com/office/drawing/2014/main" val="10007"/>
                  </a:ext>
                </a:extLst>
              </a:tr>
              <a:tr h="502920">
                <a:tc>
                  <a:txBody>
                    <a:bodyPr/>
                    <a:lstStyle/>
                    <a:p>
                      <a:pPr algn="l"/>
                      <a:r>
                        <a:rPr sz="1100" b="1"/>
                        <a:t>Warning rule</a:t>
                      </a:r>
                    </a:p>
                  </a:txBody>
                  <a:tcPr marL="45720" marR="45720" marT="18288" marB="18288" anchor="ctr">
                    <a:solidFill>
                      <a:srgbClr val="F2F4F8"/>
                    </a:solidFill>
                  </a:tcPr>
                </a:tc>
                <a:tc>
                  <a:txBody>
                    <a:bodyPr/>
                    <a:lstStyle/>
                    <a:p>
                      <a:pPr algn="ctr"/>
                      <a:r>
                        <a:rPr sz="1100"/>
                        <a:t>Stack</a:t>
                      </a:r>
                    </a:p>
                  </a:txBody>
                  <a:tcPr marL="45720" marR="45720" marT="18288" marB="18288" anchor="ctr">
                    <a:solidFill>
                      <a:srgbClr val="F2F4F8"/>
                    </a:solidFill>
                  </a:tcPr>
                </a:tc>
                <a:tc>
                  <a:txBody>
                    <a:bodyPr/>
                    <a:lstStyle/>
                    <a:p>
                      <a:pPr algn="ctr"/>
                      <a:r>
                        <a:rPr sz="1100"/>
                        <a:t>P(Low) ≥ τ_h; τ_24h = 0.24</a:t>
                      </a:r>
                    </a:p>
                  </a:txBody>
                  <a:tcPr marL="45720" marR="45720" marT="18288" marB="18288" anchor="ctr">
                    <a:solidFill>
                      <a:srgbClr val="F2F4F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Dataset Splits &amp; Class Distribution</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17</a:t>
            </a:fld>
            <a:endParaRPr lang="en-US" sz="1000"/>
          </a:p>
        </p:txBody>
      </p:sp>
      <p:sp>
        <p:nvSpPr>
          <p:cNvPr id="5" name="TextBox 4"/>
          <p:cNvSpPr txBox="1"/>
          <p:nvPr/>
        </p:nvSpPr>
        <p:spPr>
          <a:xfrm>
            <a:off x="457200" y="1234440"/>
            <a:ext cx="4114800" cy="320040"/>
          </a:xfrm>
          <a:prstGeom prst="rect">
            <a:avLst/>
          </a:prstGeom>
          <a:noFill/>
        </p:spPr>
        <p:txBody>
          <a:bodyPr wrap="square">
            <a:spAutoFit/>
          </a:bodyPr>
          <a:lstStyle/>
          <a:p>
            <a:pPr algn="l">
              <a:spcAft>
                <a:spcPts val="400"/>
              </a:spcAft>
            </a:pPr>
            <a:r>
              <a:rPr sz="1400" b="1">
                <a:solidFill>
                  <a:srgbClr val="1F3864"/>
                </a:solidFill>
              </a:rPr>
              <a:t>Chronological split (no shuffling)</a:t>
            </a:r>
          </a:p>
        </p:txBody>
      </p:sp>
      <p:graphicFrame>
        <p:nvGraphicFramePr>
          <p:cNvPr id="6" name="Table 5"/>
          <p:cNvGraphicFramePr>
            <a:graphicFrameLocks noGrp="1"/>
          </p:cNvGraphicFramePr>
          <p:nvPr/>
        </p:nvGraphicFramePr>
        <p:xfrm>
          <a:off x="457200" y="1600200"/>
          <a:ext cx="4114800" cy="2057400"/>
        </p:xfrm>
        <a:graphic>
          <a:graphicData uri="http://schemas.openxmlformats.org/drawingml/2006/table">
            <a:tbl>
              <a:tblPr>
                <a:tableStyleId>{5940675A-B579-460E-94D1-54222C63F5DA}</a:tableStyleId>
              </a:tblPr>
              <a:tblGrid>
                <a:gridCol w="6400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11480">
                <a:tc>
                  <a:txBody>
                    <a:bodyPr/>
                    <a:lstStyle/>
                    <a:p>
                      <a:pPr algn="l"/>
                      <a:r>
                        <a:rPr sz="1100" b="1">
                          <a:solidFill>
                            <a:srgbClr val="FFFFFF"/>
                          </a:solidFill>
                        </a:rPr>
                        <a:t>Year</a:t>
                      </a:r>
                    </a:p>
                  </a:txBody>
                  <a:tcPr marL="45720" marR="45720" marT="18288" marB="18288" anchor="ctr">
                    <a:solidFill>
                      <a:srgbClr val="1F3864"/>
                    </a:solidFill>
                  </a:tcPr>
                </a:tc>
                <a:tc>
                  <a:txBody>
                    <a:bodyPr/>
                    <a:lstStyle/>
                    <a:p>
                      <a:pPr algn="ctr"/>
                      <a:r>
                        <a:rPr sz="1100" b="1">
                          <a:solidFill>
                            <a:srgbClr val="FFFFFF"/>
                          </a:solidFill>
                        </a:rPr>
                        <a:t>Role</a:t>
                      </a:r>
                    </a:p>
                  </a:txBody>
                  <a:tcPr marL="45720" marR="45720" marT="18288" marB="18288" anchor="ctr">
                    <a:solidFill>
                      <a:srgbClr val="1F3864"/>
                    </a:solidFill>
                  </a:tcPr>
                </a:tc>
                <a:tc>
                  <a:txBody>
                    <a:bodyPr/>
                    <a:lstStyle/>
                    <a:p>
                      <a:pPr algn="ctr"/>
                      <a:r>
                        <a:rPr sz="1100" b="1">
                          <a:solidFill>
                            <a:srgbClr val="FFFFFF"/>
                          </a:solidFill>
                        </a:rPr>
                        <a:t>Size / use</a:t>
                      </a:r>
                    </a:p>
                  </a:txBody>
                  <a:tcPr marL="45720" marR="45720" marT="18288" marB="18288" anchor="ctr">
                    <a:solidFill>
                      <a:srgbClr val="1F3864"/>
                    </a:solidFill>
                  </a:tcPr>
                </a:tc>
                <a:extLst>
                  <a:ext uri="{0D108BD9-81ED-4DB2-BD59-A6C34878D82A}">
                    <a16:rowId xmlns:a16="http://schemas.microsoft.com/office/drawing/2014/main" val="10000"/>
                  </a:ext>
                </a:extLst>
              </a:tr>
              <a:tr h="411480">
                <a:tc>
                  <a:txBody>
                    <a:bodyPr/>
                    <a:lstStyle/>
                    <a:p>
                      <a:pPr algn="l"/>
                      <a:r>
                        <a:rPr sz="1100" b="1"/>
                        <a:t>2023</a:t>
                      </a:r>
                    </a:p>
                  </a:txBody>
                  <a:tcPr marL="45720" marR="45720" marT="18288" marB="18288" anchor="ctr">
                    <a:solidFill>
                      <a:srgbClr val="FFFFFF"/>
                    </a:solidFill>
                  </a:tcPr>
                </a:tc>
                <a:tc>
                  <a:txBody>
                    <a:bodyPr/>
                    <a:lstStyle/>
                    <a:p>
                      <a:pPr algn="ctr"/>
                      <a:r>
                        <a:rPr sz="1100"/>
                        <a:t>Train</a:t>
                      </a:r>
                    </a:p>
                  </a:txBody>
                  <a:tcPr marL="45720" marR="45720" marT="18288" marB="18288" anchor="ctr">
                    <a:solidFill>
                      <a:srgbClr val="FFFFFF"/>
                    </a:solidFill>
                  </a:tcPr>
                </a:tc>
                <a:tc>
                  <a:txBody>
                    <a:bodyPr/>
                    <a:lstStyle/>
                    <a:p>
                      <a:pPr algn="ctr"/>
                      <a:r>
                        <a:rPr sz="1100"/>
                        <a:t>255,233 rows; base models fitted</a:t>
                      </a:r>
                    </a:p>
                  </a:txBody>
                  <a:tcPr marL="45720" marR="45720" marT="18288" marB="18288" anchor="ctr">
                    <a:solidFill>
                      <a:srgbClr val="FFFFFF"/>
                    </a:solidFill>
                  </a:tcPr>
                </a:tc>
                <a:extLst>
                  <a:ext uri="{0D108BD9-81ED-4DB2-BD59-A6C34878D82A}">
                    <a16:rowId xmlns:a16="http://schemas.microsoft.com/office/drawing/2014/main" val="10001"/>
                  </a:ext>
                </a:extLst>
              </a:tr>
              <a:tr h="411480">
                <a:tc>
                  <a:txBody>
                    <a:bodyPr/>
                    <a:lstStyle/>
                    <a:p>
                      <a:pPr algn="l"/>
                      <a:r>
                        <a:rPr sz="1100" b="1"/>
                        <a:t>2024</a:t>
                      </a:r>
                    </a:p>
                  </a:txBody>
                  <a:tcPr marL="45720" marR="45720" marT="18288" marB="18288" anchor="ctr">
                    <a:solidFill>
                      <a:srgbClr val="F2F4F8"/>
                    </a:solidFill>
                  </a:tcPr>
                </a:tc>
                <a:tc>
                  <a:txBody>
                    <a:bodyPr/>
                    <a:lstStyle/>
                    <a:p>
                      <a:pPr algn="ctr"/>
                      <a:r>
                        <a:rPr sz="1100"/>
                        <a:t>Validation</a:t>
                      </a:r>
                    </a:p>
                  </a:txBody>
                  <a:tcPr marL="45720" marR="45720" marT="18288" marB="18288" anchor="ctr">
                    <a:solidFill>
                      <a:srgbClr val="F2F4F8"/>
                    </a:solidFill>
                  </a:tcPr>
                </a:tc>
                <a:tc>
                  <a:txBody>
                    <a:bodyPr/>
                    <a:lstStyle/>
                    <a:p>
                      <a:pPr algn="ctr"/>
                      <a:r>
                        <a:rPr sz="1100"/>
                        <a:t>tuning, stacking, τ</a:t>
                      </a:r>
                    </a:p>
                  </a:txBody>
                  <a:tcPr marL="45720" marR="45720" marT="18288" marB="18288" anchor="ctr">
                    <a:solidFill>
                      <a:srgbClr val="F2F4F8"/>
                    </a:solidFill>
                  </a:tcPr>
                </a:tc>
                <a:extLst>
                  <a:ext uri="{0D108BD9-81ED-4DB2-BD59-A6C34878D82A}">
                    <a16:rowId xmlns:a16="http://schemas.microsoft.com/office/drawing/2014/main" val="10002"/>
                  </a:ext>
                </a:extLst>
              </a:tr>
              <a:tr h="411480">
                <a:tc>
                  <a:txBody>
                    <a:bodyPr/>
                    <a:lstStyle/>
                    <a:p>
                      <a:pPr algn="l"/>
                      <a:r>
                        <a:rPr sz="1100" b="1"/>
                        <a:t>2025</a:t>
                      </a:r>
                    </a:p>
                  </a:txBody>
                  <a:tcPr marL="45720" marR="45720" marT="18288" marB="18288" anchor="ctr">
                    <a:solidFill>
                      <a:srgbClr val="FFFFFF"/>
                    </a:solidFill>
                  </a:tcPr>
                </a:tc>
                <a:tc>
                  <a:txBody>
                    <a:bodyPr/>
                    <a:lstStyle/>
                    <a:p>
                      <a:pPr algn="ctr"/>
                      <a:r>
                        <a:rPr sz="1100"/>
                        <a:t>Test</a:t>
                      </a:r>
                    </a:p>
                  </a:txBody>
                  <a:tcPr marL="45720" marR="45720" marT="18288" marB="18288" anchor="ctr">
                    <a:solidFill>
                      <a:srgbClr val="FFFFFF"/>
                    </a:solidFill>
                  </a:tcPr>
                </a:tc>
                <a:tc>
                  <a:txBody>
                    <a:bodyPr/>
                    <a:lstStyle/>
                    <a:p>
                      <a:pPr algn="ctr"/>
                      <a:r>
                        <a:rPr sz="1100"/>
                        <a:t>≈ 251,000 forecasts per horizon; scored once</a:t>
                      </a:r>
                    </a:p>
                  </a:txBody>
                  <a:tcPr marL="45720" marR="45720" marT="18288" marB="18288" anchor="ctr">
                    <a:solidFill>
                      <a:srgbClr val="FFFFFF"/>
                    </a:solidFill>
                  </a:tcPr>
                </a:tc>
                <a:extLst>
                  <a:ext uri="{0D108BD9-81ED-4DB2-BD59-A6C34878D82A}">
                    <a16:rowId xmlns:a16="http://schemas.microsoft.com/office/drawing/2014/main" val="10003"/>
                  </a:ext>
                </a:extLst>
              </a:tr>
              <a:tr h="411480">
                <a:tc>
                  <a:txBody>
                    <a:bodyPr/>
                    <a:lstStyle/>
                    <a:p>
                      <a:pPr algn="l"/>
                      <a:r>
                        <a:rPr sz="1100" b="1"/>
                        <a:t>2026</a:t>
                      </a:r>
                    </a:p>
                  </a:txBody>
                  <a:tcPr marL="45720" marR="45720" marT="18288" marB="18288" anchor="ctr">
                    <a:solidFill>
                      <a:srgbClr val="F2F4F8"/>
                    </a:solidFill>
                  </a:tcPr>
                </a:tc>
                <a:tc>
                  <a:txBody>
                    <a:bodyPr/>
                    <a:lstStyle/>
                    <a:p>
                      <a:pPr algn="ctr"/>
                      <a:r>
                        <a:rPr sz="1100"/>
                        <a:t>Live check</a:t>
                      </a:r>
                    </a:p>
                  </a:txBody>
                  <a:tcPr marL="45720" marR="45720" marT="18288" marB="18288" anchor="ctr">
                    <a:solidFill>
                      <a:srgbClr val="F2F4F8"/>
                    </a:solidFill>
                  </a:tcPr>
                </a:tc>
                <a:tc>
                  <a:txBody>
                    <a:bodyPr/>
                    <a:lstStyle/>
                    <a:p>
                      <a:pPr algn="ctr"/>
                      <a:r>
                        <a:rPr sz="1100"/>
                        <a:t>deployed models on live USGS data</a:t>
                      </a:r>
                    </a:p>
                  </a:txBody>
                  <a:tcPr marL="45720" marR="45720" marT="18288" marB="18288" anchor="ctr">
                    <a:solidFill>
                      <a:srgbClr val="F2F4F8"/>
                    </a:solidFill>
                  </a:tcPr>
                </a:tc>
                <a:extLst>
                  <a:ext uri="{0D108BD9-81ED-4DB2-BD59-A6C34878D82A}">
                    <a16:rowId xmlns:a16="http://schemas.microsoft.com/office/drawing/2014/main" val="10004"/>
                  </a:ext>
                </a:extLst>
              </a:tr>
            </a:tbl>
          </a:graphicData>
        </a:graphic>
      </p:graphicFrame>
      <p:graphicFrame>
        <p:nvGraphicFramePr>
          <p:cNvPr id="7" name="Chart 6"/>
          <p:cNvGraphicFramePr>
            <a:graphicFrameLocks noGrp="1"/>
          </p:cNvGraphicFramePr>
          <p:nvPr/>
        </p:nvGraphicFramePr>
        <p:xfrm>
          <a:off x="4846320" y="1234440"/>
          <a:ext cx="3931920" cy="242316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457200" y="3840480"/>
            <a:ext cx="8229600" cy="320040"/>
          </a:xfrm>
          <a:prstGeom prst="rect">
            <a:avLst/>
          </a:prstGeom>
          <a:noFill/>
        </p:spPr>
        <p:txBody>
          <a:bodyPr wrap="square">
            <a:spAutoFit/>
          </a:bodyPr>
          <a:lstStyle/>
          <a:p>
            <a:pPr algn="l">
              <a:spcAft>
                <a:spcPts val="400"/>
              </a:spcAft>
            </a:pPr>
            <a:r>
              <a:rPr sz="1400" b="1">
                <a:solidFill>
                  <a:srgbClr val="1F3864"/>
                </a:solidFill>
              </a:rPr>
              <a:t>Class distribution of the 2025 test year (actual class, all 30 stations)</a:t>
            </a:r>
          </a:p>
        </p:txBody>
      </p:sp>
      <p:graphicFrame>
        <p:nvGraphicFramePr>
          <p:cNvPr id="9" name="Table 8"/>
          <p:cNvGraphicFramePr>
            <a:graphicFrameLocks noGrp="1"/>
          </p:cNvGraphicFramePr>
          <p:nvPr/>
        </p:nvGraphicFramePr>
        <p:xfrm>
          <a:off x="457200" y="4206240"/>
          <a:ext cx="8229598" cy="1737360"/>
        </p:xfrm>
        <a:graphic>
          <a:graphicData uri="http://schemas.openxmlformats.org/drawingml/2006/table">
            <a:tbl>
              <a:tblPr>
                <a:tableStyleId>{5940675A-B579-460E-94D1-54222C63F5DA}</a:tableStyleId>
              </a:tblPr>
              <a:tblGrid>
                <a:gridCol w="979714">
                  <a:extLst>
                    <a:ext uri="{9D8B030D-6E8A-4147-A177-3AD203B41FA5}">
                      <a16:colId xmlns:a16="http://schemas.microsoft.com/office/drawing/2014/main" val="20000"/>
                    </a:ext>
                  </a:extLst>
                </a:gridCol>
                <a:gridCol w="1959428">
                  <a:extLst>
                    <a:ext uri="{9D8B030D-6E8A-4147-A177-3AD203B41FA5}">
                      <a16:colId xmlns:a16="http://schemas.microsoft.com/office/drawing/2014/main" val="20001"/>
                    </a:ext>
                  </a:extLst>
                </a:gridCol>
                <a:gridCol w="1959428">
                  <a:extLst>
                    <a:ext uri="{9D8B030D-6E8A-4147-A177-3AD203B41FA5}">
                      <a16:colId xmlns:a16="http://schemas.microsoft.com/office/drawing/2014/main" val="20002"/>
                    </a:ext>
                  </a:extLst>
                </a:gridCol>
                <a:gridCol w="1959428">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47472">
                <a:tc>
                  <a:txBody>
                    <a:bodyPr/>
                    <a:lstStyle/>
                    <a:p>
                      <a:pPr algn="l"/>
                      <a:r>
                        <a:rPr sz="1100" b="1">
                          <a:solidFill>
                            <a:srgbClr val="FFFFFF"/>
                          </a:solidFill>
                        </a:rPr>
                        <a:t>Horizon</a:t>
                      </a:r>
                    </a:p>
                  </a:txBody>
                  <a:tcPr marL="45720" marR="45720" marT="18288" marB="18288" anchor="ctr">
                    <a:solidFill>
                      <a:srgbClr val="1F3864"/>
                    </a:solidFill>
                  </a:tcPr>
                </a:tc>
                <a:tc>
                  <a:txBody>
                    <a:bodyPr/>
                    <a:lstStyle/>
                    <a:p>
                      <a:pPr algn="ctr"/>
                      <a:r>
                        <a:rPr sz="1100" b="1">
                          <a:solidFill>
                            <a:srgbClr val="FFFFFF"/>
                          </a:solidFill>
                        </a:rPr>
                        <a:t>Low (&lt; 5 mg/L)</a:t>
                      </a:r>
                    </a:p>
                  </a:txBody>
                  <a:tcPr marL="45720" marR="45720" marT="18288" marB="18288" anchor="ctr">
                    <a:solidFill>
                      <a:srgbClr val="1F3864"/>
                    </a:solidFill>
                  </a:tcPr>
                </a:tc>
                <a:tc>
                  <a:txBody>
                    <a:bodyPr/>
                    <a:lstStyle/>
                    <a:p>
                      <a:pPr algn="ctr"/>
                      <a:r>
                        <a:rPr sz="1100" b="1">
                          <a:solidFill>
                            <a:srgbClr val="FFFFFF"/>
                          </a:solidFill>
                        </a:rPr>
                        <a:t>Medium (5–7 mg/L)</a:t>
                      </a:r>
                    </a:p>
                  </a:txBody>
                  <a:tcPr marL="45720" marR="45720" marT="18288" marB="18288" anchor="ctr">
                    <a:solidFill>
                      <a:srgbClr val="1F3864"/>
                    </a:solidFill>
                  </a:tcPr>
                </a:tc>
                <a:tc>
                  <a:txBody>
                    <a:bodyPr/>
                    <a:lstStyle/>
                    <a:p>
                      <a:pPr algn="ctr"/>
                      <a:r>
                        <a:rPr sz="1100" b="1">
                          <a:solidFill>
                            <a:srgbClr val="FFFFFF"/>
                          </a:solidFill>
                        </a:rPr>
                        <a:t>Good (&gt; 7 mg/L)</a:t>
                      </a:r>
                    </a:p>
                  </a:txBody>
                  <a:tcPr marL="45720" marR="45720" marT="18288" marB="18288" anchor="ctr">
                    <a:solidFill>
                      <a:srgbClr val="1F3864"/>
                    </a:solidFill>
                  </a:tcPr>
                </a:tc>
                <a:tc>
                  <a:txBody>
                    <a:bodyPr/>
                    <a:lstStyle/>
                    <a:p>
                      <a:pPr algn="ctr"/>
                      <a:r>
                        <a:rPr sz="1100" b="1">
                          <a:solidFill>
                            <a:srgbClr val="FFFFFF"/>
                          </a:solidFill>
                        </a:rPr>
                        <a:t>Total</a:t>
                      </a:r>
                    </a:p>
                  </a:txBody>
                  <a:tcPr marL="45720" marR="45720" marT="18288" marB="18288" anchor="ctr">
                    <a:solidFill>
                      <a:srgbClr val="1F3864"/>
                    </a:solidFill>
                  </a:tcPr>
                </a:tc>
                <a:extLst>
                  <a:ext uri="{0D108BD9-81ED-4DB2-BD59-A6C34878D82A}">
                    <a16:rowId xmlns:a16="http://schemas.microsoft.com/office/drawing/2014/main" val="10000"/>
                  </a:ext>
                </a:extLst>
              </a:tr>
              <a:tr h="347472">
                <a:tc>
                  <a:txBody>
                    <a:bodyPr/>
                    <a:lstStyle/>
                    <a:p>
                      <a:pPr algn="l"/>
                      <a:r>
                        <a:rPr sz="1100" b="1"/>
                        <a:t>6 h</a:t>
                      </a:r>
                    </a:p>
                  </a:txBody>
                  <a:tcPr marL="45720" marR="45720" marT="18288" marB="18288" anchor="ctr">
                    <a:solidFill>
                      <a:srgbClr val="FFFFFF"/>
                    </a:solidFill>
                  </a:tcPr>
                </a:tc>
                <a:tc>
                  <a:txBody>
                    <a:bodyPr/>
                    <a:lstStyle/>
                    <a:p>
                      <a:pPr algn="ctr"/>
                      <a:r>
                        <a:rPr sz="1100"/>
                        <a:t>49,787 (19.7%)</a:t>
                      </a:r>
                    </a:p>
                  </a:txBody>
                  <a:tcPr marL="45720" marR="45720" marT="18288" marB="18288" anchor="ctr">
                    <a:solidFill>
                      <a:srgbClr val="FFFFFF"/>
                    </a:solidFill>
                  </a:tcPr>
                </a:tc>
                <a:tc>
                  <a:txBody>
                    <a:bodyPr/>
                    <a:lstStyle/>
                    <a:p>
                      <a:pPr algn="ctr"/>
                      <a:r>
                        <a:rPr sz="1100"/>
                        <a:t>63,003 (24.9%)</a:t>
                      </a:r>
                    </a:p>
                  </a:txBody>
                  <a:tcPr marL="45720" marR="45720" marT="18288" marB="18288" anchor="ctr">
                    <a:solidFill>
                      <a:srgbClr val="FFFFFF"/>
                    </a:solidFill>
                  </a:tcPr>
                </a:tc>
                <a:tc>
                  <a:txBody>
                    <a:bodyPr/>
                    <a:lstStyle/>
                    <a:p>
                      <a:pPr algn="ctr"/>
                      <a:r>
                        <a:rPr sz="1100"/>
                        <a:t>140,110 (55.4%)</a:t>
                      </a:r>
                    </a:p>
                  </a:txBody>
                  <a:tcPr marL="45720" marR="45720" marT="18288" marB="18288" anchor="ctr">
                    <a:solidFill>
                      <a:srgbClr val="FFFFFF"/>
                    </a:solidFill>
                  </a:tcPr>
                </a:tc>
                <a:tc>
                  <a:txBody>
                    <a:bodyPr/>
                    <a:lstStyle/>
                    <a:p>
                      <a:pPr algn="ctr"/>
                      <a:r>
                        <a:rPr sz="1100"/>
                        <a:t>252,900</a:t>
                      </a:r>
                    </a:p>
                  </a:txBody>
                  <a:tcPr marL="45720" marR="45720" marT="18288" marB="18288" anchor="ctr">
                    <a:solidFill>
                      <a:srgbClr val="FFFFFF"/>
                    </a:solidFill>
                  </a:tcPr>
                </a:tc>
                <a:extLst>
                  <a:ext uri="{0D108BD9-81ED-4DB2-BD59-A6C34878D82A}">
                    <a16:rowId xmlns:a16="http://schemas.microsoft.com/office/drawing/2014/main" val="10001"/>
                  </a:ext>
                </a:extLst>
              </a:tr>
              <a:tr h="347472">
                <a:tc>
                  <a:txBody>
                    <a:bodyPr/>
                    <a:lstStyle/>
                    <a:p>
                      <a:pPr algn="l"/>
                      <a:r>
                        <a:rPr sz="1100" b="1"/>
                        <a:t>12 h</a:t>
                      </a:r>
                    </a:p>
                  </a:txBody>
                  <a:tcPr marL="45720" marR="45720" marT="18288" marB="18288" anchor="ctr">
                    <a:solidFill>
                      <a:srgbClr val="F2F4F8"/>
                    </a:solidFill>
                  </a:tcPr>
                </a:tc>
                <a:tc>
                  <a:txBody>
                    <a:bodyPr/>
                    <a:lstStyle/>
                    <a:p>
                      <a:pPr algn="ctr"/>
                      <a:r>
                        <a:rPr sz="1100"/>
                        <a:t>49,724 (19.7%)</a:t>
                      </a:r>
                    </a:p>
                  </a:txBody>
                  <a:tcPr marL="45720" marR="45720" marT="18288" marB="18288" anchor="ctr">
                    <a:solidFill>
                      <a:srgbClr val="F2F4F8"/>
                    </a:solidFill>
                  </a:tcPr>
                </a:tc>
                <a:tc>
                  <a:txBody>
                    <a:bodyPr/>
                    <a:lstStyle/>
                    <a:p>
                      <a:pPr algn="ctr"/>
                      <a:r>
                        <a:rPr sz="1100"/>
                        <a:t>62,944 (24.9%)</a:t>
                      </a:r>
                    </a:p>
                  </a:txBody>
                  <a:tcPr marL="45720" marR="45720" marT="18288" marB="18288" anchor="ctr">
                    <a:solidFill>
                      <a:srgbClr val="F2F4F8"/>
                    </a:solidFill>
                  </a:tcPr>
                </a:tc>
                <a:tc>
                  <a:txBody>
                    <a:bodyPr/>
                    <a:lstStyle/>
                    <a:p>
                      <a:pPr algn="ctr"/>
                      <a:r>
                        <a:rPr sz="1100"/>
                        <a:t>139,779 (55.4%)</a:t>
                      </a:r>
                    </a:p>
                  </a:txBody>
                  <a:tcPr marL="45720" marR="45720" marT="18288" marB="18288" anchor="ctr">
                    <a:solidFill>
                      <a:srgbClr val="F2F4F8"/>
                    </a:solidFill>
                  </a:tcPr>
                </a:tc>
                <a:tc>
                  <a:txBody>
                    <a:bodyPr/>
                    <a:lstStyle/>
                    <a:p>
                      <a:pPr algn="ctr"/>
                      <a:r>
                        <a:rPr sz="1100"/>
                        <a:t>252,447</a:t>
                      </a:r>
                    </a:p>
                  </a:txBody>
                  <a:tcPr marL="45720" marR="45720" marT="18288" marB="18288" anchor="ctr">
                    <a:solidFill>
                      <a:srgbClr val="F2F4F8"/>
                    </a:solidFill>
                  </a:tcPr>
                </a:tc>
                <a:extLst>
                  <a:ext uri="{0D108BD9-81ED-4DB2-BD59-A6C34878D82A}">
                    <a16:rowId xmlns:a16="http://schemas.microsoft.com/office/drawing/2014/main" val="10002"/>
                  </a:ext>
                </a:extLst>
              </a:tr>
              <a:tr h="347472">
                <a:tc>
                  <a:txBody>
                    <a:bodyPr/>
                    <a:lstStyle/>
                    <a:p>
                      <a:pPr algn="l"/>
                      <a:r>
                        <a:rPr sz="1100" b="1"/>
                        <a:t>24 h</a:t>
                      </a:r>
                    </a:p>
                  </a:txBody>
                  <a:tcPr marL="45720" marR="45720" marT="18288" marB="18288" anchor="ctr">
                    <a:solidFill>
                      <a:srgbClr val="FFFFFF"/>
                    </a:solidFill>
                  </a:tcPr>
                </a:tc>
                <a:tc>
                  <a:txBody>
                    <a:bodyPr/>
                    <a:lstStyle/>
                    <a:p>
                      <a:pPr algn="ctr"/>
                      <a:r>
                        <a:rPr sz="1100"/>
                        <a:t>49,655 (19.7%)</a:t>
                      </a:r>
                    </a:p>
                  </a:txBody>
                  <a:tcPr marL="45720" marR="45720" marT="18288" marB="18288" anchor="ctr">
                    <a:solidFill>
                      <a:srgbClr val="FFFFFF"/>
                    </a:solidFill>
                  </a:tcPr>
                </a:tc>
                <a:tc>
                  <a:txBody>
                    <a:bodyPr/>
                    <a:lstStyle/>
                    <a:p>
                      <a:pPr algn="ctr"/>
                      <a:r>
                        <a:rPr sz="1100"/>
                        <a:t>62,782 (24.9%)</a:t>
                      </a:r>
                    </a:p>
                  </a:txBody>
                  <a:tcPr marL="45720" marR="45720" marT="18288" marB="18288" anchor="ctr">
                    <a:solidFill>
                      <a:srgbClr val="FFFFFF"/>
                    </a:solidFill>
                  </a:tcPr>
                </a:tc>
                <a:tc>
                  <a:txBody>
                    <a:bodyPr/>
                    <a:lstStyle/>
                    <a:p>
                      <a:pPr algn="ctr"/>
                      <a:r>
                        <a:rPr sz="1100"/>
                        <a:t>139,234 (55.3%)</a:t>
                      </a:r>
                    </a:p>
                  </a:txBody>
                  <a:tcPr marL="45720" marR="45720" marT="18288" marB="18288" anchor="ctr">
                    <a:solidFill>
                      <a:srgbClr val="FFFFFF"/>
                    </a:solidFill>
                  </a:tcPr>
                </a:tc>
                <a:tc>
                  <a:txBody>
                    <a:bodyPr/>
                    <a:lstStyle/>
                    <a:p>
                      <a:pPr algn="ctr"/>
                      <a:r>
                        <a:rPr sz="1100"/>
                        <a:t>251,671</a:t>
                      </a:r>
                    </a:p>
                  </a:txBody>
                  <a:tcPr marL="45720" marR="45720" marT="18288" marB="18288" anchor="ctr">
                    <a:solidFill>
                      <a:srgbClr val="FFFFFF"/>
                    </a:solidFill>
                  </a:tcPr>
                </a:tc>
                <a:extLst>
                  <a:ext uri="{0D108BD9-81ED-4DB2-BD59-A6C34878D82A}">
                    <a16:rowId xmlns:a16="http://schemas.microsoft.com/office/drawing/2014/main" val="10003"/>
                  </a:ext>
                </a:extLst>
              </a:tr>
              <a:tr h="347472">
                <a:tc>
                  <a:txBody>
                    <a:bodyPr/>
                    <a:lstStyle/>
                    <a:p>
                      <a:pPr algn="l"/>
                      <a:r>
                        <a:rPr sz="1100" b="1"/>
                        <a:t>48 h</a:t>
                      </a:r>
                    </a:p>
                  </a:txBody>
                  <a:tcPr marL="45720" marR="45720" marT="18288" marB="18288" anchor="ctr">
                    <a:solidFill>
                      <a:srgbClr val="F2F4F8"/>
                    </a:solidFill>
                  </a:tcPr>
                </a:tc>
                <a:tc>
                  <a:txBody>
                    <a:bodyPr/>
                    <a:lstStyle/>
                    <a:p>
                      <a:pPr algn="ctr"/>
                      <a:r>
                        <a:rPr sz="1100"/>
                        <a:t>49,588 (19.8%)</a:t>
                      </a:r>
                    </a:p>
                  </a:txBody>
                  <a:tcPr marL="45720" marR="45720" marT="18288" marB="18288" anchor="ctr">
                    <a:solidFill>
                      <a:srgbClr val="F2F4F8"/>
                    </a:solidFill>
                  </a:tcPr>
                </a:tc>
                <a:tc>
                  <a:txBody>
                    <a:bodyPr/>
                    <a:lstStyle/>
                    <a:p>
                      <a:pPr algn="ctr"/>
                      <a:r>
                        <a:rPr sz="1100"/>
                        <a:t>62,535 (25.0%)</a:t>
                      </a:r>
                    </a:p>
                  </a:txBody>
                  <a:tcPr marL="45720" marR="45720" marT="18288" marB="18288" anchor="ctr">
                    <a:solidFill>
                      <a:srgbClr val="F2F4F8"/>
                    </a:solidFill>
                  </a:tcPr>
                </a:tc>
                <a:tc>
                  <a:txBody>
                    <a:bodyPr/>
                    <a:lstStyle/>
                    <a:p>
                      <a:pPr algn="ctr"/>
                      <a:r>
                        <a:rPr sz="1100"/>
                        <a:t>138,194 (55.2%)</a:t>
                      </a:r>
                    </a:p>
                  </a:txBody>
                  <a:tcPr marL="45720" marR="45720" marT="18288" marB="18288" anchor="ctr">
                    <a:solidFill>
                      <a:srgbClr val="F2F4F8"/>
                    </a:solidFill>
                  </a:tcPr>
                </a:tc>
                <a:tc>
                  <a:txBody>
                    <a:bodyPr/>
                    <a:lstStyle/>
                    <a:p>
                      <a:pPr algn="ctr"/>
                      <a:r>
                        <a:rPr sz="1100"/>
                        <a:t>250,317</a:t>
                      </a:r>
                    </a:p>
                  </a:txBody>
                  <a:tcPr marL="45720" marR="45720" marT="18288" marB="18288" anchor="ctr">
                    <a:solidFill>
                      <a:srgbClr val="F2F4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Results — Regression (DO in mg/L)</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18</a:t>
            </a:fld>
            <a:endParaRPr lang="en-US" sz="1000"/>
          </a:p>
        </p:txBody>
      </p:sp>
      <p:sp>
        <p:nvSpPr>
          <p:cNvPr id="6" name="TextBox 5"/>
          <p:cNvSpPr txBox="1"/>
          <p:nvPr/>
        </p:nvSpPr>
        <p:spPr>
          <a:xfrm>
            <a:off x="457200" y="4572000"/>
            <a:ext cx="8229600" cy="365760"/>
          </a:xfrm>
          <a:prstGeom prst="rect">
            <a:avLst/>
          </a:prstGeom>
          <a:noFill/>
        </p:spPr>
        <p:txBody>
          <a:bodyPr wrap="square">
            <a:spAutoFit/>
          </a:bodyPr>
          <a:lstStyle/>
          <a:p>
            <a:pPr algn="l">
              <a:spcAft>
                <a:spcPts val="400"/>
              </a:spcAft>
            </a:pPr>
            <a:r>
              <a:rPr sz="1100">
                <a:solidFill>
                  <a:srgbClr val="595959"/>
                </a:solidFill>
              </a:rPr>
              <a:t>2025 test year, 30 stations. RMSE in mg/L (lower is better); R² (higher is better).</a:t>
            </a:r>
          </a:p>
        </p:txBody>
      </p:sp>
      <p:sp>
        <p:nvSpPr>
          <p:cNvPr id="7" name="TextBox 6"/>
          <p:cNvSpPr txBox="1"/>
          <p:nvPr/>
        </p:nvSpPr>
        <p:spPr>
          <a:xfrm>
            <a:off x="457200" y="4892040"/>
            <a:ext cx="8229600" cy="1371600"/>
          </a:xfrm>
          <a:prstGeom prst="rect">
            <a:avLst/>
          </a:prstGeom>
          <a:noFill/>
        </p:spPr>
        <p:txBody>
          <a:bodyPr wrap="square">
            <a:spAutoFit/>
          </a:bodyPr>
          <a:lstStyle/>
          <a:p>
            <a:pPr marL="228600" indent="-228600" algn="l">
              <a:spcAft>
                <a:spcPts val="400"/>
              </a:spcAft>
              <a:buChar char="•"/>
            </a:pPr>
            <a:r>
              <a:rPr sz="1300"/>
              <a:t>The stacking ensemble has the lowest RMSE and highest R² at all four horizons.</a:t>
            </a:r>
          </a:p>
          <a:p>
            <a:pPr marL="228600" indent="-228600" algn="l">
              <a:spcAft>
                <a:spcPts val="400"/>
              </a:spcAft>
              <a:buChar char="•"/>
            </a:pPr>
            <a:r>
              <a:rPr sz="1300"/>
              <a:t>At 6 h it cuts RMSE by 62% vs persistence (0.514 vs 1.344 mg/L); at 24 h MAE is 0.407 mg/L (best of all models).</a:t>
            </a:r>
          </a:p>
          <a:p>
            <a:pPr marL="228600" indent="-228600" algn="l">
              <a:spcAft>
                <a:spcPts val="400"/>
              </a:spcAft>
              <a:buChar char="•"/>
            </a:pPr>
            <a:r>
              <a:rPr sz="1300"/>
              <a:t>Error grows smoothly with horizon (R² 0.971 → 0.920), so forecasts stay useful up to 48 h.</a:t>
            </a:r>
          </a:p>
        </p:txBody>
      </p:sp>
      <p:pic>
        <p:nvPicPr>
          <p:cNvPr id="9" name="Picture 8">
            <a:extLst>
              <a:ext uri="{FF2B5EF4-FFF2-40B4-BE49-F238E27FC236}">
                <a16:creationId xmlns:a16="http://schemas.microsoft.com/office/drawing/2014/main" id="{B0EEA419-A621-A75E-1D62-C1520D832220}"/>
              </a:ext>
            </a:extLst>
          </p:cNvPr>
          <p:cNvPicPr>
            <a:picLocks noChangeAspect="1"/>
          </p:cNvPicPr>
          <p:nvPr/>
        </p:nvPicPr>
        <p:blipFill>
          <a:blip r:embed="rId2"/>
          <a:srcRect l="5000" t="25197" r="5000"/>
          <a:stretch>
            <a:fillRect/>
          </a:stretch>
        </p:blipFill>
        <p:spPr>
          <a:xfrm>
            <a:off x="457200" y="1090275"/>
            <a:ext cx="8229600" cy="38474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Results — Classification (24 h)</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19</a:t>
            </a:fld>
            <a:endParaRPr lang="en-US" sz="1000"/>
          </a:p>
        </p:txBody>
      </p:sp>
      <p:sp>
        <p:nvSpPr>
          <p:cNvPr id="6" name="TextBox 5"/>
          <p:cNvSpPr txBox="1"/>
          <p:nvPr/>
        </p:nvSpPr>
        <p:spPr>
          <a:xfrm>
            <a:off x="457200" y="4572000"/>
            <a:ext cx="8229600" cy="365760"/>
          </a:xfrm>
          <a:prstGeom prst="rect">
            <a:avLst/>
          </a:prstGeom>
          <a:noFill/>
        </p:spPr>
        <p:txBody>
          <a:bodyPr wrap="square">
            <a:spAutoFit/>
          </a:bodyPr>
          <a:lstStyle/>
          <a:p>
            <a:pPr algn="l">
              <a:spcAft>
                <a:spcPts val="400"/>
              </a:spcAft>
            </a:pPr>
            <a:r>
              <a:rPr sz="1100">
                <a:solidFill>
                  <a:srgbClr val="595959"/>
                </a:solidFill>
              </a:rPr>
              <a:t>2025 test year, 24 h ahead. Every model uses the same warning rule P(Low) ≥ τ, so the comparison is like for like. Bold = best in column.</a:t>
            </a:r>
          </a:p>
        </p:txBody>
      </p:sp>
      <p:sp>
        <p:nvSpPr>
          <p:cNvPr id="7" name="TextBox 6"/>
          <p:cNvSpPr txBox="1"/>
          <p:nvPr/>
        </p:nvSpPr>
        <p:spPr>
          <a:xfrm>
            <a:off x="457200" y="4937760"/>
            <a:ext cx="8229600" cy="1325880"/>
          </a:xfrm>
          <a:prstGeom prst="rect">
            <a:avLst/>
          </a:prstGeom>
          <a:noFill/>
        </p:spPr>
        <p:txBody>
          <a:bodyPr wrap="square">
            <a:spAutoFit/>
          </a:bodyPr>
          <a:lstStyle/>
          <a:p>
            <a:pPr marL="228600" indent="-228600" algn="l">
              <a:spcAft>
                <a:spcPts val="400"/>
              </a:spcAft>
              <a:buChar char="•"/>
            </a:pPr>
            <a:r>
              <a:rPr sz="1300"/>
              <a:t>Stacking has the best balanced accuracy (89.60%), and the fewest false alarms (1.50%) among models with onset recall near 50%.</a:t>
            </a:r>
          </a:p>
          <a:p>
            <a:pPr marL="228600" indent="-228600" algn="l">
              <a:spcAft>
                <a:spcPts val="400"/>
              </a:spcAft>
              <a:buChar char="•"/>
            </a:pPr>
            <a:r>
              <a:rPr sz="1300"/>
              <a:t>RF and LightGBM are marginally higher on accuracy and macro F1 (by under 0.2 percentage points): the top models are statistically close.</a:t>
            </a:r>
          </a:p>
          <a:p>
            <a:pPr marL="228600" indent="-228600" algn="l">
              <a:spcAft>
                <a:spcPts val="400"/>
              </a:spcAft>
              <a:buChar char="•"/>
            </a:pPr>
            <a:r>
              <a:rPr sz="1300"/>
              <a:t>All learned models detect about half of Low onsets in advance; persistence detects none.</a:t>
            </a:r>
          </a:p>
        </p:txBody>
      </p:sp>
      <p:pic>
        <p:nvPicPr>
          <p:cNvPr id="9" name="Picture 8">
            <a:extLst>
              <a:ext uri="{FF2B5EF4-FFF2-40B4-BE49-F238E27FC236}">
                <a16:creationId xmlns:a16="http://schemas.microsoft.com/office/drawing/2014/main" id="{CF743B51-4806-8EE6-331B-F0F8A39DA983}"/>
              </a:ext>
            </a:extLst>
          </p:cNvPr>
          <p:cNvPicPr>
            <a:picLocks noChangeAspect="1"/>
          </p:cNvPicPr>
          <p:nvPr/>
        </p:nvPicPr>
        <p:blipFill>
          <a:blip r:embed="rId2"/>
          <a:srcRect l="5000" t="24624" r="5000"/>
          <a:stretch>
            <a:fillRect/>
          </a:stretch>
        </p:blipFill>
        <p:spPr>
          <a:xfrm>
            <a:off x="457200" y="1060778"/>
            <a:ext cx="8229600" cy="38769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Results — Class-wise Performance (Stacking)</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20</a:t>
            </a:fld>
            <a:endParaRPr lang="en-US" sz="1000"/>
          </a:p>
        </p:txBody>
      </p:sp>
      <p:graphicFrame>
        <p:nvGraphicFramePr>
          <p:cNvPr id="5" name="Table 4"/>
          <p:cNvGraphicFramePr>
            <a:graphicFrameLocks noGrp="1"/>
          </p:cNvGraphicFramePr>
          <p:nvPr/>
        </p:nvGraphicFramePr>
        <p:xfrm>
          <a:off x="365760" y="1234440"/>
          <a:ext cx="8412480" cy="1865376"/>
        </p:xfrm>
        <a:graphic>
          <a:graphicData uri="http://schemas.openxmlformats.org/drawingml/2006/table">
            <a:tbl>
              <a:tblPr>
                <a:tableStyleId>{5940675A-B579-460E-94D1-54222C63F5DA}</a:tableStyleId>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640080">
                  <a:extLst>
                    <a:ext uri="{9D8B030D-6E8A-4147-A177-3AD203B41FA5}">
                      <a16:colId xmlns:a16="http://schemas.microsoft.com/office/drawing/2014/main" val="20006"/>
                    </a:ext>
                  </a:extLst>
                </a:gridCol>
                <a:gridCol w="640080">
                  <a:extLst>
                    <a:ext uri="{9D8B030D-6E8A-4147-A177-3AD203B41FA5}">
                      <a16:colId xmlns:a16="http://schemas.microsoft.com/office/drawing/2014/main" val="20007"/>
                    </a:ext>
                  </a:extLst>
                </a:gridCol>
                <a:gridCol w="640080">
                  <a:extLst>
                    <a:ext uri="{9D8B030D-6E8A-4147-A177-3AD203B41FA5}">
                      <a16:colId xmlns:a16="http://schemas.microsoft.com/office/drawing/2014/main" val="20008"/>
                    </a:ext>
                  </a:extLst>
                </a:gridCol>
                <a:gridCol w="640080">
                  <a:extLst>
                    <a:ext uri="{9D8B030D-6E8A-4147-A177-3AD203B41FA5}">
                      <a16:colId xmlns:a16="http://schemas.microsoft.com/office/drawing/2014/main" val="20009"/>
                    </a:ext>
                  </a:extLst>
                </a:gridCol>
                <a:gridCol w="914400">
                  <a:extLst>
                    <a:ext uri="{9D8B030D-6E8A-4147-A177-3AD203B41FA5}">
                      <a16:colId xmlns:a16="http://schemas.microsoft.com/office/drawing/2014/main" val="20010"/>
                    </a:ext>
                  </a:extLst>
                </a:gridCol>
                <a:gridCol w="914400">
                  <a:extLst>
                    <a:ext uri="{9D8B030D-6E8A-4147-A177-3AD203B41FA5}">
                      <a16:colId xmlns:a16="http://schemas.microsoft.com/office/drawing/2014/main" val="20011"/>
                    </a:ext>
                  </a:extLst>
                </a:gridCol>
              </a:tblGrid>
              <a:tr h="310896">
                <a:tc rowSpan="2">
                  <a:txBody>
                    <a:bodyPr/>
                    <a:lstStyle/>
                    <a:p>
                      <a:pPr algn="l"/>
                      <a:r>
                        <a:rPr sz="1100" b="1">
                          <a:solidFill>
                            <a:srgbClr val="FFFFFF"/>
                          </a:solidFill>
                        </a:rPr>
                        <a:t>Horizon</a:t>
                      </a:r>
                    </a:p>
                  </a:txBody>
                  <a:tcPr marL="45720" marR="45720" marT="18288" marB="18288" anchor="ctr">
                    <a:solidFill>
                      <a:srgbClr val="1F3864"/>
                    </a:solidFill>
                  </a:tcPr>
                </a:tc>
                <a:tc gridSpan="3">
                  <a:txBody>
                    <a:bodyPr/>
                    <a:lstStyle/>
                    <a:p>
                      <a:pPr algn="ctr"/>
                      <a:r>
                        <a:rPr sz="1100" b="1">
                          <a:solidFill>
                            <a:srgbClr val="FFFFFF"/>
                          </a:solidFill>
                        </a:rPr>
                        <a:t>Low</a:t>
                      </a:r>
                    </a:p>
                  </a:txBody>
                  <a:tcPr marL="45720" marR="45720" marT="18288" marB="18288" anchor="ctr">
                    <a:solidFill>
                      <a:srgbClr val="1F3864"/>
                    </a:solidFill>
                  </a:tcPr>
                </a:tc>
                <a:tc hMerge="1">
                  <a:txBody>
                    <a:bodyPr/>
                    <a:lstStyle/>
                    <a:p>
                      <a:endParaRPr/>
                    </a:p>
                  </a:txBody>
                  <a:tcPr/>
                </a:tc>
                <a:tc hMerge="1">
                  <a:txBody>
                    <a:bodyPr/>
                    <a:lstStyle/>
                    <a:p>
                      <a:endParaRPr/>
                    </a:p>
                  </a:txBody>
                  <a:tcPr/>
                </a:tc>
                <a:tc gridSpan="3">
                  <a:txBody>
                    <a:bodyPr/>
                    <a:lstStyle/>
                    <a:p>
                      <a:pPr algn="ctr"/>
                      <a:r>
                        <a:rPr sz="1100" b="1">
                          <a:solidFill>
                            <a:srgbClr val="FFFFFF"/>
                          </a:solidFill>
                        </a:rPr>
                        <a:t>Medium</a:t>
                      </a:r>
                    </a:p>
                  </a:txBody>
                  <a:tcPr marL="45720" marR="45720" marT="18288" marB="18288" anchor="ctr">
                    <a:solidFill>
                      <a:srgbClr val="1F3864"/>
                    </a:solidFill>
                  </a:tcPr>
                </a:tc>
                <a:tc hMerge="1">
                  <a:txBody>
                    <a:bodyPr/>
                    <a:lstStyle/>
                    <a:p>
                      <a:endParaRPr/>
                    </a:p>
                  </a:txBody>
                  <a:tcPr/>
                </a:tc>
                <a:tc hMerge="1">
                  <a:txBody>
                    <a:bodyPr/>
                    <a:lstStyle/>
                    <a:p>
                      <a:endParaRPr/>
                    </a:p>
                  </a:txBody>
                  <a:tcPr/>
                </a:tc>
                <a:tc gridSpan="3">
                  <a:txBody>
                    <a:bodyPr/>
                    <a:lstStyle/>
                    <a:p>
                      <a:pPr algn="ctr"/>
                      <a:r>
                        <a:rPr sz="1100" b="1">
                          <a:solidFill>
                            <a:srgbClr val="FFFFFF"/>
                          </a:solidFill>
                        </a:rPr>
                        <a:t>Good</a:t>
                      </a:r>
                    </a:p>
                  </a:txBody>
                  <a:tcPr marL="45720" marR="45720" marT="18288" marB="18288" anchor="ctr">
                    <a:solidFill>
                      <a:srgbClr val="1F3864"/>
                    </a:solidFill>
                  </a:tcPr>
                </a:tc>
                <a:tc hMerge="1">
                  <a:txBody>
                    <a:bodyPr/>
                    <a:lstStyle/>
                    <a:p>
                      <a:endParaRPr/>
                    </a:p>
                  </a:txBody>
                  <a:tcPr/>
                </a:tc>
                <a:tc hMerge="1">
                  <a:txBody>
                    <a:bodyPr/>
                    <a:lstStyle/>
                    <a:p>
                      <a:endParaRPr/>
                    </a:p>
                  </a:txBody>
                  <a:tcPr/>
                </a:tc>
                <a:tc rowSpan="2">
                  <a:txBody>
                    <a:bodyPr/>
                    <a:lstStyle/>
                    <a:p>
                      <a:pPr algn="ctr"/>
                      <a:r>
                        <a:rPr sz="1100" b="1">
                          <a:solidFill>
                            <a:srgbClr val="FFFFFF"/>
                          </a:solidFill>
                        </a:rPr>
                        <a:t>Accuracy</a:t>
                      </a:r>
                    </a:p>
                  </a:txBody>
                  <a:tcPr marL="45720" marR="45720" marT="18288" marB="18288" anchor="ctr">
                    <a:solidFill>
                      <a:srgbClr val="1F3864"/>
                    </a:solidFill>
                  </a:tcPr>
                </a:tc>
                <a:tc rowSpan="2">
                  <a:txBody>
                    <a:bodyPr/>
                    <a:lstStyle/>
                    <a:p>
                      <a:pPr algn="ctr"/>
                      <a:r>
                        <a:rPr sz="1100" b="1" dirty="0">
                          <a:solidFill>
                            <a:srgbClr val="FFFFFF"/>
                          </a:solidFill>
                        </a:rPr>
                        <a:t>Macro F1</a:t>
                      </a:r>
                    </a:p>
                  </a:txBody>
                  <a:tcPr marL="45720" marR="45720" marT="18288" marB="18288" anchor="ctr">
                    <a:solidFill>
                      <a:srgbClr val="1F3864"/>
                    </a:solidFill>
                  </a:tcPr>
                </a:tc>
                <a:extLst>
                  <a:ext uri="{0D108BD9-81ED-4DB2-BD59-A6C34878D82A}">
                    <a16:rowId xmlns:a16="http://schemas.microsoft.com/office/drawing/2014/main" val="10000"/>
                  </a:ext>
                </a:extLst>
              </a:tr>
              <a:tr h="310896">
                <a:tc vMerge="1">
                  <a:txBody>
                    <a:bodyPr/>
                    <a:lstStyle/>
                    <a:p>
                      <a:pPr algn="l"/>
                      <a:endParaRPr/>
                    </a:p>
                  </a:txBody>
                  <a:tcPr marL="45720" marR="45720" marT="18288" marB="18288" anchor="ctr">
                    <a:solidFill>
                      <a:srgbClr val="1F3864"/>
                    </a:solidFill>
                  </a:tcPr>
                </a:tc>
                <a:tc>
                  <a:txBody>
                    <a:bodyPr/>
                    <a:lstStyle/>
                    <a:p>
                      <a:pPr algn="ctr"/>
                      <a:r>
                        <a:rPr sz="1100" b="1">
                          <a:solidFill>
                            <a:srgbClr val="FFFFFF"/>
                          </a:solidFill>
                        </a:rPr>
                        <a:t>P</a:t>
                      </a:r>
                    </a:p>
                  </a:txBody>
                  <a:tcPr marL="45720" marR="45720" marT="18288" marB="18288" anchor="ctr">
                    <a:solidFill>
                      <a:srgbClr val="1F3864"/>
                    </a:solidFill>
                  </a:tcPr>
                </a:tc>
                <a:tc>
                  <a:txBody>
                    <a:bodyPr/>
                    <a:lstStyle/>
                    <a:p>
                      <a:pPr algn="ctr"/>
                      <a:r>
                        <a:rPr sz="1100" b="1">
                          <a:solidFill>
                            <a:srgbClr val="FFFFFF"/>
                          </a:solidFill>
                        </a:rPr>
                        <a:t>R</a:t>
                      </a:r>
                    </a:p>
                  </a:txBody>
                  <a:tcPr marL="45720" marR="45720" marT="18288" marB="18288" anchor="ctr">
                    <a:solidFill>
                      <a:srgbClr val="1F3864"/>
                    </a:solidFill>
                  </a:tcPr>
                </a:tc>
                <a:tc>
                  <a:txBody>
                    <a:bodyPr/>
                    <a:lstStyle/>
                    <a:p>
                      <a:pPr algn="ctr"/>
                      <a:r>
                        <a:rPr sz="1100" b="1">
                          <a:solidFill>
                            <a:srgbClr val="FFFFFF"/>
                          </a:solidFill>
                        </a:rPr>
                        <a:t>F1</a:t>
                      </a:r>
                    </a:p>
                  </a:txBody>
                  <a:tcPr marL="45720" marR="45720" marT="18288" marB="18288" anchor="ctr">
                    <a:solidFill>
                      <a:srgbClr val="1F3864"/>
                    </a:solidFill>
                  </a:tcPr>
                </a:tc>
                <a:tc>
                  <a:txBody>
                    <a:bodyPr/>
                    <a:lstStyle/>
                    <a:p>
                      <a:pPr algn="ctr"/>
                      <a:r>
                        <a:rPr sz="1100" b="1">
                          <a:solidFill>
                            <a:srgbClr val="FFFFFF"/>
                          </a:solidFill>
                        </a:rPr>
                        <a:t>P</a:t>
                      </a:r>
                    </a:p>
                  </a:txBody>
                  <a:tcPr marL="45720" marR="45720" marT="18288" marB="18288" anchor="ctr">
                    <a:solidFill>
                      <a:srgbClr val="1F3864"/>
                    </a:solidFill>
                  </a:tcPr>
                </a:tc>
                <a:tc>
                  <a:txBody>
                    <a:bodyPr/>
                    <a:lstStyle/>
                    <a:p>
                      <a:pPr algn="ctr"/>
                      <a:r>
                        <a:rPr sz="1100" b="1">
                          <a:solidFill>
                            <a:srgbClr val="FFFFFF"/>
                          </a:solidFill>
                        </a:rPr>
                        <a:t>R</a:t>
                      </a:r>
                    </a:p>
                  </a:txBody>
                  <a:tcPr marL="45720" marR="45720" marT="18288" marB="18288" anchor="ctr">
                    <a:solidFill>
                      <a:srgbClr val="1F3864"/>
                    </a:solidFill>
                  </a:tcPr>
                </a:tc>
                <a:tc>
                  <a:txBody>
                    <a:bodyPr/>
                    <a:lstStyle/>
                    <a:p>
                      <a:pPr algn="ctr"/>
                      <a:r>
                        <a:rPr sz="1100" b="1">
                          <a:solidFill>
                            <a:srgbClr val="FFFFFF"/>
                          </a:solidFill>
                        </a:rPr>
                        <a:t>F1</a:t>
                      </a:r>
                    </a:p>
                  </a:txBody>
                  <a:tcPr marL="45720" marR="45720" marT="18288" marB="18288" anchor="ctr">
                    <a:solidFill>
                      <a:srgbClr val="1F3864"/>
                    </a:solidFill>
                  </a:tcPr>
                </a:tc>
                <a:tc>
                  <a:txBody>
                    <a:bodyPr/>
                    <a:lstStyle/>
                    <a:p>
                      <a:pPr algn="ctr"/>
                      <a:r>
                        <a:rPr sz="1100" b="1">
                          <a:solidFill>
                            <a:srgbClr val="FFFFFF"/>
                          </a:solidFill>
                        </a:rPr>
                        <a:t>P</a:t>
                      </a:r>
                    </a:p>
                  </a:txBody>
                  <a:tcPr marL="45720" marR="45720" marT="18288" marB="18288" anchor="ctr">
                    <a:solidFill>
                      <a:srgbClr val="1F3864"/>
                    </a:solidFill>
                  </a:tcPr>
                </a:tc>
                <a:tc>
                  <a:txBody>
                    <a:bodyPr/>
                    <a:lstStyle/>
                    <a:p>
                      <a:pPr algn="ctr"/>
                      <a:r>
                        <a:rPr sz="1100" b="1">
                          <a:solidFill>
                            <a:srgbClr val="FFFFFF"/>
                          </a:solidFill>
                        </a:rPr>
                        <a:t>R</a:t>
                      </a:r>
                    </a:p>
                  </a:txBody>
                  <a:tcPr marL="45720" marR="45720" marT="18288" marB="18288" anchor="ctr">
                    <a:solidFill>
                      <a:srgbClr val="1F3864"/>
                    </a:solidFill>
                  </a:tcPr>
                </a:tc>
                <a:tc>
                  <a:txBody>
                    <a:bodyPr/>
                    <a:lstStyle/>
                    <a:p>
                      <a:pPr algn="ctr"/>
                      <a:r>
                        <a:rPr sz="1100" b="1">
                          <a:solidFill>
                            <a:srgbClr val="FFFFFF"/>
                          </a:solidFill>
                        </a:rPr>
                        <a:t>F1</a:t>
                      </a:r>
                    </a:p>
                  </a:txBody>
                  <a:tcPr marL="45720" marR="45720" marT="18288" marB="18288" anchor="ctr">
                    <a:solidFill>
                      <a:srgbClr val="1F3864"/>
                    </a:solidFill>
                  </a:tcPr>
                </a:tc>
                <a:tc vMerge="1">
                  <a:txBody>
                    <a:bodyPr/>
                    <a:lstStyle/>
                    <a:p>
                      <a:pPr algn="ctr"/>
                      <a:endParaRPr/>
                    </a:p>
                  </a:txBody>
                  <a:tcPr marL="45720" marR="45720" marT="18288" marB="18288" anchor="ctr">
                    <a:solidFill>
                      <a:srgbClr val="1F3864"/>
                    </a:solidFill>
                  </a:tcPr>
                </a:tc>
                <a:tc vMerge="1">
                  <a:txBody>
                    <a:bodyPr/>
                    <a:lstStyle/>
                    <a:p>
                      <a:pPr algn="ctr"/>
                      <a:endParaRPr/>
                    </a:p>
                  </a:txBody>
                  <a:tcPr marL="45720" marR="45720" marT="18288" marB="18288" anchor="ctr">
                    <a:solidFill>
                      <a:srgbClr val="1F3864"/>
                    </a:solidFill>
                  </a:tcPr>
                </a:tc>
                <a:extLst>
                  <a:ext uri="{0D108BD9-81ED-4DB2-BD59-A6C34878D82A}">
                    <a16:rowId xmlns:a16="http://schemas.microsoft.com/office/drawing/2014/main" val="10001"/>
                  </a:ext>
                </a:extLst>
              </a:tr>
              <a:tr h="310896">
                <a:tc>
                  <a:txBody>
                    <a:bodyPr/>
                    <a:lstStyle/>
                    <a:p>
                      <a:pPr algn="l"/>
                      <a:r>
                        <a:rPr sz="1100" b="1"/>
                        <a:t>6 h</a:t>
                      </a:r>
                    </a:p>
                  </a:txBody>
                  <a:tcPr marL="45720" marR="45720" marT="18288" marB="18288" anchor="ctr">
                    <a:solidFill>
                      <a:srgbClr val="FFFFFF"/>
                    </a:solidFill>
                  </a:tcPr>
                </a:tc>
                <a:tc>
                  <a:txBody>
                    <a:bodyPr/>
                    <a:lstStyle/>
                    <a:p>
                      <a:pPr algn="ctr"/>
                      <a:r>
                        <a:rPr sz="1100"/>
                        <a:t>0.876</a:t>
                      </a:r>
                    </a:p>
                  </a:txBody>
                  <a:tcPr marL="45720" marR="45720" marT="18288" marB="18288" anchor="ctr">
                    <a:solidFill>
                      <a:srgbClr val="FFFFFF"/>
                    </a:solidFill>
                  </a:tcPr>
                </a:tc>
                <a:tc>
                  <a:txBody>
                    <a:bodyPr/>
                    <a:lstStyle/>
                    <a:p>
                      <a:pPr algn="ctr"/>
                      <a:r>
                        <a:rPr sz="1100"/>
                        <a:t>0.949</a:t>
                      </a:r>
                    </a:p>
                  </a:txBody>
                  <a:tcPr marL="45720" marR="45720" marT="18288" marB="18288" anchor="ctr">
                    <a:solidFill>
                      <a:srgbClr val="FFFFFF"/>
                    </a:solidFill>
                  </a:tcPr>
                </a:tc>
                <a:tc>
                  <a:txBody>
                    <a:bodyPr/>
                    <a:lstStyle/>
                    <a:p>
                      <a:pPr algn="ctr"/>
                      <a:r>
                        <a:rPr sz="1100"/>
                        <a:t>0.911</a:t>
                      </a:r>
                    </a:p>
                  </a:txBody>
                  <a:tcPr marL="45720" marR="45720" marT="18288" marB="18288" anchor="ctr">
                    <a:solidFill>
                      <a:srgbClr val="FFFFFF"/>
                    </a:solidFill>
                  </a:tcPr>
                </a:tc>
                <a:tc>
                  <a:txBody>
                    <a:bodyPr/>
                    <a:lstStyle/>
                    <a:p>
                      <a:pPr algn="ctr"/>
                      <a:r>
                        <a:rPr sz="1100"/>
                        <a:t>0.838</a:t>
                      </a:r>
                    </a:p>
                  </a:txBody>
                  <a:tcPr marL="45720" marR="45720" marT="18288" marB="18288" anchor="ctr">
                    <a:solidFill>
                      <a:srgbClr val="FFFFFF"/>
                    </a:solidFill>
                  </a:tcPr>
                </a:tc>
                <a:tc>
                  <a:txBody>
                    <a:bodyPr/>
                    <a:lstStyle/>
                    <a:p>
                      <a:pPr algn="ctr"/>
                      <a:r>
                        <a:rPr sz="1100"/>
                        <a:t>0.852</a:t>
                      </a:r>
                    </a:p>
                  </a:txBody>
                  <a:tcPr marL="45720" marR="45720" marT="18288" marB="18288" anchor="ctr">
                    <a:solidFill>
                      <a:srgbClr val="FFFFFF"/>
                    </a:solidFill>
                  </a:tcPr>
                </a:tc>
                <a:tc>
                  <a:txBody>
                    <a:bodyPr/>
                    <a:lstStyle/>
                    <a:p>
                      <a:pPr algn="ctr"/>
                      <a:r>
                        <a:rPr sz="1100"/>
                        <a:t>0.845</a:t>
                      </a:r>
                    </a:p>
                  </a:txBody>
                  <a:tcPr marL="45720" marR="45720" marT="18288" marB="18288" anchor="ctr">
                    <a:solidFill>
                      <a:srgbClr val="FFFFFF"/>
                    </a:solidFill>
                  </a:tcPr>
                </a:tc>
                <a:tc>
                  <a:txBody>
                    <a:bodyPr/>
                    <a:lstStyle/>
                    <a:p>
                      <a:pPr algn="ctr"/>
                      <a:r>
                        <a:rPr sz="1100"/>
                        <a:t>0.978</a:t>
                      </a:r>
                    </a:p>
                  </a:txBody>
                  <a:tcPr marL="45720" marR="45720" marT="18288" marB="18288" anchor="ctr">
                    <a:solidFill>
                      <a:srgbClr val="FFFFFF"/>
                    </a:solidFill>
                  </a:tcPr>
                </a:tc>
                <a:tc>
                  <a:txBody>
                    <a:bodyPr/>
                    <a:lstStyle/>
                    <a:p>
                      <a:pPr algn="ctr"/>
                      <a:r>
                        <a:rPr sz="1100"/>
                        <a:t>0.942</a:t>
                      </a:r>
                    </a:p>
                  </a:txBody>
                  <a:tcPr marL="45720" marR="45720" marT="18288" marB="18288" anchor="ctr">
                    <a:solidFill>
                      <a:srgbClr val="FFFFFF"/>
                    </a:solidFill>
                  </a:tcPr>
                </a:tc>
                <a:tc>
                  <a:txBody>
                    <a:bodyPr/>
                    <a:lstStyle/>
                    <a:p>
                      <a:pPr algn="ctr"/>
                      <a:r>
                        <a:rPr sz="1100"/>
                        <a:t>0.959</a:t>
                      </a:r>
                    </a:p>
                  </a:txBody>
                  <a:tcPr marL="45720" marR="45720" marT="18288" marB="18288" anchor="ctr">
                    <a:solidFill>
                      <a:srgbClr val="FFFFFF"/>
                    </a:solidFill>
                  </a:tcPr>
                </a:tc>
                <a:tc>
                  <a:txBody>
                    <a:bodyPr/>
                    <a:lstStyle/>
                    <a:p>
                      <a:pPr algn="ctr"/>
                      <a:r>
                        <a:rPr sz="1100"/>
                        <a:t>0.921</a:t>
                      </a:r>
                    </a:p>
                  </a:txBody>
                  <a:tcPr marL="45720" marR="45720" marT="18288" marB="18288" anchor="ctr">
                    <a:solidFill>
                      <a:srgbClr val="FFFFFF"/>
                    </a:solidFill>
                  </a:tcPr>
                </a:tc>
                <a:tc>
                  <a:txBody>
                    <a:bodyPr/>
                    <a:lstStyle/>
                    <a:p>
                      <a:pPr algn="ctr"/>
                      <a:r>
                        <a:rPr sz="1100"/>
                        <a:t>0.905</a:t>
                      </a:r>
                    </a:p>
                  </a:txBody>
                  <a:tcPr marL="45720" marR="45720" marT="18288" marB="18288" anchor="ctr">
                    <a:solidFill>
                      <a:srgbClr val="FFFFFF"/>
                    </a:solidFill>
                  </a:tcPr>
                </a:tc>
                <a:extLst>
                  <a:ext uri="{0D108BD9-81ED-4DB2-BD59-A6C34878D82A}">
                    <a16:rowId xmlns:a16="http://schemas.microsoft.com/office/drawing/2014/main" val="10002"/>
                  </a:ext>
                </a:extLst>
              </a:tr>
              <a:tr h="310896">
                <a:tc>
                  <a:txBody>
                    <a:bodyPr/>
                    <a:lstStyle/>
                    <a:p>
                      <a:pPr algn="l"/>
                      <a:r>
                        <a:rPr sz="1100" b="1"/>
                        <a:t>12 h</a:t>
                      </a:r>
                    </a:p>
                  </a:txBody>
                  <a:tcPr marL="45720" marR="45720" marT="18288" marB="18288" anchor="ctr">
                    <a:solidFill>
                      <a:srgbClr val="F2F4F8"/>
                    </a:solidFill>
                  </a:tcPr>
                </a:tc>
                <a:tc>
                  <a:txBody>
                    <a:bodyPr/>
                    <a:lstStyle/>
                    <a:p>
                      <a:pPr algn="ctr"/>
                      <a:r>
                        <a:rPr sz="1100"/>
                        <a:t>0.865</a:t>
                      </a:r>
                    </a:p>
                  </a:txBody>
                  <a:tcPr marL="45720" marR="45720" marT="18288" marB="18288" anchor="ctr">
                    <a:solidFill>
                      <a:srgbClr val="F2F4F8"/>
                    </a:solidFill>
                  </a:tcPr>
                </a:tc>
                <a:tc>
                  <a:txBody>
                    <a:bodyPr/>
                    <a:lstStyle/>
                    <a:p>
                      <a:pPr algn="ctr"/>
                      <a:r>
                        <a:rPr sz="1100"/>
                        <a:t>0.946</a:t>
                      </a:r>
                    </a:p>
                  </a:txBody>
                  <a:tcPr marL="45720" marR="45720" marT="18288" marB="18288" anchor="ctr">
                    <a:solidFill>
                      <a:srgbClr val="F2F4F8"/>
                    </a:solidFill>
                  </a:tcPr>
                </a:tc>
                <a:tc>
                  <a:txBody>
                    <a:bodyPr/>
                    <a:lstStyle/>
                    <a:p>
                      <a:pPr algn="ctr"/>
                      <a:r>
                        <a:rPr sz="1100"/>
                        <a:t>0.904</a:t>
                      </a:r>
                    </a:p>
                  </a:txBody>
                  <a:tcPr marL="45720" marR="45720" marT="18288" marB="18288" anchor="ctr">
                    <a:solidFill>
                      <a:srgbClr val="F2F4F8"/>
                    </a:solidFill>
                  </a:tcPr>
                </a:tc>
                <a:tc>
                  <a:txBody>
                    <a:bodyPr/>
                    <a:lstStyle/>
                    <a:p>
                      <a:pPr algn="ctr"/>
                      <a:r>
                        <a:rPr sz="1100"/>
                        <a:t>0.829</a:t>
                      </a:r>
                    </a:p>
                  </a:txBody>
                  <a:tcPr marL="45720" marR="45720" marT="18288" marB="18288" anchor="ctr">
                    <a:solidFill>
                      <a:srgbClr val="F2F4F8"/>
                    </a:solidFill>
                  </a:tcPr>
                </a:tc>
                <a:tc>
                  <a:txBody>
                    <a:bodyPr/>
                    <a:lstStyle/>
                    <a:p>
                      <a:pPr algn="ctr"/>
                      <a:r>
                        <a:rPr sz="1100"/>
                        <a:t>0.837</a:t>
                      </a:r>
                    </a:p>
                  </a:txBody>
                  <a:tcPr marL="45720" marR="45720" marT="18288" marB="18288" anchor="ctr">
                    <a:solidFill>
                      <a:srgbClr val="F2F4F8"/>
                    </a:solidFill>
                  </a:tcPr>
                </a:tc>
                <a:tc>
                  <a:txBody>
                    <a:bodyPr/>
                    <a:lstStyle/>
                    <a:p>
                      <a:pPr algn="ctr"/>
                      <a:r>
                        <a:rPr sz="1100"/>
                        <a:t>0.833</a:t>
                      </a:r>
                    </a:p>
                  </a:txBody>
                  <a:tcPr marL="45720" marR="45720" marT="18288" marB="18288" anchor="ctr">
                    <a:solidFill>
                      <a:srgbClr val="F2F4F8"/>
                    </a:solidFill>
                  </a:tcPr>
                </a:tc>
                <a:tc>
                  <a:txBody>
                    <a:bodyPr/>
                    <a:lstStyle/>
                    <a:p>
                      <a:pPr algn="ctr"/>
                      <a:r>
                        <a:rPr sz="1100"/>
                        <a:t>0.973</a:t>
                      </a:r>
                    </a:p>
                  </a:txBody>
                  <a:tcPr marL="45720" marR="45720" marT="18288" marB="18288" anchor="ctr">
                    <a:solidFill>
                      <a:srgbClr val="F2F4F8"/>
                    </a:solidFill>
                  </a:tcPr>
                </a:tc>
                <a:tc>
                  <a:txBody>
                    <a:bodyPr/>
                    <a:lstStyle/>
                    <a:p>
                      <a:pPr algn="ctr"/>
                      <a:r>
                        <a:rPr sz="1100"/>
                        <a:t>0.937</a:t>
                      </a:r>
                    </a:p>
                  </a:txBody>
                  <a:tcPr marL="45720" marR="45720" marT="18288" marB="18288" anchor="ctr">
                    <a:solidFill>
                      <a:srgbClr val="F2F4F8"/>
                    </a:solidFill>
                  </a:tcPr>
                </a:tc>
                <a:tc>
                  <a:txBody>
                    <a:bodyPr/>
                    <a:lstStyle/>
                    <a:p>
                      <a:pPr algn="ctr"/>
                      <a:r>
                        <a:rPr sz="1100"/>
                        <a:t>0.955</a:t>
                      </a:r>
                    </a:p>
                  </a:txBody>
                  <a:tcPr marL="45720" marR="45720" marT="18288" marB="18288" anchor="ctr">
                    <a:solidFill>
                      <a:srgbClr val="F2F4F8"/>
                    </a:solidFill>
                  </a:tcPr>
                </a:tc>
                <a:tc>
                  <a:txBody>
                    <a:bodyPr/>
                    <a:lstStyle/>
                    <a:p>
                      <a:pPr algn="ctr"/>
                      <a:r>
                        <a:rPr sz="1100"/>
                        <a:t>0.914</a:t>
                      </a:r>
                    </a:p>
                  </a:txBody>
                  <a:tcPr marL="45720" marR="45720" marT="18288" marB="18288" anchor="ctr">
                    <a:solidFill>
                      <a:srgbClr val="F2F4F8"/>
                    </a:solidFill>
                  </a:tcPr>
                </a:tc>
                <a:tc>
                  <a:txBody>
                    <a:bodyPr/>
                    <a:lstStyle/>
                    <a:p>
                      <a:pPr algn="ctr"/>
                      <a:r>
                        <a:rPr sz="1100"/>
                        <a:t>0.897</a:t>
                      </a:r>
                    </a:p>
                  </a:txBody>
                  <a:tcPr marL="45720" marR="45720" marT="18288" marB="18288" anchor="ctr">
                    <a:solidFill>
                      <a:srgbClr val="F2F4F8"/>
                    </a:solidFill>
                  </a:tcPr>
                </a:tc>
                <a:extLst>
                  <a:ext uri="{0D108BD9-81ED-4DB2-BD59-A6C34878D82A}">
                    <a16:rowId xmlns:a16="http://schemas.microsoft.com/office/drawing/2014/main" val="10003"/>
                  </a:ext>
                </a:extLst>
              </a:tr>
              <a:tr h="310896">
                <a:tc>
                  <a:txBody>
                    <a:bodyPr/>
                    <a:lstStyle/>
                    <a:p>
                      <a:pPr algn="l"/>
                      <a:r>
                        <a:rPr sz="1100" b="1"/>
                        <a:t>24 h</a:t>
                      </a:r>
                    </a:p>
                  </a:txBody>
                  <a:tcPr marL="45720" marR="45720" marT="18288" marB="18288" anchor="ctr">
                    <a:solidFill>
                      <a:srgbClr val="FFFFFF"/>
                    </a:solidFill>
                  </a:tcPr>
                </a:tc>
                <a:tc>
                  <a:txBody>
                    <a:bodyPr/>
                    <a:lstStyle/>
                    <a:p>
                      <a:pPr algn="ctr"/>
                      <a:r>
                        <a:rPr sz="1100"/>
                        <a:t>0.853</a:t>
                      </a:r>
                    </a:p>
                  </a:txBody>
                  <a:tcPr marL="45720" marR="45720" marT="18288" marB="18288" anchor="ctr">
                    <a:solidFill>
                      <a:srgbClr val="FFFFFF"/>
                    </a:solidFill>
                  </a:tcPr>
                </a:tc>
                <a:tc>
                  <a:txBody>
                    <a:bodyPr/>
                    <a:lstStyle/>
                    <a:p>
                      <a:pPr algn="ctr"/>
                      <a:r>
                        <a:rPr sz="1100"/>
                        <a:t>0.941</a:t>
                      </a:r>
                    </a:p>
                  </a:txBody>
                  <a:tcPr marL="45720" marR="45720" marT="18288" marB="18288" anchor="ctr">
                    <a:solidFill>
                      <a:srgbClr val="FFFFFF"/>
                    </a:solidFill>
                  </a:tcPr>
                </a:tc>
                <a:tc>
                  <a:txBody>
                    <a:bodyPr/>
                    <a:lstStyle/>
                    <a:p>
                      <a:pPr algn="ctr"/>
                      <a:r>
                        <a:rPr sz="1100"/>
                        <a:t>0.895</a:t>
                      </a:r>
                    </a:p>
                  </a:txBody>
                  <a:tcPr marL="45720" marR="45720" marT="18288" marB="18288" anchor="ctr">
                    <a:solidFill>
                      <a:srgbClr val="FFFFFF"/>
                    </a:solidFill>
                  </a:tcPr>
                </a:tc>
                <a:tc>
                  <a:txBody>
                    <a:bodyPr/>
                    <a:lstStyle/>
                    <a:p>
                      <a:pPr algn="ctr"/>
                      <a:r>
                        <a:rPr sz="1100"/>
                        <a:t>0.812</a:t>
                      </a:r>
                    </a:p>
                  </a:txBody>
                  <a:tcPr marL="45720" marR="45720" marT="18288" marB="18288" anchor="ctr">
                    <a:solidFill>
                      <a:srgbClr val="FFFFFF"/>
                    </a:solidFill>
                  </a:tcPr>
                </a:tc>
                <a:tc>
                  <a:txBody>
                    <a:bodyPr/>
                    <a:lstStyle/>
                    <a:p>
                      <a:pPr algn="ctr"/>
                      <a:r>
                        <a:rPr sz="1100"/>
                        <a:t>0.817</a:t>
                      </a:r>
                    </a:p>
                  </a:txBody>
                  <a:tcPr marL="45720" marR="45720" marT="18288" marB="18288" anchor="ctr">
                    <a:solidFill>
                      <a:srgbClr val="FFFFFF"/>
                    </a:solidFill>
                  </a:tcPr>
                </a:tc>
                <a:tc>
                  <a:txBody>
                    <a:bodyPr/>
                    <a:lstStyle/>
                    <a:p>
                      <a:pPr algn="ctr"/>
                      <a:r>
                        <a:rPr sz="1100"/>
                        <a:t>0.814</a:t>
                      </a:r>
                    </a:p>
                  </a:txBody>
                  <a:tcPr marL="45720" marR="45720" marT="18288" marB="18288" anchor="ctr">
                    <a:solidFill>
                      <a:srgbClr val="FFFFFF"/>
                    </a:solidFill>
                  </a:tcPr>
                </a:tc>
                <a:tc>
                  <a:txBody>
                    <a:bodyPr/>
                    <a:lstStyle/>
                    <a:p>
                      <a:pPr algn="ctr"/>
                      <a:r>
                        <a:rPr sz="1100"/>
                        <a:t>0.968</a:t>
                      </a:r>
                    </a:p>
                  </a:txBody>
                  <a:tcPr marL="45720" marR="45720" marT="18288" marB="18288" anchor="ctr">
                    <a:solidFill>
                      <a:srgbClr val="FFFFFF"/>
                    </a:solidFill>
                  </a:tcPr>
                </a:tc>
                <a:tc>
                  <a:txBody>
                    <a:bodyPr/>
                    <a:lstStyle/>
                    <a:p>
                      <a:pPr algn="ctr"/>
                      <a:r>
                        <a:rPr sz="1100"/>
                        <a:t>0.930</a:t>
                      </a:r>
                    </a:p>
                  </a:txBody>
                  <a:tcPr marL="45720" marR="45720" marT="18288" marB="18288" anchor="ctr">
                    <a:solidFill>
                      <a:srgbClr val="FFFFFF"/>
                    </a:solidFill>
                  </a:tcPr>
                </a:tc>
                <a:tc>
                  <a:txBody>
                    <a:bodyPr/>
                    <a:lstStyle/>
                    <a:p>
                      <a:pPr algn="ctr"/>
                      <a:r>
                        <a:rPr sz="1100"/>
                        <a:t>0.949</a:t>
                      </a:r>
                    </a:p>
                  </a:txBody>
                  <a:tcPr marL="45720" marR="45720" marT="18288" marB="18288" anchor="ctr">
                    <a:solidFill>
                      <a:srgbClr val="FFFFFF"/>
                    </a:solidFill>
                  </a:tcPr>
                </a:tc>
                <a:tc>
                  <a:txBody>
                    <a:bodyPr/>
                    <a:lstStyle/>
                    <a:p>
                      <a:pPr algn="ctr"/>
                      <a:r>
                        <a:rPr sz="1100"/>
                        <a:t>0.904</a:t>
                      </a:r>
                    </a:p>
                  </a:txBody>
                  <a:tcPr marL="45720" marR="45720" marT="18288" marB="18288" anchor="ctr">
                    <a:solidFill>
                      <a:srgbClr val="FFFFFF"/>
                    </a:solidFill>
                  </a:tcPr>
                </a:tc>
                <a:tc>
                  <a:txBody>
                    <a:bodyPr/>
                    <a:lstStyle/>
                    <a:p>
                      <a:pPr algn="ctr"/>
                      <a:r>
                        <a:rPr sz="1100"/>
                        <a:t>0.886</a:t>
                      </a:r>
                    </a:p>
                  </a:txBody>
                  <a:tcPr marL="45720" marR="45720" marT="18288" marB="18288" anchor="ctr">
                    <a:solidFill>
                      <a:srgbClr val="FFFFFF"/>
                    </a:solidFill>
                  </a:tcPr>
                </a:tc>
                <a:extLst>
                  <a:ext uri="{0D108BD9-81ED-4DB2-BD59-A6C34878D82A}">
                    <a16:rowId xmlns:a16="http://schemas.microsoft.com/office/drawing/2014/main" val="10004"/>
                  </a:ext>
                </a:extLst>
              </a:tr>
              <a:tr h="310896">
                <a:tc>
                  <a:txBody>
                    <a:bodyPr/>
                    <a:lstStyle/>
                    <a:p>
                      <a:pPr algn="l"/>
                      <a:r>
                        <a:rPr sz="1100" b="1"/>
                        <a:t>48 h</a:t>
                      </a:r>
                    </a:p>
                  </a:txBody>
                  <a:tcPr marL="45720" marR="45720" marT="18288" marB="18288" anchor="ctr">
                    <a:solidFill>
                      <a:srgbClr val="F2F4F8"/>
                    </a:solidFill>
                  </a:tcPr>
                </a:tc>
                <a:tc>
                  <a:txBody>
                    <a:bodyPr/>
                    <a:lstStyle/>
                    <a:p>
                      <a:pPr algn="ctr"/>
                      <a:r>
                        <a:rPr sz="1100"/>
                        <a:t>0.840</a:t>
                      </a:r>
                    </a:p>
                  </a:txBody>
                  <a:tcPr marL="45720" marR="45720" marT="18288" marB="18288" anchor="ctr">
                    <a:solidFill>
                      <a:srgbClr val="F2F4F8"/>
                    </a:solidFill>
                  </a:tcPr>
                </a:tc>
                <a:tc>
                  <a:txBody>
                    <a:bodyPr/>
                    <a:lstStyle/>
                    <a:p>
                      <a:pPr algn="ctr"/>
                      <a:r>
                        <a:rPr sz="1100"/>
                        <a:t>0.909</a:t>
                      </a:r>
                    </a:p>
                  </a:txBody>
                  <a:tcPr marL="45720" marR="45720" marT="18288" marB="18288" anchor="ctr">
                    <a:solidFill>
                      <a:srgbClr val="F2F4F8"/>
                    </a:solidFill>
                  </a:tcPr>
                </a:tc>
                <a:tc>
                  <a:txBody>
                    <a:bodyPr/>
                    <a:lstStyle/>
                    <a:p>
                      <a:pPr algn="ctr"/>
                      <a:r>
                        <a:rPr sz="1100"/>
                        <a:t>0.873</a:t>
                      </a:r>
                    </a:p>
                  </a:txBody>
                  <a:tcPr marL="45720" marR="45720" marT="18288" marB="18288" anchor="ctr">
                    <a:solidFill>
                      <a:srgbClr val="F2F4F8"/>
                    </a:solidFill>
                  </a:tcPr>
                </a:tc>
                <a:tc>
                  <a:txBody>
                    <a:bodyPr/>
                    <a:lstStyle/>
                    <a:p>
                      <a:pPr algn="ctr"/>
                      <a:r>
                        <a:rPr sz="1100"/>
                        <a:t>0.746</a:t>
                      </a:r>
                    </a:p>
                  </a:txBody>
                  <a:tcPr marL="45720" marR="45720" marT="18288" marB="18288" anchor="ctr">
                    <a:solidFill>
                      <a:srgbClr val="F2F4F8"/>
                    </a:solidFill>
                  </a:tcPr>
                </a:tc>
                <a:tc>
                  <a:txBody>
                    <a:bodyPr/>
                    <a:lstStyle/>
                    <a:p>
                      <a:pPr algn="ctr"/>
                      <a:r>
                        <a:rPr sz="1100"/>
                        <a:t>0.788</a:t>
                      </a:r>
                    </a:p>
                  </a:txBody>
                  <a:tcPr marL="45720" marR="45720" marT="18288" marB="18288" anchor="ctr">
                    <a:solidFill>
                      <a:srgbClr val="F2F4F8"/>
                    </a:solidFill>
                  </a:tcPr>
                </a:tc>
                <a:tc>
                  <a:txBody>
                    <a:bodyPr/>
                    <a:lstStyle/>
                    <a:p>
                      <a:pPr algn="ctr"/>
                      <a:r>
                        <a:rPr sz="1100"/>
                        <a:t>0.766</a:t>
                      </a:r>
                    </a:p>
                  </a:txBody>
                  <a:tcPr marL="45720" marR="45720" marT="18288" marB="18288" anchor="ctr">
                    <a:solidFill>
                      <a:srgbClr val="F2F4F8"/>
                    </a:solidFill>
                  </a:tcPr>
                </a:tc>
                <a:tc>
                  <a:txBody>
                    <a:bodyPr/>
                    <a:lstStyle/>
                    <a:p>
                      <a:pPr algn="ctr"/>
                      <a:r>
                        <a:rPr sz="1100"/>
                        <a:t>0.956</a:t>
                      </a:r>
                    </a:p>
                  </a:txBody>
                  <a:tcPr marL="45720" marR="45720" marT="18288" marB="18288" anchor="ctr">
                    <a:solidFill>
                      <a:srgbClr val="F2F4F8"/>
                    </a:solidFill>
                  </a:tcPr>
                </a:tc>
                <a:tc>
                  <a:txBody>
                    <a:bodyPr/>
                    <a:lstStyle/>
                    <a:p>
                      <a:pPr algn="ctr"/>
                      <a:r>
                        <a:rPr sz="1100"/>
                        <a:t>0.903</a:t>
                      </a:r>
                    </a:p>
                  </a:txBody>
                  <a:tcPr marL="45720" marR="45720" marT="18288" marB="18288" anchor="ctr">
                    <a:solidFill>
                      <a:srgbClr val="F2F4F8"/>
                    </a:solidFill>
                  </a:tcPr>
                </a:tc>
                <a:tc>
                  <a:txBody>
                    <a:bodyPr/>
                    <a:lstStyle/>
                    <a:p>
                      <a:pPr algn="ctr"/>
                      <a:r>
                        <a:rPr sz="1100"/>
                        <a:t>0.929</a:t>
                      </a:r>
                    </a:p>
                  </a:txBody>
                  <a:tcPr marL="45720" marR="45720" marT="18288" marB="18288" anchor="ctr">
                    <a:solidFill>
                      <a:srgbClr val="F2F4F8"/>
                    </a:solidFill>
                  </a:tcPr>
                </a:tc>
                <a:tc>
                  <a:txBody>
                    <a:bodyPr/>
                    <a:lstStyle/>
                    <a:p>
                      <a:pPr algn="ctr"/>
                      <a:r>
                        <a:rPr sz="1100"/>
                        <a:t>0.876</a:t>
                      </a:r>
                    </a:p>
                  </a:txBody>
                  <a:tcPr marL="45720" marR="45720" marT="18288" marB="18288" anchor="ctr">
                    <a:solidFill>
                      <a:srgbClr val="F2F4F8"/>
                    </a:solidFill>
                  </a:tcPr>
                </a:tc>
                <a:tc>
                  <a:txBody>
                    <a:bodyPr/>
                    <a:lstStyle/>
                    <a:p>
                      <a:pPr algn="ctr"/>
                      <a:r>
                        <a:rPr sz="1100" dirty="0"/>
                        <a:t>0.856</a:t>
                      </a:r>
                    </a:p>
                  </a:txBody>
                  <a:tcPr marL="45720" marR="45720" marT="18288" marB="18288" anchor="ctr">
                    <a:solidFill>
                      <a:srgbClr val="F2F4F8"/>
                    </a:solidFill>
                  </a:tcPr>
                </a:tc>
                <a:extLst>
                  <a:ext uri="{0D108BD9-81ED-4DB2-BD59-A6C34878D82A}">
                    <a16:rowId xmlns:a16="http://schemas.microsoft.com/office/drawing/2014/main" val="10005"/>
                  </a:ext>
                </a:extLst>
              </a:tr>
            </a:tbl>
          </a:graphicData>
        </a:graphic>
      </p:graphicFrame>
      <p:pic>
        <p:nvPicPr>
          <p:cNvPr id="6" name="Picture 5" descr="cm4.png"/>
          <p:cNvPicPr>
            <a:picLocks noChangeAspect="1"/>
          </p:cNvPicPr>
          <p:nvPr/>
        </p:nvPicPr>
        <p:blipFill>
          <a:blip r:embed="rId2"/>
          <a:stretch>
            <a:fillRect/>
          </a:stretch>
        </p:blipFill>
        <p:spPr>
          <a:xfrm>
            <a:off x="731519" y="3200400"/>
            <a:ext cx="7680960" cy="2544318"/>
          </a:xfrm>
          <a:prstGeom prst="rect">
            <a:avLst/>
          </a:prstGeom>
        </p:spPr>
      </p:pic>
      <p:sp>
        <p:nvSpPr>
          <p:cNvPr id="7" name="TextBox 6"/>
          <p:cNvSpPr txBox="1"/>
          <p:nvPr/>
        </p:nvSpPr>
        <p:spPr>
          <a:xfrm>
            <a:off x="457200" y="5760720"/>
            <a:ext cx="8229600" cy="365760"/>
          </a:xfrm>
          <a:prstGeom prst="rect">
            <a:avLst/>
          </a:prstGeom>
          <a:noFill/>
        </p:spPr>
        <p:txBody>
          <a:bodyPr wrap="square">
            <a:spAutoFit/>
          </a:bodyPr>
          <a:lstStyle/>
          <a:p>
            <a:pPr algn="l">
              <a:spcAft>
                <a:spcPts val="400"/>
              </a:spcAft>
            </a:pPr>
            <a:r>
              <a:rPr sz="1000">
                <a:solidFill>
                  <a:srgbClr val="595959"/>
                </a:solidFill>
              </a:rPr>
              <a:t>P = precision, R = recall. Confusion matrices: rows = actual class, cells = share of row (count). 2025 test year, ≈251,000 forecasts per horizon.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Results — ROC Curves (24 h)</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21</a:t>
            </a:fld>
            <a:endParaRPr lang="en-US" sz="1000"/>
          </a:p>
        </p:txBody>
      </p:sp>
      <p:pic>
        <p:nvPicPr>
          <p:cNvPr id="5" name="Picture 4" descr="s24_6.png"/>
          <p:cNvPicPr>
            <a:picLocks noChangeAspect="1"/>
          </p:cNvPicPr>
          <p:nvPr/>
        </p:nvPicPr>
        <p:blipFill>
          <a:blip r:embed="rId2"/>
          <a:stretch>
            <a:fillRect/>
          </a:stretch>
        </p:blipFill>
        <p:spPr>
          <a:xfrm>
            <a:off x="731519" y="1188720"/>
            <a:ext cx="7680960" cy="4320540"/>
          </a:xfrm>
          <a:prstGeom prst="rect">
            <a:avLst/>
          </a:prstGeom>
        </p:spPr>
      </p:pic>
      <p:sp>
        <p:nvSpPr>
          <p:cNvPr id="6" name="TextBox 5"/>
          <p:cNvSpPr txBox="1"/>
          <p:nvPr/>
        </p:nvSpPr>
        <p:spPr>
          <a:xfrm>
            <a:off x="457200" y="5532120"/>
            <a:ext cx="8229600" cy="731520"/>
          </a:xfrm>
          <a:prstGeom prst="rect">
            <a:avLst/>
          </a:prstGeom>
          <a:noFill/>
        </p:spPr>
        <p:txBody>
          <a:bodyPr wrap="square">
            <a:spAutoFit/>
          </a:bodyPr>
          <a:lstStyle/>
          <a:p>
            <a:pPr algn="l">
              <a:spcAft>
                <a:spcPts val="400"/>
              </a:spcAft>
            </a:pPr>
            <a:r>
              <a:rPr sz="1200"/>
              <a:t>Macro ROC-AUC 0.982; Low-vs-rest AUC 0.990. At τ = 0.24 the rule catches 94.1% of Low hours at a 4.0% false-positive rate. Medium is the hardest class (AUC 0.966) because it lies between two thresholds.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Results — Cross-Validation on 2024</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22</a:t>
            </a:fld>
            <a:endParaRPr lang="en-US" sz="1000"/>
          </a:p>
        </p:txBody>
      </p:sp>
      <p:sp>
        <p:nvSpPr>
          <p:cNvPr id="6" name="TextBox 5"/>
          <p:cNvSpPr txBox="1"/>
          <p:nvPr/>
        </p:nvSpPr>
        <p:spPr>
          <a:xfrm>
            <a:off x="457200" y="5623560"/>
            <a:ext cx="8229600" cy="640080"/>
          </a:xfrm>
          <a:prstGeom prst="rect">
            <a:avLst/>
          </a:prstGeom>
          <a:noFill/>
        </p:spPr>
        <p:txBody>
          <a:bodyPr wrap="square">
            <a:spAutoFit/>
          </a:bodyPr>
          <a:lstStyle/>
          <a:p>
            <a:pPr algn="l">
              <a:spcAft>
                <a:spcPts val="400"/>
              </a:spcAft>
            </a:pPr>
            <a:r>
              <a:rPr sz="1200"/>
              <a:t>Six two-month blocked folds give accuracy 0.897 ± 0.056 and macro F1 0.864 ± 0.026, close to the 2025 test result (0.904 / 0.886): performance is stable across seasons.</a:t>
            </a:r>
          </a:p>
        </p:txBody>
      </p:sp>
      <p:pic>
        <p:nvPicPr>
          <p:cNvPr id="12" name="Picture 11">
            <a:extLst>
              <a:ext uri="{FF2B5EF4-FFF2-40B4-BE49-F238E27FC236}">
                <a16:creationId xmlns:a16="http://schemas.microsoft.com/office/drawing/2014/main" id="{120E0C6E-BD10-4746-6213-C883CC4B2A8A}"/>
              </a:ext>
            </a:extLst>
          </p:cNvPr>
          <p:cNvPicPr>
            <a:picLocks noChangeAspect="1"/>
          </p:cNvPicPr>
          <p:nvPr/>
        </p:nvPicPr>
        <p:blipFill>
          <a:blip r:embed="rId2"/>
          <a:srcRect r="33656"/>
          <a:stretch>
            <a:fillRect/>
          </a:stretch>
        </p:blipFill>
        <p:spPr>
          <a:xfrm>
            <a:off x="1538748" y="1005840"/>
            <a:ext cx="6066503" cy="4617720"/>
          </a:xfrm>
          <a:prstGeom prst="rect">
            <a:avLst/>
          </a:prstGeom>
        </p:spPr>
      </p:pic>
      <p:pic>
        <p:nvPicPr>
          <p:cNvPr id="14" name="Picture 13">
            <a:extLst>
              <a:ext uri="{FF2B5EF4-FFF2-40B4-BE49-F238E27FC236}">
                <a16:creationId xmlns:a16="http://schemas.microsoft.com/office/drawing/2014/main" id="{59A28F27-9055-1BF2-A5DE-5CBEB2BF014B}"/>
              </a:ext>
            </a:extLst>
          </p:cNvPr>
          <p:cNvPicPr>
            <a:picLocks noChangeAspect="1"/>
          </p:cNvPicPr>
          <p:nvPr/>
        </p:nvPicPr>
        <p:blipFill>
          <a:blip r:embed="rId2"/>
          <a:srcRect l="67096" b="47604"/>
          <a:stretch>
            <a:fillRect/>
          </a:stretch>
        </p:blipFill>
        <p:spPr>
          <a:xfrm>
            <a:off x="4571999" y="3204087"/>
            <a:ext cx="3008670" cy="24194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Results — Proposed vs Existing Algorithms</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23</a:t>
            </a:fld>
            <a:endParaRPr lang="en-US" sz="1000"/>
          </a:p>
        </p:txBody>
      </p:sp>
      <p:pic>
        <p:nvPicPr>
          <p:cNvPr id="5" name="Picture 4" descr="s11_3.jpg"/>
          <p:cNvPicPr>
            <a:picLocks noChangeAspect="1"/>
          </p:cNvPicPr>
          <p:nvPr/>
        </p:nvPicPr>
        <p:blipFill>
          <a:blip r:embed="rId2"/>
          <a:stretch>
            <a:fillRect/>
          </a:stretch>
        </p:blipFill>
        <p:spPr>
          <a:xfrm>
            <a:off x="365760" y="1188720"/>
            <a:ext cx="6355336" cy="4983480"/>
          </a:xfrm>
          <a:prstGeom prst="rect">
            <a:avLst/>
          </a:prstGeom>
        </p:spPr>
      </p:pic>
      <p:sp>
        <p:nvSpPr>
          <p:cNvPr id="6" name="TextBox 5"/>
          <p:cNvSpPr txBox="1"/>
          <p:nvPr/>
        </p:nvSpPr>
        <p:spPr>
          <a:xfrm>
            <a:off x="6766560" y="1371600"/>
            <a:ext cx="2103120" cy="4754880"/>
          </a:xfrm>
          <a:prstGeom prst="rect">
            <a:avLst/>
          </a:prstGeom>
          <a:noFill/>
        </p:spPr>
        <p:txBody>
          <a:bodyPr wrap="square">
            <a:spAutoFit/>
          </a:bodyPr>
          <a:lstStyle/>
          <a:p>
            <a:pPr marL="228600" indent="-228600" algn="l">
              <a:spcAft>
                <a:spcPts val="400"/>
              </a:spcAft>
              <a:buChar char="•"/>
            </a:pPr>
            <a:r>
              <a:rPr sz="1200"/>
              <a:t>Panel 1 and 2 show existing models with their usual argmax decision; ours uses the warning rule.</a:t>
            </a:r>
          </a:p>
          <a:p>
            <a:pPr marL="228600" indent="-228600" algn="l">
              <a:spcAft>
                <a:spcPts val="400"/>
              </a:spcAft>
              <a:buChar char="•"/>
            </a:pPr>
            <a:r>
              <a:rPr sz="1200"/>
              <a:t>At 24 h our system misses 2,858 of 5,668 onset hours vs 3,829 for LightGBM: 25% fewer missed onsets, at the cost of more false-alarm hours.</a:t>
            </a:r>
          </a:p>
          <a:p>
            <a:pPr marL="228600" indent="-228600" algn="l">
              <a:spcAft>
                <a:spcPts val="400"/>
              </a:spcAft>
              <a:buChar char="•"/>
            </a:pPr>
            <a:r>
              <a:rPr sz="1200"/>
              <a:t>Panel 4: lowest DO error at every horizon.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Results — Early-Warning Comparison (24 h)</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24</a:t>
            </a:fld>
            <a:endParaRPr lang="en-US" sz="1000"/>
          </a:p>
        </p:txBody>
      </p:sp>
      <p:pic>
        <p:nvPicPr>
          <p:cNvPr id="5" name="Picture 4" descr="s10_5.jpg"/>
          <p:cNvPicPr>
            <a:picLocks noChangeAspect="1"/>
          </p:cNvPicPr>
          <p:nvPr/>
        </p:nvPicPr>
        <p:blipFill>
          <a:blip r:embed="rId2"/>
          <a:stretch>
            <a:fillRect/>
          </a:stretch>
        </p:blipFill>
        <p:spPr>
          <a:xfrm>
            <a:off x="274319" y="1371600"/>
            <a:ext cx="8595360" cy="3082202"/>
          </a:xfrm>
          <a:prstGeom prst="rect">
            <a:avLst/>
          </a:prstGeom>
        </p:spPr>
      </p:pic>
      <p:sp>
        <p:nvSpPr>
          <p:cNvPr id="6" name="TextBox 5"/>
          <p:cNvSpPr txBox="1"/>
          <p:nvPr/>
        </p:nvSpPr>
        <p:spPr>
          <a:xfrm>
            <a:off x="457200" y="4754880"/>
            <a:ext cx="8229600" cy="1463040"/>
          </a:xfrm>
          <a:prstGeom prst="rect">
            <a:avLst/>
          </a:prstGeom>
          <a:noFill/>
        </p:spPr>
        <p:txBody>
          <a:bodyPr wrap="square">
            <a:spAutoFit/>
          </a:bodyPr>
          <a:lstStyle/>
          <a:p>
            <a:pPr marL="228600" indent="-228600" algn="l">
              <a:spcAft>
                <a:spcPts val="400"/>
              </a:spcAft>
              <a:buChar char="•"/>
            </a:pPr>
            <a:r>
              <a:rPr sz="1300"/>
              <a:t>Persistence and LightGBM shown with argmax decisions; ours with the frozen warning rule.</a:t>
            </a:r>
          </a:p>
          <a:p>
            <a:pPr marL="228600" indent="-228600" algn="l">
              <a:spcAft>
                <a:spcPts val="400"/>
              </a:spcAft>
              <a:buChar char="•"/>
            </a:pPr>
            <a:r>
              <a:rPr sz="1300"/>
              <a:t>Low-class recall rises from 88.6% (persistence) and 90.6% (LightGBM, argmax) to 94.1%, with Medium and Good accuracy almost unchanged.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Results — Modality Ablation</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25</a:t>
            </a:fld>
            <a:endParaRPr lang="en-US" sz="1000"/>
          </a:p>
        </p:txBody>
      </p:sp>
      <p:graphicFrame>
        <p:nvGraphicFramePr>
          <p:cNvPr id="5" name="Table 4"/>
          <p:cNvGraphicFramePr>
            <a:graphicFrameLocks noGrp="1"/>
          </p:cNvGraphicFramePr>
          <p:nvPr/>
        </p:nvGraphicFramePr>
        <p:xfrm>
          <a:off x="457200" y="1325880"/>
          <a:ext cx="8229598" cy="1645920"/>
        </p:xfrm>
        <a:graphic>
          <a:graphicData uri="http://schemas.openxmlformats.org/drawingml/2006/table">
            <a:tbl>
              <a:tblPr>
                <a:tableStyleId>{5940675A-B579-460E-94D1-54222C63F5DA}</a:tableStyleId>
              </a:tblPr>
              <a:tblGrid>
                <a:gridCol w="2837793">
                  <a:extLst>
                    <a:ext uri="{9D8B030D-6E8A-4147-A177-3AD203B41FA5}">
                      <a16:colId xmlns:a16="http://schemas.microsoft.com/office/drawing/2014/main" val="20000"/>
                    </a:ext>
                  </a:extLst>
                </a:gridCol>
                <a:gridCol w="1135117">
                  <a:extLst>
                    <a:ext uri="{9D8B030D-6E8A-4147-A177-3AD203B41FA5}">
                      <a16:colId xmlns:a16="http://schemas.microsoft.com/office/drawing/2014/main" val="20001"/>
                    </a:ext>
                  </a:extLst>
                </a:gridCol>
                <a:gridCol w="1418896">
                  <a:extLst>
                    <a:ext uri="{9D8B030D-6E8A-4147-A177-3AD203B41FA5}">
                      <a16:colId xmlns:a16="http://schemas.microsoft.com/office/drawing/2014/main" val="20002"/>
                    </a:ext>
                  </a:extLst>
                </a:gridCol>
                <a:gridCol w="1418896">
                  <a:extLst>
                    <a:ext uri="{9D8B030D-6E8A-4147-A177-3AD203B41FA5}">
                      <a16:colId xmlns:a16="http://schemas.microsoft.com/office/drawing/2014/main" val="20003"/>
                    </a:ext>
                  </a:extLst>
                </a:gridCol>
                <a:gridCol w="1418896">
                  <a:extLst>
                    <a:ext uri="{9D8B030D-6E8A-4147-A177-3AD203B41FA5}">
                      <a16:colId xmlns:a16="http://schemas.microsoft.com/office/drawing/2014/main" val="20004"/>
                    </a:ext>
                  </a:extLst>
                </a:gridCol>
              </a:tblGrid>
              <a:tr h="411480">
                <a:tc>
                  <a:txBody>
                    <a:bodyPr/>
                    <a:lstStyle/>
                    <a:p>
                      <a:pPr algn="l"/>
                      <a:r>
                        <a:rPr sz="1300" b="1">
                          <a:solidFill>
                            <a:srgbClr val="FFFFFF"/>
                          </a:solidFill>
                        </a:rPr>
                        <a:t>Inputs</a:t>
                      </a:r>
                    </a:p>
                  </a:txBody>
                  <a:tcPr marL="45720" marR="45720" marT="18288" marB="18288" anchor="ctr">
                    <a:solidFill>
                      <a:srgbClr val="1F3864"/>
                    </a:solidFill>
                  </a:tcPr>
                </a:tc>
                <a:tc>
                  <a:txBody>
                    <a:bodyPr/>
                    <a:lstStyle/>
                    <a:p>
                      <a:pPr algn="ctr"/>
                      <a:r>
                        <a:rPr sz="1300" b="1">
                          <a:solidFill>
                            <a:srgbClr val="FFFFFF"/>
                          </a:solidFill>
                        </a:rPr>
                        <a:t>Features</a:t>
                      </a:r>
                    </a:p>
                  </a:txBody>
                  <a:tcPr marL="45720" marR="45720" marT="18288" marB="18288" anchor="ctr">
                    <a:solidFill>
                      <a:srgbClr val="1F3864"/>
                    </a:solidFill>
                  </a:tcPr>
                </a:tc>
                <a:tc>
                  <a:txBody>
                    <a:bodyPr/>
                    <a:lstStyle/>
                    <a:p>
                      <a:pPr algn="ctr"/>
                      <a:r>
                        <a:rPr sz="1300" b="1">
                          <a:solidFill>
                            <a:srgbClr val="FFFFFF"/>
                          </a:solidFill>
                        </a:rPr>
                        <a:t>RMSE (mg/L)</a:t>
                      </a:r>
                    </a:p>
                  </a:txBody>
                  <a:tcPr marL="45720" marR="45720" marT="18288" marB="18288" anchor="ctr">
                    <a:solidFill>
                      <a:srgbClr val="1F3864"/>
                    </a:solidFill>
                  </a:tcPr>
                </a:tc>
                <a:tc>
                  <a:txBody>
                    <a:bodyPr/>
                    <a:lstStyle/>
                    <a:p>
                      <a:pPr algn="ctr"/>
                      <a:r>
                        <a:rPr sz="1300" b="1">
                          <a:solidFill>
                            <a:srgbClr val="FFFFFF"/>
                          </a:solidFill>
                        </a:rPr>
                        <a:t>Macro F1</a:t>
                      </a:r>
                    </a:p>
                  </a:txBody>
                  <a:tcPr marL="45720" marR="45720" marT="18288" marB="18288" anchor="ctr">
                    <a:solidFill>
                      <a:srgbClr val="1F3864"/>
                    </a:solidFill>
                  </a:tcPr>
                </a:tc>
                <a:tc>
                  <a:txBody>
                    <a:bodyPr/>
                    <a:lstStyle/>
                    <a:p>
                      <a:pPr algn="ctr"/>
                      <a:r>
                        <a:rPr sz="1300" b="1">
                          <a:solidFill>
                            <a:srgbClr val="FFFFFF"/>
                          </a:solidFill>
                        </a:rPr>
                        <a:t>Onset recall</a:t>
                      </a:r>
                    </a:p>
                  </a:txBody>
                  <a:tcPr marL="45720" marR="45720" marT="18288" marB="18288" anchor="ctr">
                    <a:solidFill>
                      <a:srgbClr val="1F3864"/>
                    </a:solidFill>
                  </a:tcPr>
                </a:tc>
                <a:extLst>
                  <a:ext uri="{0D108BD9-81ED-4DB2-BD59-A6C34878D82A}">
                    <a16:rowId xmlns:a16="http://schemas.microsoft.com/office/drawing/2014/main" val="10000"/>
                  </a:ext>
                </a:extLst>
              </a:tr>
              <a:tr h="411480">
                <a:tc>
                  <a:txBody>
                    <a:bodyPr/>
                    <a:lstStyle/>
                    <a:p>
                      <a:pPr algn="l"/>
                      <a:r>
                        <a:rPr sz="1300" b="1"/>
                        <a:t>W (water only)</a:t>
                      </a:r>
                    </a:p>
                  </a:txBody>
                  <a:tcPr marL="45720" marR="45720" marT="18288" marB="18288" anchor="ctr">
                    <a:solidFill>
                      <a:srgbClr val="FFFFFF"/>
                    </a:solidFill>
                  </a:tcPr>
                </a:tc>
                <a:tc>
                  <a:txBody>
                    <a:bodyPr/>
                    <a:lstStyle/>
                    <a:p>
                      <a:pPr algn="ctr"/>
                      <a:r>
                        <a:rPr sz="1300"/>
                        <a:t>156</a:t>
                      </a:r>
                    </a:p>
                  </a:txBody>
                  <a:tcPr marL="45720" marR="45720" marT="18288" marB="18288" anchor="ctr">
                    <a:solidFill>
                      <a:srgbClr val="FFFFFF"/>
                    </a:solidFill>
                  </a:tcPr>
                </a:tc>
                <a:tc>
                  <a:txBody>
                    <a:bodyPr/>
                    <a:lstStyle/>
                    <a:p>
                      <a:pPr algn="ctr"/>
                      <a:r>
                        <a:rPr sz="1300"/>
                        <a:t>0.7001</a:t>
                      </a:r>
                    </a:p>
                  </a:txBody>
                  <a:tcPr marL="45720" marR="45720" marT="18288" marB="18288" anchor="ctr">
                    <a:solidFill>
                      <a:srgbClr val="FFFFFF"/>
                    </a:solidFill>
                  </a:tcPr>
                </a:tc>
                <a:tc>
                  <a:txBody>
                    <a:bodyPr/>
                    <a:lstStyle/>
                    <a:p>
                      <a:pPr algn="ctr"/>
                      <a:r>
                        <a:rPr sz="1300"/>
                        <a:t>0.887</a:t>
                      </a:r>
                    </a:p>
                  </a:txBody>
                  <a:tcPr marL="45720" marR="45720" marT="18288" marB="18288" anchor="ctr">
                    <a:solidFill>
                      <a:srgbClr val="FFFFFF"/>
                    </a:solidFill>
                  </a:tcPr>
                </a:tc>
                <a:tc>
                  <a:txBody>
                    <a:bodyPr/>
                    <a:lstStyle/>
                    <a:p>
                      <a:pPr algn="ctr"/>
                      <a:r>
                        <a:rPr sz="1300"/>
                        <a:t>0.487</a:t>
                      </a:r>
                    </a:p>
                  </a:txBody>
                  <a:tcPr marL="45720" marR="45720" marT="18288" marB="18288" anchor="ctr">
                    <a:solidFill>
                      <a:srgbClr val="FFFFFF"/>
                    </a:solidFill>
                  </a:tcPr>
                </a:tc>
                <a:extLst>
                  <a:ext uri="{0D108BD9-81ED-4DB2-BD59-A6C34878D82A}">
                    <a16:rowId xmlns:a16="http://schemas.microsoft.com/office/drawing/2014/main" val="10001"/>
                  </a:ext>
                </a:extLst>
              </a:tr>
              <a:tr h="411480">
                <a:tc>
                  <a:txBody>
                    <a:bodyPr/>
                    <a:lstStyle/>
                    <a:p>
                      <a:pPr algn="l"/>
                      <a:r>
                        <a:rPr sz="1300" b="1"/>
                        <a:t>W + M (adds weather)</a:t>
                      </a:r>
                    </a:p>
                  </a:txBody>
                  <a:tcPr marL="45720" marR="45720" marT="18288" marB="18288" anchor="ctr">
                    <a:solidFill>
                      <a:srgbClr val="F2F4F8"/>
                    </a:solidFill>
                  </a:tcPr>
                </a:tc>
                <a:tc>
                  <a:txBody>
                    <a:bodyPr/>
                    <a:lstStyle/>
                    <a:p>
                      <a:pPr algn="ctr"/>
                      <a:r>
                        <a:rPr sz="1300"/>
                        <a:t>195</a:t>
                      </a:r>
                    </a:p>
                  </a:txBody>
                  <a:tcPr marL="45720" marR="45720" marT="18288" marB="18288" anchor="ctr">
                    <a:solidFill>
                      <a:srgbClr val="F2F4F8"/>
                    </a:solidFill>
                  </a:tcPr>
                </a:tc>
                <a:tc>
                  <a:txBody>
                    <a:bodyPr/>
                    <a:lstStyle/>
                    <a:p>
                      <a:pPr algn="ctr"/>
                      <a:r>
                        <a:rPr sz="1300"/>
                        <a:t>0.6834</a:t>
                      </a:r>
                    </a:p>
                  </a:txBody>
                  <a:tcPr marL="45720" marR="45720" marT="18288" marB="18288" anchor="ctr">
                    <a:solidFill>
                      <a:srgbClr val="F2F4F8"/>
                    </a:solidFill>
                  </a:tcPr>
                </a:tc>
                <a:tc>
                  <a:txBody>
                    <a:bodyPr/>
                    <a:lstStyle/>
                    <a:p>
                      <a:pPr algn="ctr"/>
                      <a:r>
                        <a:rPr sz="1300"/>
                        <a:t>0.888</a:t>
                      </a:r>
                    </a:p>
                  </a:txBody>
                  <a:tcPr marL="45720" marR="45720" marT="18288" marB="18288" anchor="ctr">
                    <a:solidFill>
                      <a:srgbClr val="F2F4F8"/>
                    </a:solidFill>
                  </a:tcPr>
                </a:tc>
                <a:tc>
                  <a:txBody>
                    <a:bodyPr/>
                    <a:lstStyle/>
                    <a:p>
                      <a:pPr algn="ctr"/>
                      <a:r>
                        <a:rPr sz="1300"/>
                        <a:t>0.488</a:t>
                      </a:r>
                    </a:p>
                  </a:txBody>
                  <a:tcPr marL="45720" marR="45720" marT="18288" marB="18288" anchor="ctr">
                    <a:solidFill>
                      <a:srgbClr val="F2F4F8"/>
                    </a:solidFill>
                  </a:tcPr>
                </a:tc>
                <a:extLst>
                  <a:ext uri="{0D108BD9-81ED-4DB2-BD59-A6C34878D82A}">
                    <a16:rowId xmlns:a16="http://schemas.microsoft.com/office/drawing/2014/main" val="10002"/>
                  </a:ext>
                </a:extLst>
              </a:tr>
              <a:tr h="411480">
                <a:tc>
                  <a:txBody>
                    <a:bodyPr/>
                    <a:lstStyle/>
                    <a:p>
                      <a:pPr algn="l"/>
                      <a:r>
                        <a:rPr sz="1300" b="1"/>
                        <a:t>W + M + A (adds air quality)</a:t>
                      </a:r>
                    </a:p>
                  </a:txBody>
                  <a:tcPr marL="45720" marR="45720" marT="18288" marB="18288" anchor="ctr">
                    <a:solidFill>
                      <a:srgbClr val="E2EFDA"/>
                    </a:solidFill>
                  </a:tcPr>
                </a:tc>
                <a:tc>
                  <a:txBody>
                    <a:bodyPr/>
                    <a:lstStyle/>
                    <a:p>
                      <a:pPr algn="ctr"/>
                      <a:r>
                        <a:rPr sz="1300" b="1"/>
                        <a:t>211</a:t>
                      </a:r>
                    </a:p>
                  </a:txBody>
                  <a:tcPr marL="45720" marR="45720" marT="18288" marB="18288" anchor="ctr">
                    <a:solidFill>
                      <a:srgbClr val="E2EFDA"/>
                    </a:solidFill>
                  </a:tcPr>
                </a:tc>
                <a:tc>
                  <a:txBody>
                    <a:bodyPr/>
                    <a:lstStyle/>
                    <a:p>
                      <a:pPr algn="ctr"/>
                      <a:r>
                        <a:rPr sz="1300" b="1"/>
                        <a:t>0.6809</a:t>
                      </a:r>
                    </a:p>
                  </a:txBody>
                  <a:tcPr marL="45720" marR="45720" marT="18288" marB="18288" anchor="ctr">
                    <a:solidFill>
                      <a:srgbClr val="E2EFDA"/>
                    </a:solidFill>
                  </a:tcPr>
                </a:tc>
                <a:tc>
                  <a:txBody>
                    <a:bodyPr/>
                    <a:lstStyle/>
                    <a:p>
                      <a:pPr algn="ctr"/>
                      <a:r>
                        <a:rPr sz="1300" b="1"/>
                        <a:t>0.888</a:t>
                      </a:r>
                    </a:p>
                  </a:txBody>
                  <a:tcPr marL="45720" marR="45720" marT="18288" marB="18288" anchor="ctr">
                    <a:solidFill>
                      <a:srgbClr val="E2EFDA"/>
                    </a:solidFill>
                  </a:tcPr>
                </a:tc>
                <a:tc>
                  <a:txBody>
                    <a:bodyPr/>
                    <a:lstStyle/>
                    <a:p>
                      <a:pPr algn="ctr"/>
                      <a:r>
                        <a:rPr sz="1300" b="1"/>
                        <a:t>0.494</a:t>
                      </a:r>
                    </a:p>
                  </a:txBody>
                  <a:tcPr marL="45720" marR="45720" marT="18288" marB="18288" anchor="ctr">
                    <a:solidFill>
                      <a:srgbClr val="E2EFDA"/>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457200" y="3017520"/>
            <a:ext cx="8229600" cy="365760"/>
          </a:xfrm>
          <a:prstGeom prst="rect">
            <a:avLst/>
          </a:prstGeom>
          <a:noFill/>
        </p:spPr>
        <p:txBody>
          <a:bodyPr wrap="square">
            <a:spAutoFit/>
          </a:bodyPr>
          <a:lstStyle/>
          <a:p>
            <a:pPr algn="l">
              <a:spcAft>
                <a:spcPts val="400"/>
              </a:spcAft>
            </a:pPr>
            <a:r>
              <a:rPr sz="1100">
                <a:solidFill>
                  <a:srgbClr val="595959"/>
                </a:solidFill>
              </a:rPr>
              <a:t>LightGBM alone with the same settings, so differences come from the data, not the model. 2025 test year.</a:t>
            </a:r>
          </a:p>
        </p:txBody>
      </p:sp>
      <p:sp>
        <p:nvSpPr>
          <p:cNvPr id="7" name="Rounded Rectangle 6"/>
          <p:cNvSpPr/>
          <p:nvPr/>
        </p:nvSpPr>
        <p:spPr>
          <a:xfrm>
            <a:off x="457200" y="3611880"/>
            <a:ext cx="260604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94360" y="374904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W</a:t>
            </a:r>
          </a:p>
        </p:txBody>
      </p:sp>
      <p:sp>
        <p:nvSpPr>
          <p:cNvPr id="9" name="TextBox 8"/>
          <p:cNvSpPr txBox="1"/>
          <p:nvPr/>
        </p:nvSpPr>
        <p:spPr>
          <a:xfrm>
            <a:off x="1097280" y="3721608"/>
            <a:ext cx="1874519" cy="457200"/>
          </a:xfrm>
          <a:prstGeom prst="rect">
            <a:avLst/>
          </a:prstGeom>
          <a:noFill/>
        </p:spPr>
        <p:txBody>
          <a:bodyPr wrap="square" anchor="ctr">
            <a:spAutoFit/>
          </a:bodyPr>
          <a:lstStyle/>
          <a:p>
            <a:pPr algn="l">
              <a:spcAft>
                <a:spcPts val="400"/>
              </a:spcAft>
            </a:pPr>
            <a:r>
              <a:rPr sz="1400" b="1">
                <a:solidFill>
                  <a:srgbClr val="1F3864"/>
                </a:solidFill>
              </a:rPr>
              <a:t>Water sensors</a:t>
            </a:r>
          </a:p>
        </p:txBody>
      </p:sp>
      <p:sp>
        <p:nvSpPr>
          <p:cNvPr id="10" name="TextBox 9"/>
          <p:cNvSpPr txBox="1"/>
          <p:nvPr/>
        </p:nvSpPr>
        <p:spPr>
          <a:xfrm>
            <a:off x="594360" y="4233672"/>
            <a:ext cx="2331720" cy="1234440"/>
          </a:xfrm>
          <a:prstGeom prst="rect">
            <a:avLst/>
          </a:prstGeom>
          <a:noFill/>
        </p:spPr>
        <p:txBody>
          <a:bodyPr wrap="square">
            <a:spAutoFit/>
          </a:bodyPr>
          <a:lstStyle/>
          <a:p>
            <a:pPr algn="l">
              <a:spcAft>
                <a:spcPts val="400"/>
              </a:spcAft>
            </a:pPr>
            <a:r>
              <a:rPr sz="1200">
                <a:solidFill>
                  <a:srgbClr val="000000"/>
                </a:solidFill>
              </a:rPr>
              <a:t>Carry most of the signal: water-only already reaches macro F1 0.887.</a:t>
            </a:r>
          </a:p>
        </p:txBody>
      </p:sp>
      <p:sp>
        <p:nvSpPr>
          <p:cNvPr id="11" name="Rounded Rectangle 10"/>
          <p:cNvSpPr/>
          <p:nvPr/>
        </p:nvSpPr>
        <p:spPr>
          <a:xfrm>
            <a:off x="3268980" y="3611880"/>
            <a:ext cx="260604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406140" y="374904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M</a:t>
            </a:r>
          </a:p>
        </p:txBody>
      </p:sp>
      <p:sp>
        <p:nvSpPr>
          <p:cNvPr id="13" name="TextBox 12"/>
          <p:cNvSpPr txBox="1"/>
          <p:nvPr/>
        </p:nvSpPr>
        <p:spPr>
          <a:xfrm>
            <a:off x="3909060" y="3721608"/>
            <a:ext cx="1874519" cy="457200"/>
          </a:xfrm>
          <a:prstGeom prst="rect">
            <a:avLst/>
          </a:prstGeom>
          <a:noFill/>
        </p:spPr>
        <p:txBody>
          <a:bodyPr wrap="square" anchor="ctr">
            <a:spAutoFit/>
          </a:bodyPr>
          <a:lstStyle/>
          <a:p>
            <a:pPr algn="l">
              <a:spcAft>
                <a:spcPts val="400"/>
              </a:spcAft>
            </a:pPr>
            <a:r>
              <a:rPr sz="1400" b="1">
                <a:solidFill>
                  <a:srgbClr val="1F3864"/>
                </a:solidFill>
              </a:rPr>
              <a:t>+ Weather</a:t>
            </a:r>
          </a:p>
        </p:txBody>
      </p:sp>
      <p:sp>
        <p:nvSpPr>
          <p:cNvPr id="14" name="TextBox 13"/>
          <p:cNvSpPr txBox="1"/>
          <p:nvPr/>
        </p:nvSpPr>
        <p:spPr>
          <a:xfrm>
            <a:off x="3406140" y="4233672"/>
            <a:ext cx="2331720" cy="1234440"/>
          </a:xfrm>
          <a:prstGeom prst="rect">
            <a:avLst/>
          </a:prstGeom>
          <a:noFill/>
        </p:spPr>
        <p:txBody>
          <a:bodyPr wrap="square">
            <a:spAutoFit/>
          </a:bodyPr>
          <a:lstStyle/>
          <a:p>
            <a:pPr algn="l">
              <a:spcAft>
                <a:spcPts val="400"/>
              </a:spcAft>
            </a:pPr>
            <a:r>
              <a:rPr sz="1200">
                <a:solidFill>
                  <a:srgbClr val="000000"/>
                </a:solidFill>
              </a:rPr>
              <a:t>Lowers DO RMSE by 2.4% (0.700 → 0.683); classification unchanged.</a:t>
            </a:r>
          </a:p>
        </p:txBody>
      </p:sp>
      <p:sp>
        <p:nvSpPr>
          <p:cNvPr id="15" name="Rounded Rectangle 14"/>
          <p:cNvSpPr/>
          <p:nvPr/>
        </p:nvSpPr>
        <p:spPr>
          <a:xfrm>
            <a:off x="6080760" y="3611880"/>
            <a:ext cx="2606040" cy="19202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17920" y="374904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A</a:t>
            </a:r>
          </a:p>
        </p:txBody>
      </p:sp>
      <p:sp>
        <p:nvSpPr>
          <p:cNvPr id="17" name="TextBox 16"/>
          <p:cNvSpPr txBox="1"/>
          <p:nvPr/>
        </p:nvSpPr>
        <p:spPr>
          <a:xfrm>
            <a:off x="6720840" y="3721608"/>
            <a:ext cx="1874519" cy="457200"/>
          </a:xfrm>
          <a:prstGeom prst="rect">
            <a:avLst/>
          </a:prstGeom>
          <a:noFill/>
        </p:spPr>
        <p:txBody>
          <a:bodyPr wrap="square" anchor="ctr">
            <a:spAutoFit/>
          </a:bodyPr>
          <a:lstStyle/>
          <a:p>
            <a:pPr algn="l">
              <a:spcAft>
                <a:spcPts val="400"/>
              </a:spcAft>
            </a:pPr>
            <a:r>
              <a:rPr sz="1400" b="1">
                <a:solidFill>
                  <a:srgbClr val="1F3864"/>
                </a:solidFill>
              </a:rPr>
              <a:t>+ Air quality</a:t>
            </a:r>
          </a:p>
        </p:txBody>
      </p:sp>
      <p:sp>
        <p:nvSpPr>
          <p:cNvPr id="18" name="TextBox 17"/>
          <p:cNvSpPr txBox="1"/>
          <p:nvPr/>
        </p:nvSpPr>
        <p:spPr>
          <a:xfrm>
            <a:off x="6217920" y="4233672"/>
            <a:ext cx="2331720" cy="1234440"/>
          </a:xfrm>
          <a:prstGeom prst="rect">
            <a:avLst/>
          </a:prstGeom>
          <a:noFill/>
        </p:spPr>
        <p:txBody>
          <a:bodyPr wrap="square">
            <a:spAutoFit/>
          </a:bodyPr>
          <a:lstStyle/>
          <a:p>
            <a:pPr algn="l">
              <a:spcAft>
                <a:spcPts val="400"/>
              </a:spcAft>
            </a:pPr>
            <a:r>
              <a:rPr sz="1200">
                <a:solidFill>
                  <a:srgbClr val="000000"/>
                </a:solidFill>
              </a:rPr>
              <a:t>Further 0.4% RMSE gain and onset recall 0.488 → 0.494: small but consistent.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Results — Early-Warning Lead Time</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26</a:t>
            </a:fld>
            <a:endParaRPr lang="en-US" sz="1000"/>
          </a:p>
        </p:txBody>
      </p:sp>
      <p:pic>
        <p:nvPicPr>
          <p:cNvPr id="5" name="Picture 4" descr="leadtime.png"/>
          <p:cNvPicPr>
            <a:picLocks noChangeAspect="1"/>
          </p:cNvPicPr>
          <p:nvPr/>
        </p:nvPicPr>
        <p:blipFill>
          <a:blip r:embed="rId2"/>
          <a:stretch>
            <a:fillRect/>
          </a:stretch>
        </p:blipFill>
        <p:spPr>
          <a:xfrm>
            <a:off x="457200" y="1463040"/>
            <a:ext cx="5029200" cy="2912745"/>
          </a:xfrm>
          <a:prstGeom prst="rect">
            <a:avLst/>
          </a:prstGeom>
        </p:spPr>
      </p:pic>
      <p:sp>
        <p:nvSpPr>
          <p:cNvPr id="6" name="TextBox 5"/>
          <p:cNvSpPr txBox="1"/>
          <p:nvPr/>
        </p:nvSpPr>
        <p:spPr>
          <a:xfrm>
            <a:off x="5623560" y="1371600"/>
            <a:ext cx="3108960" cy="4754880"/>
          </a:xfrm>
          <a:prstGeom prst="rect">
            <a:avLst/>
          </a:prstGeom>
          <a:noFill/>
        </p:spPr>
        <p:txBody>
          <a:bodyPr wrap="square">
            <a:spAutoFit/>
          </a:bodyPr>
          <a:lstStyle/>
          <a:p>
            <a:pPr marL="228600" indent="-228600" algn="l">
              <a:spcAft>
                <a:spcPts val="400"/>
              </a:spcAft>
              <a:buChar char="•"/>
            </a:pPr>
            <a:r>
              <a:rPr sz="1300" b="1"/>
              <a:t>Events warned: </a:t>
            </a:r>
            <a:r>
              <a:rPr sz="1300"/>
              <a:t>119 of 230 real Low-DO events in 2025 (51.7%) were warned before onset.</a:t>
            </a:r>
          </a:p>
          <a:p>
            <a:pPr marL="228600" indent="-228600" algn="l">
              <a:spcAft>
                <a:spcPts val="400"/>
              </a:spcAft>
              <a:buChar char="•"/>
            </a:pPr>
            <a:r>
              <a:rPr sz="1300" b="1"/>
              <a:t>Lead time: </a:t>
            </a:r>
            <a:r>
              <a:rPr sz="1300"/>
              <a:t>1 to 24 h; the largest group of warned events received the full ~24 h notice.</a:t>
            </a:r>
          </a:p>
          <a:p>
            <a:pPr marL="228600" indent="-228600" algn="l">
              <a:spcAft>
                <a:spcPts val="400"/>
              </a:spcAft>
              <a:buChar char="•"/>
            </a:pPr>
            <a:r>
              <a:rPr sz="1300" b="1"/>
              <a:t>Missed onsets: </a:t>
            </a:r>
            <a:r>
              <a:rPr sz="1300"/>
              <a:t>25% fewer missed onset hours than LightGBM at 24 h.</a:t>
            </a:r>
          </a:p>
          <a:p>
            <a:pPr marL="228600" indent="-228600" algn="l">
              <a:spcAft>
                <a:spcPts val="400"/>
              </a:spcAft>
              <a:buChar char="•"/>
            </a:pPr>
            <a:r>
              <a:rPr sz="1300" b="1"/>
              <a:t>Limitation: </a:t>
            </a:r>
            <a:r>
              <a:rPr sz="1300"/>
              <a:t>about half of onsets are still missed: the main target for future work.</a:t>
            </a:r>
          </a:p>
        </p:txBody>
      </p:sp>
      <p:sp>
        <p:nvSpPr>
          <p:cNvPr id="7" name="TextBox 6"/>
          <p:cNvSpPr txBox="1"/>
          <p:nvPr/>
        </p:nvSpPr>
        <p:spPr>
          <a:xfrm>
            <a:off x="457200" y="4434840"/>
            <a:ext cx="8229600" cy="365760"/>
          </a:xfrm>
          <a:prstGeom prst="rect">
            <a:avLst/>
          </a:prstGeom>
          <a:noFill/>
        </p:spPr>
        <p:txBody>
          <a:bodyPr wrap="square">
            <a:spAutoFit/>
          </a:bodyPr>
          <a:lstStyle/>
          <a:p>
            <a:pPr algn="l">
              <a:spcAft>
                <a:spcPts val="400"/>
              </a:spcAft>
            </a:pPr>
            <a:r>
              <a:rPr sz="1100">
                <a:solidFill>
                  <a:srgbClr val="595959"/>
                </a:solidFill>
              </a:rPr>
              <a:t>Histogram: hours of warning before each warned 2025 event (24 h horizon).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a:t>Deployment — Live Monitoring Dashboard</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27</a:t>
            </a:fld>
            <a:endParaRPr lang="en-US" sz="1000"/>
          </a:p>
        </p:txBody>
      </p:sp>
      <p:pic>
        <p:nvPicPr>
          <p:cNvPr id="5" name="Picture 4" descr="s31_9.png"/>
          <p:cNvPicPr>
            <a:picLocks noChangeAspect="1"/>
          </p:cNvPicPr>
          <p:nvPr/>
        </p:nvPicPr>
        <p:blipFill>
          <a:blip r:embed="rId2"/>
          <a:stretch>
            <a:fillRect/>
          </a:stretch>
        </p:blipFill>
        <p:spPr>
          <a:xfrm>
            <a:off x="457200" y="1280160"/>
            <a:ext cx="8229600" cy="3970925"/>
          </a:xfrm>
          <a:prstGeom prst="rect">
            <a:avLst/>
          </a:prstGeom>
        </p:spPr>
      </p:pic>
      <p:sp>
        <p:nvSpPr>
          <p:cNvPr id="6" name="TextBox 5"/>
          <p:cNvSpPr txBox="1"/>
          <p:nvPr/>
        </p:nvSpPr>
        <p:spPr>
          <a:xfrm>
            <a:off x="457200" y="5349240"/>
            <a:ext cx="8229600" cy="914400"/>
          </a:xfrm>
          <a:prstGeom prst="rect">
            <a:avLst/>
          </a:prstGeom>
          <a:noFill/>
        </p:spPr>
        <p:txBody>
          <a:bodyPr wrap="square">
            <a:spAutoFit/>
          </a:bodyPr>
          <a:lstStyle/>
          <a:p>
            <a:pPr marL="228600" indent="-228600" algn="l">
              <a:spcAft>
                <a:spcPts val="400"/>
              </a:spcAft>
              <a:buChar char="•"/>
            </a:pPr>
            <a:r>
              <a:rPr sz="1200"/>
              <a:t>Streamlit + FastAPI app with Overview, Predict, Monitor, Live and Results tabs, using the frozen models on live USGS data (October 2026).</a:t>
            </a:r>
          </a:p>
          <a:p>
            <a:pPr marL="228600" indent="-228600" algn="l">
              <a:spcAft>
                <a:spcPts val="400"/>
              </a:spcAft>
              <a:buChar char="•"/>
            </a:pPr>
            <a:r>
              <a:rPr sz="1200"/>
              <a:t>Stations already below 5 mg/L are listed separately as “already Low”, so they are never mistaken for advance warnings.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Comparison with Existing Work</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28</a:t>
            </a:fld>
            <a:endParaRPr lang="en-US" sz="1000"/>
          </a:p>
        </p:txBody>
      </p:sp>
      <p:graphicFrame>
        <p:nvGraphicFramePr>
          <p:cNvPr id="5" name="Table 4"/>
          <p:cNvGraphicFramePr>
            <a:graphicFrameLocks noGrp="1"/>
          </p:cNvGraphicFramePr>
          <p:nvPr/>
        </p:nvGraphicFramePr>
        <p:xfrm>
          <a:off x="228600" y="1234440"/>
          <a:ext cx="8686796" cy="4443984"/>
        </p:xfrm>
        <a:graphic>
          <a:graphicData uri="http://schemas.openxmlformats.org/drawingml/2006/table">
            <a:tbl>
              <a:tblPr>
                <a:tableStyleId>{5940675A-B579-460E-94D1-54222C63F5DA}</a:tableStyleId>
              </a:tblPr>
              <a:tblGrid>
                <a:gridCol w="1347150">
                  <a:extLst>
                    <a:ext uri="{9D8B030D-6E8A-4147-A177-3AD203B41FA5}">
                      <a16:colId xmlns:a16="http://schemas.microsoft.com/office/drawing/2014/main" val="20000"/>
                    </a:ext>
                  </a:extLst>
                </a:gridCol>
                <a:gridCol w="1486511">
                  <a:extLst>
                    <a:ext uri="{9D8B030D-6E8A-4147-A177-3AD203B41FA5}">
                      <a16:colId xmlns:a16="http://schemas.microsoft.com/office/drawing/2014/main" val="20001"/>
                    </a:ext>
                  </a:extLst>
                </a:gridCol>
                <a:gridCol w="1114883">
                  <a:extLst>
                    <a:ext uri="{9D8B030D-6E8A-4147-A177-3AD203B41FA5}">
                      <a16:colId xmlns:a16="http://schemas.microsoft.com/office/drawing/2014/main" val="20002"/>
                    </a:ext>
                  </a:extLst>
                </a:gridCol>
                <a:gridCol w="1254243">
                  <a:extLst>
                    <a:ext uri="{9D8B030D-6E8A-4147-A177-3AD203B41FA5}">
                      <a16:colId xmlns:a16="http://schemas.microsoft.com/office/drawing/2014/main" val="20003"/>
                    </a:ext>
                  </a:extLst>
                </a:gridCol>
                <a:gridCol w="789709">
                  <a:extLst>
                    <a:ext uri="{9D8B030D-6E8A-4147-A177-3AD203B41FA5}">
                      <a16:colId xmlns:a16="http://schemas.microsoft.com/office/drawing/2014/main" val="20004"/>
                    </a:ext>
                  </a:extLst>
                </a:gridCol>
                <a:gridCol w="836162">
                  <a:extLst>
                    <a:ext uri="{9D8B030D-6E8A-4147-A177-3AD203B41FA5}">
                      <a16:colId xmlns:a16="http://schemas.microsoft.com/office/drawing/2014/main" val="20005"/>
                    </a:ext>
                  </a:extLst>
                </a:gridCol>
                <a:gridCol w="929069">
                  <a:extLst>
                    <a:ext uri="{9D8B030D-6E8A-4147-A177-3AD203B41FA5}">
                      <a16:colId xmlns:a16="http://schemas.microsoft.com/office/drawing/2014/main" val="20006"/>
                    </a:ext>
                  </a:extLst>
                </a:gridCol>
                <a:gridCol w="929069">
                  <a:extLst>
                    <a:ext uri="{9D8B030D-6E8A-4147-A177-3AD203B41FA5}">
                      <a16:colId xmlns:a16="http://schemas.microsoft.com/office/drawing/2014/main" val="20007"/>
                    </a:ext>
                  </a:extLst>
                </a:gridCol>
              </a:tblGrid>
              <a:tr h="438912">
                <a:tc>
                  <a:txBody>
                    <a:bodyPr/>
                    <a:lstStyle/>
                    <a:p>
                      <a:pPr algn="l"/>
                      <a:r>
                        <a:rPr sz="1000" b="1">
                          <a:solidFill>
                            <a:srgbClr val="FFFFFF"/>
                          </a:solidFill>
                        </a:rPr>
                        <a:t>Study</a:t>
                      </a:r>
                    </a:p>
                  </a:txBody>
                  <a:tcPr marL="45720" marR="45720" marT="18288" marB="18288" anchor="ctr">
                    <a:solidFill>
                      <a:srgbClr val="1F3864"/>
                    </a:solidFill>
                  </a:tcPr>
                </a:tc>
                <a:tc>
                  <a:txBody>
                    <a:bodyPr/>
                    <a:lstStyle/>
                    <a:p>
                      <a:pPr algn="ctr"/>
                      <a:r>
                        <a:rPr sz="1000" b="1">
                          <a:solidFill>
                            <a:srgbClr val="FFFFFF"/>
                          </a:solidFill>
                        </a:rPr>
                        <a:t>Data &amp; sites</a:t>
                      </a:r>
                    </a:p>
                  </a:txBody>
                  <a:tcPr marL="45720" marR="45720" marT="18288" marB="18288" anchor="ctr">
                    <a:solidFill>
                      <a:srgbClr val="1F3864"/>
                    </a:solidFill>
                  </a:tcPr>
                </a:tc>
                <a:tc>
                  <a:txBody>
                    <a:bodyPr/>
                    <a:lstStyle/>
                    <a:p>
                      <a:pPr algn="ctr"/>
                      <a:r>
                        <a:rPr sz="1000" b="1">
                          <a:solidFill>
                            <a:srgbClr val="FFFFFF"/>
                          </a:solidFill>
                        </a:rPr>
                        <a:t>Task</a:t>
                      </a:r>
                    </a:p>
                  </a:txBody>
                  <a:tcPr marL="45720" marR="45720" marT="18288" marB="18288" anchor="ctr">
                    <a:solidFill>
                      <a:srgbClr val="1F3864"/>
                    </a:solidFill>
                  </a:tcPr>
                </a:tc>
                <a:tc>
                  <a:txBody>
                    <a:bodyPr/>
                    <a:lstStyle/>
                    <a:p>
                      <a:pPr algn="ctr"/>
                      <a:r>
                        <a:rPr sz="1000" b="1">
                          <a:solidFill>
                            <a:srgbClr val="FFFFFF"/>
                          </a:solidFill>
                        </a:rPr>
                        <a:t>Core model</a:t>
                      </a:r>
                    </a:p>
                  </a:txBody>
                  <a:tcPr marL="45720" marR="45720" marT="18288" marB="18288" anchor="ctr">
                    <a:solidFill>
                      <a:srgbClr val="1F3864"/>
                    </a:solidFill>
                  </a:tcPr>
                </a:tc>
                <a:tc>
                  <a:txBody>
                    <a:bodyPr/>
                    <a:lstStyle/>
                    <a:p>
                      <a:pPr algn="ctr"/>
                      <a:r>
                        <a:rPr sz="1000" b="1">
                          <a:solidFill>
                            <a:srgbClr val="FFFFFF"/>
                          </a:solidFill>
                        </a:rPr>
                        <a:t>Horizon</a:t>
                      </a:r>
                    </a:p>
                  </a:txBody>
                  <a:tcPr marL="45720" marR="45720" marT="18288" marB="18288" anchor="ctr">
                    <a:solidFill>
                      <a:srgbClr val="1F3864"/>
                    </a:solidFill>
                  </a:tcPr>
                </a:tc>
                <a:tc>
                  <a:txBody>
                    <a:bodyPr/>
                    <a:lstStyle/>
                    <a:p>
                      <a:pPr algn="ctr"/>
                      <a:r>
                        <a:rPr sz="1000" b="1">
                          <a:solidFill>
                            <a:srgbClr val="FFFFFF"/>
                          </a:solidFill>
                        </a:rPr>
                        <a:t>Reg. + Class.</a:t>
                      </a:r>
                    </a:p>
                  </a:txBody>
                  <a:tcPr marL="45720" marR="45720" marT="18288" marB="18288" anchor="ctr">
                    <a:solidFill>
                      <a:srgbClr val="1F3864"/>
                    </a:solidFill>
                  </a:tcPr>
                </a:tc>
                <a:tc>
                  <a:txBody>
                    <a:bodyPr/>
                    <a:lstStyle/>
                    <a:p>
                      <a:pPr algn="ctr"/>
                      <a:r>
                        <a:rPr sz="1000" b="1">
                          <a:solidFill>
                            <a:srgbClr val="FFFFFF"/>
                          </a:solidFill>
                        </a:rPr>
                        <a:t>Early warning</a:t>
                      </a:r>
                    </a:p>
                  </a:txBody>
                  <a:tcPr marL="45720" marR="45720" marT="18288" marB="18288" anchor="ctr">
                    <a:solidFill>
                      <a:srgbClr val="1F3864"/>
                    </a:solidFill>
                  </a:tcPr>
                </a:tc>
                <a:tc>
                  <a:txBody>
                    <a:bodyPr/>
                    <a:lstStyle/>
                    <a:p>
                      <a:pPr algn="ctr"/>
                      <a:r>
                        <a:rPr sz="1000" b="1">
                          <a:solidFill>
                            <a:srgbClr val="FFFFFF"/>
                          </a:solidFill>
                        </a:rPr>
                        <a:t>Modality ablation</a:t>
                      </a:r>
                    </a:p>
                  </a:txBody>
                  <a:tcPr marL="45720" marR="45720" marT="18288" marB="18288" anchor="ctr">
                    <a:solidFill>
                      <a:srgbClr val="1F3864"/>
                    </a:solidFill>
                  </a:tcPr>
                </a:tc>
                <a:extLst>
                  <a:ext uri="{0D108BD9-81ED-4DB2-BD59-A6C34878D82A}">
                    <a16:rowId xmlns:a16="http://schemas.microsoft.com/office/drawing/2014/main" val="10000"/>
                  </a:ext>
                </a:extLst>
              </a:tr>
              <a:tr h="438912">
                <a:tc>
                  <a:txBody>
                    <a:bodyPr/>
                    <a:lstStyle/>
                    <a:p>
                      <a:pPr algn="l"/>
                      <a:r>
                        <a:rPr sz="1000" b="1"/>
                        <a:t>Rocha et al. (2023)</a:t>
                      </a:r>
                    </a:p>
                  </a:txBody>
                  <a:tcPr marL="45720" marR="45720" marT="18288" marB="18288" anchor="ctr">
                    <a:solidFill>
                      <a:srgbClr val="FFFFFF"/>
                    </a:solidFill>
                  </a:tcPr>
                </a:tc>
                <a:tc>
                  <a:txBody>
                    <a:bodyPr/>
                    <a:lstStyle/>
                    <a:p>
                      <a:pPr algn="ctr"/>
                      <a:r>
                        <a:rPr sz="1000"/>
                        <a:t>Credit River; hourly</a:t>
                      </a:r>
                    </a:p>
                  </a:txBody>
                  <a:tcPr marL="45720" marR="45720" marT="18288" marB="18288" anchor="ctr">
                    <a:solidFill>
                      <a:srgbClr val="FFFFFF"/>
                    </a:solidFill>
                  </a:tcPr>
                </a:tc>
                <a:tc>
                  <a:txBody>
                    <a:bodyPr/>
                    <a:lstStyle/>
                    <a:p>
                      <a:pPr algn="ctr"/>
                      <a:r>
                        <a:rPr sz="1000"/>
                        <a:t>DO regression</a:t>
                      </a:r>
                    </a:p>
                  </a:txBody>
                  <a:tcPr marL="45720" marR="45720" marT="18288" marB="18288" anchor="ctr">
                    <a:solidFill>
                      <a:srgbClr val="FFFFFF"/>
                    </a:solidFill>
                  </a:tcPr>
                </a:tc>
                <a:tc>
                  <a:txBody>
                    <a:bodyPr/>
                    <a:lstStyle/>
                    <a:p>
                      <a:pPr algn="ctr"/>
                      <a:r>
                        <a:rPr sz="1000"/>
                        <a:t>GNN-SAGE</a:t>
                      </a:r>
                    </a:p>
                  </a:txBody>
                  <a:tcPr marL="45720" marR="45720" marT="18288" marB="18288" anchor="ctr">
                    <a:solidFill>
                      <a:srgbClr val="FFFFFF"/>
                    </a:solidFill>
                  </a:tcPr>
                </a:tc>
                <a:tc>
                  <a:txBody>
                    <a:bodyPr/>
                    <a:lstStyle/>
                    <a:p>
                      <a:pPr algn="ctr"/>
                      <a:r>
                        <a:rPr sz="1000"/>
                        <a:t>6 h</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extLst>
                  <a:ext uri="{0D108BD9-81ED-4DB2-BD59-A6C34878D82A}">
                    <a16:rowId xmlns:a16="http://schemas.microsoft.com/office/drawing/2014/main" val="10001"/>
                  </a:ext>
                </a:extLst>
              </a:tr>
              <a:tr h="438912">
                <a:tc>
                  <a:txBody>
                    <a:bodyPr/>
                    <a:lstStyle/>
                    <a:p>
                      <a:pPr algn="l"/>
                      <a:r>
                        <a:rPr sz="1000" b="1"/>
                        <a:t>Pant et al. (2024)</a:t>
                      </a:r>
                    </a:p>
                  </a:txBody>
                  <a:tcPr marL="45720" marR="45720" marT="18288" marB="18288" anchor="ctr">
                    <a:solidFill>
                      <a:srgbClr val="F2F4F8"/>
                    </a:solidFill>
                  </a:tcPr>
                </a:tc>
                <a:tc>
                  <a:txBody>
                    <a:bodyPr/>
                    <a:lstStyle/>
                    <a:p>
                      <a:pPr algn="ctr"/>
                      <a:r>
                        <a:rPr sz="1000"/>
                        <a:t>River Ganga; hourly</a:t>
                      </a:r>
                    </a:p>
                  </a:txBody>
                  <a:tcPr marL="45720" marR="45720" marT="18288" marB="18288" anchor="ctr">
                    <a:solidFill>
                      <a:srgbClr val="F2F4F8"/>
                    </a:solidFill>
                  </a:tcPr>
                </a:tc>
                <a:tc>
                  <a:txBody>
                    <a:bodyPr/>
                    <a:lstStyle/>
                    <a:p>
                      <a:pPr algn="ctr"/>
                      <a:r>
                        <a:rPr sz="1000"/>
                        <a:t>DO regression</a:t>
                      </a:r>
                    </a:p>
                  </a:txBody>
                  <a:tcPr marL="45720" marR="45720" marT="18288" marB="18288" anchor="ctr">
                    <a:solidFill>
                      <a:srgbClr val="F2F4F8"/>
                    </a:solidFill>
                  </a:tcPr>
                </a:tc>
                <a:tc>
                  <a:txBody>
                    <a:bodyPr/>
                    <a:lstStyle/>
                    <a:p>
                      <a:pPr algn="ctr"/>
                      <a:r>
                        <a:rPr sz="1000"/>
                        <a:t>CEEMDAN-BiLSTM</a:t>
                      </a:r>
                    </a:p>
                  </a:txBody>
                  <a:tcPr marL="45720" marR="45720" marT="18288" marB="18288" anchor="ctr">
                    <a:solidFill>
                      <a:srgbClr val="F2F4F8"/>
                    </a:solidFill>
                  </a:tcPr>
                </a:tc>
                <a:tc>
                  <a:txBody>
                    <a:bodyPr/>
                    <a:lstStyle/>
                    <a:p>
                      <a:pPr algn="ctr"/>
                      <a:r>
                        <a:rPr sz="1000"/>
                        <a:t>1–3 h</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extLst>
                  <a:ext uri="{0D108BD9-81ED-4DB2-BD59-A6C34878D82A}">
                    <a16:rowId xmlns:a16="http://schemas.microsoft.com/office/drawing/2014/main" val="10002"/>
                  </a:ext>
                </a:extLst>
              </a:tr>
              <a:tr h="438912">
                <a:tc>
                  <a:txBody>
                    <a:bodyPr/>
                    <a:lstStyle/>
                    <a:p>
                      <a:pPr algn="l"/>
                      <a:r>
                        <a:rPr sz="1000" b="1"/>
                        <a:t>Granata et al. (2024)</a:t>
                      </a:r>
                    </a:p>
                  </a:txBody>
                  <a:tcPr marL="45720" marR="45720" marT="18288" marB="18288" anchor="ctr">
                    <a:solidFill>
                      <a:srgbClr val="FFFFFF"/>
                    </a:solidFill>
                  </a:tcPr>
                </a:tc>
                <a:tc>
                  <a:txBody>
                    <a:bodyPr/>
                    <a:lstStyle/>
                    <a:p>
                      <a:pPr algn="ctr"/>
                      <a:r>
                        <a:rPr sz="1000"/>
                        <a:t>Mississippi; daily</a:t>
                      </a:r>
                    </a:p>
                  </a:txBody>
                  <a:tcPr marL="45720" marR="45720" marT="18288" marB="18288" anchor="ctr">
                    <a:solidFill>
                      <a:srgbClr val="FFFFFF"/>
                    </a:solidFill>
                  </a:tcPr>
                </a:tc>
                <a:tc>
                  <a:txBody>
                    <a:bodyPr/>
                    <a:lstStyle/>
                    <a:p>
                      <a:pPr algn="ctr"/>
                      <a:r>
                        <a:rPr sz="1000"/>
                        <a:t>DO regression</a:t>
                      </a:r>
                    </a:p>
                  </a:txBody>
                  <a:tcPr marL="45720" marR="45720" marT="18288" marB="18288" anchor="ctr">
                    <a:solidFill>
                      <a:srgbClr val="FFFFFF"/>
                    </a:solidFill>
                  </a:tcPr>
                </a:tc>
                <a:tc>
                  <a:txBody>
                    <a:bodyPr/>
                    <a:lstStyle/>
                    <a:p>
                      <a:pPr algn="ctr"/>
                      <a:r>
                        <a:rPr sz="1000"/>
                        <a:t>Stacked MLP-RF</a:t>
                      </a:r>
                    </a:p>
                  </a:txBody>
                  <a:tcPr marL="45720" marR="45720" marT="18288" marB="18288" anchor="ctr">
                    <a:solidFill>
                      <a:srgbClr val="FFFFFF"/>
                    </a:solidFill>
                  </a:tcPr>
                </a:tc>
                <a:tc>
                  <a:txBody>
                    <a:bodyPr/>
                    <a:lstStyle/>
                    <a:p>
                      <a:pPr algn="ctr"/>
                      <a:r>
                        <a:rPr sz="1000"/>
                        <a:t>1–15 d</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Partial</a:t>
                      </a:r>
                    </a:p>
                  </a:txBody>
                  <a:tcPr marL="45720" marR="45720" marT="18288" marB="18288" anchor="ctr">
                    <a:solidFill>
                      <a:srgbClr val="FFFFFF"/>
                    </a:solidFill>
                  </a:tcPr>
                </a:tc>
                <a:extLst>
                  <a:ext uri="{0D108BD9-81ED-4DB2-BD59-A6C34878D82A}">
                    <a16:rowId xmlns:a16="http://schemas.microsoft.com/office/drawing/2014/main" val="10003"/>
                  </a:ext>
                </a:extLst>
              </a:tr>
              <a:tr h="438912">
                <a:tc>
                  <a:txBody>
                    <a:bodyPr/>
                    <a:lstStyle/>
                    <a:p>
                      <a:pPr algn="l"/>
                      <a:r>
                        <a:rPr sz="1000" b="1"/>
                        <a:t>Cerqueira et al. (2024)</a:t>
                      </a:r>
                    </a:p>
                  </a:txBody>
                  <a:tcPr marL="45720" marR="45720" marT="18288" marB="18288" anchor="ctr">
                    <a:solidFill>
                      <a:srgbClr val="F2F4F8"/>
                    </a:solidFill>
                  </a:tcPr>
                </a:tc>
                <a:tc>
                  <a:txBody>
                    <a:bodyPr/>
                    <a:lstStyle/>
                    <a:p>
                      <a:pPr algn="ctr"/>
                      <a:r>
                        <a:rPr sz="1000"/>
                        <a:t>14 salmon farms</a:t>
                      </a:r>
                    </a:p>
                  </a:txBody>
                  <a:tcPr marL="45720" marR="45720" marT="18288" marB="18288" anchor="ctr">
                    <a:solidFill>
                      <a:srgbClr val="F2F4F8"/>
                    </a:solidFill>
                  </a:tcPr>
                </a:tc>
                <a:tc>
                  <a:txBody>
                    <a:bodyPr/>
                    <a:lstStyle/>
                    <a:p>
                      <a:pPr algn="ctr"/>
                      <a:r>
                        <a:rPr sz="1000"/>
                        <a:t>Hypoxia forecast</a:t>
                      </a:r>
                    </a:p>
                  </a:txBody>
                  <a:tcPr marL="45720" marR="45720" marT="18288" marB="18288" anchor="ctr">
                    <a:solidFill>
                      <a:srgbClr val="F2F4F8"/>
                    </a:solidFill>
                  </a:tcPr>
                </a:tc>
                <a:tc>
                  <a:txBody>
                    <a:bodyPr/>
                    <a:lstStyle/>
                    <a:p>
                      <a:pPr algn="ctr"/>
                      <a:r>
                        <a:rPr sz="1000"/>
                        <a:t>LightGBM</a:t>
                      </a:r>
                    </a:p>
                  </a:txBody>
                  <a:tcPr marL="45720" marR="45720" marT="18288" marB="18288" anchor="ctr">
                    <a:solidFill>
                      <a:srgbClr val="F2F4F8"/>
                    </a:solidFill>
                  </a:tcPr>
                </a:tc>
                <a:tc>
                  <a:txBody>
                    <a:bodyPr/>
                    <a:lstStyle/>
                    <a:p>
                      <a:pPr algn="ctr"/>
                      <a:r>
                        <a:rPr sz="1000"/>
                        <a:t>1–24 h</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tc>
                  <a:txBody>
                    <a:bodyPr/>
                    <a:lstStyle/>
                    <a:p>
                      <a:pPr algn="ctr"/>
                      <a:r>
                        <a:rPr sz="1000"/>
                        <a:t>Yes</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extLst>
                  <a:ext uri="{0D108BD9-81ED-4DB2-BD59-A6C34878D82A}">
                    <a16:rowId xmlns:a16="http://schemas.microsoft.com/office/drawing/2014/main" val="10004"/>
                  </a:ext>
                </a:extLst>
              </a:tr>
              <a:tr h="438912">
                <a:tc>
                  <a:txBody>
                    <a:bodyPr/>
                    <a:lstStyle/>
                    <a:p>
                      <a:pPr algn="l"/>
                      <a:r>
                        <a:rPr sz="1000" b="1"/>
                        <a:t>Simonetti et al. (2024)</a:t>
                      </a:r>
                    </a:p>
                  </a:txBody>
                  <a:tcPr marL="45720" marR="45720" marT="18288" marB="18288" anchor="ctr">
                    <a:solidFill>
                      <a:srgbClr val="FFFFFF"/>
                    </a:solidFill>
                  </a:tcPr>
                </a:tc>
                <a:tc>
                  <a:txBody>
                    <a:bodyPr/>
                    <a:lstStyle/>
                    <a:p>
                      <a:pPr algn="ctr"/>
                      <a:r>
                        <a:rPr sz="1000"/>
                        <a:t>Orbetello lagoon</a:t>
                      </a:r>
                    </a:p>
                  </a:txBody>
                  <a:tcPr marL="45720" marR="45720" marT="18288" marB="18288" anchor="ctr">
                    <a:solidFill>
                      <a:srgbClr val="FFFFFF"/>
                    </a:solidFill>
                  </a:tcPr>
                </a:tc>
                <a:tc>
                  <a:txBody>
                    <a:bodyPr/>
                    <a:lstStyle/>
                    <a:p>
                      <a:pPr algn="ctr"/>
                      <a:r>
                        <a:rPr sz="1000"/>
                        <a:t>Hypoxia class.</a:t>
                      </a:r>
                    </a:p>
                  </a:txBody>
                  <a:tcPr marL="45720" marR="45720" marT="18288" marB="18288" anchor="ctr">
                    <a:solidFill>
                      <a:srgbClr val="FFFFFF"/>
                    </a:solidFill>
                  </a:tcPr>
                </a:tc>
                <a:tc>
                  <a:txBody>
                    <a:bodyPr/>
                    <a:lstStyle/>
                    <a:p>
                      <a:pPr algn="ctr"/>
                      <a:r>
                        <a:rPr sz="1000"/>
                        <a:t>RF + hydrodynamic</a:t>
                      </a:r>
                    </a:p>
                  </a:txBody>
                  <a:tcPr marL="45720" marR="45720" marT="18288" marB="18288" anchor="ctr">
                    <a:solidFill>
                      <a:srgbClr val="FFFFFF"/>
                    </a:solidFill>
                  </a:tcPr>
                </a:tc>
                <a:tc>
                  <a:txBody>
                    <a:bodyPr/>
                    <a:lstStyle/>
                    <a:p>
                      <a:pPr algn="ctr"/>
                      <a:r>
                        <a:rPr sz="1000"/>
                        <a:t>Not stated</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Partial</a:t>
                      </a:r>
                    </a:p>
                  </a:txBody>
                  <a:tcPr marL="45720" marR="45720" marT="18288" marB="18288" anchor="ctr">
                    <a:solidFill>
                      <a:srgbClr val="FFFFFF"/>
                    </a:solidFill>
                  </a:tcPr>
                </a:tc>
                <a:extLst>
                  <a:ext uri="{0D108BD9-81ED-4DB2-BD59-A6C34878D82A}">
                    <a16:rowId xmlns:a16="http://schemas.microsoft.com/office/drawing/2014/main" val="10005"/>
                  </a:ext>
                </a:extLst>
              </a:tr>
              <a:tr h="438912">
                <a:tc>
                  <a:txBody>
                    <a:bodyPr/>
                    <a:lstStyle/>
                    <a:p>
                      <a:pPr algn="l"/>
                      <a:r>
                        <a:rPr sz="1000" b="1"/>
                        <a:t>Zhao &amp; Chen (2025)</a:t>
                      </a:r>
                    </a:p>
                  </a:txBody>
                  <a:tcPr marL="45720" marR="45720" marT="18288" marB="18288" anchor="ctr">
                    <a:solidFill>
                      <a:srgbClr val="F2F4F8"/>
                    </a:solidFill>
                  </a:tcPr>
                </a:tc>
                <a:tc>
                  <a:txBody>
                    <a:bodyPr/>
                    <a:lstStyle/>
                    <a:p>
                      <a:pPr algn="ctr"/>
                      <a:r>
                        <a:rPr sz="1000"/>
                        <a:t>3 river sites</a:t>
                      </a:r>
                    </a:p>
                  </a:txBody>
                  <a:tcPr marL="45720" marR="45720" marT="18288" marB="18288" anchor="ctr">
                    <a:solidFill>
                      <a:srgbClr val="F2F4F8"/>
                    </a:solidFill>
                  </a:tcPr>
                </a:tc>
                <a:tc>
                  <a:txBody>
                    <a:bodyPr/>
                    <a:lstStyle/>
                    <a:p>
                      <a:pPr algn="ctr"/>
                      <a:r>
                        <a:rPr sz="1000"/>
                        <a:t>DO regression</a:t>
                      </a:r>
                    </a:p>
                  </a:txBody>
                  <a:tcPr marL="45720" marR="45720" marT="18288" marB="18288" anchor="ctr">
                    <a:solidFill>
                      <a:srgbClr val="F2F4F8"/>
                    </a:solidFill>
                  </a:tcPr>
                </a:tc>
                <a:tc>
                  <a:txBody>
                    <a:bodyPr/>
                    <a:lstStyle/>
                    <a:p>
                      <a:pPr algn="ctr"/>
                      <a:r>
                        <a:rPr sz="1000"/>
                        <a:t>GWO-XGBoost</a:t>
                      </a:r>
                    </a:p>
                  </a:txBody>
                  <a:tcPr marL="45720" marR="45720" marT="18288" marB="18288" anchor="ctr">
                    <a:solidFill>
                      <a:srgbClr val="F2F4F8"/>
                    </a:solidFill>
                  </a:tcPr>
                </a:tc>
                <a:tc>
                  <a:txBody>
                    <a:bodyPr/>
                    <a:lstStyle/>
                    <a:p>
                      <a:pPr algn="ctr"/>
                      <a:r>
                        <a:rPr sz="1000"/>
                        <a:t>Not stated</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extLst>
                  <a:ext uri="{0D108BD9-81ED-4DB2-BD59-A6C34878D82A}">
                    <a16:rowId xmlns:a16="http://schemas.microsoft.com/office/drawing/2014/main" val="10006"/>
                  </a:ext>
                </a:extLst>
              </a:tr>
              <a:tr h="438912">
                <a:tc>
                  <a:txBody>
                    <a:bodyPr/>
                    <a:lstStyle/>
                    <a:p>
                      <a:pPr algn="l"/>
                      <a:r>
                        <a:rPr sz="1000" b="1"/>
                        <a:t>Merabet et al. (2025)</a:t>
                      </a:r>
                    </a:p>
                  </a:txBody>
                  <a:tcPr marL="45720" marR="45720" marT="18288" marB="18288" anchor="ctr">
                    <a:solidFill>
                      <a:srgbClr val="FFFFFF"/>
                    </a:solidFill>
                  </a:tcPr>
                </a:tc>
                <a:tc>
                  <a:txBody>
                    <a:bodyPr/>
                    <a:lstStyle/>
                    <a:p>
                      <a:pPr algn="ctr"/>
                      <a:r>
                        <a:rPr sz="1000"/>
                        <a:t>Illinois River (USGS)</a:t>
                      </a:r>
                    </a:p>
                  </a:txBody>
                  <a:tcPr marL="45720" marR="45720" marT="18288" marB="18288" anchor="ctr">
                    <a:solidFill>
                      <a:srgbClr val="FFFFFF"/>
                    </a:solidFill>
                  </a:tcPr>
                </a:tc>
                <a:tc>
                  <a:txBody>
                    <a:bodyPr/>
                    <a:lstStyle/>
                    <a:p>
                      <a:pPr algn="ctr"/>
                      <a:r>
                        <a:rPr sz="1000"/>
                        <a:t>DO regression</a:t>
                      </a:r>
                    </a:p>
                  </a:txBody>
                  <a:tcPr marL="45720" marR="45720" marT="18288" marB="18288" anchor="ctr">
                    <a:solidFill>
                      <a:srgbClr val="FFFFFF"/>
                    </a:solidFill>
                  </a:tcPr>
                </a:tc>
                <a:tc>
                  <a:txBody>
                    <a:bodyPr/>
                    <a:lstStyle/>
                    <a:p>
                      <a:pPr algn="ctr"/>
                      <a:r>
                        <a:rPr sz="1000"/>
                        <a:t>CatBoost / LightGBM</a:t>
                      </a:r>
                    </a:p>
                  </a:txBody>
                  <a:tcPr marL="45720" marR="45720" marT="18288" marB="18288" anchor="ctr">
                    <a:solidFill>
                      <a:srgbClr val="FFFFFF"/>
                    </a:solidFill>
                  </a:tcPr>
                </a:tc>
                <a:tc>
                  <a:txBody>
                    <a:bodyPr/>
                    <a:lstStyle/>
                    <a:p>
                      <a:pPr algn="ctr"/>
                      <a:r>
                        <a:rPr sz="1000"/>
                        <a:t>Single-step</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tc>
                  <a:txBody>
                    <a:bodyPr/>
                    <a:lstStyle/>
                    <a:p>
                      <a:pPr algn="ctr"/>
                      <a:r>
                        <a:rPr sz="1000"/>
                        <a:t>No</a:t>
                      </a:r>
                    </a:p>
                  </a:txBody>
                  <a:tcPr marL="45720" marR="45720" marT="18288" marB="18288" anchor="ctr">
                    <a:solidFill>
                      <a:srgbClr val="FFFFFF"/>
                    </a:solidFill>
                  </a:tcPr>
                </a:tc>
                <a:extLst>
                  <a:ext uri="{0D108BD9-81ED-4DB2-BD59-A6C34878D82A}">
                    <a16:rowId xmlns:a16="http://schemas.microsoft.com/office/drawing/2014/main" val="10007"/>
                  </a:ext>
                </a:extLst>
              </a:tr>
              <a:tr h="438912">
                <a:tc>
                  <a:txBody>
                    <a:bodyPr/>
                    <a:lstStyle/>
                    <a:p>
                      <a:pPr algn="l"/>
                      <a:r>
                        <a:rPr sz="1000" b="1"/>
                        <a:t>Base paper (2026)</a:t>
                      </a:r>
                    </a:p>
                  </a:txBody>
                  <a:tcPr marL="45720" marR="45720" marT="18288" marB="18288" anchor="ctr">
                    <a:solidFill>
                      <a:srgbClr val="F2F4F8"/>
                    </a:solidFill>
                  </a:tcPr>
                </a:tc>
                <a:tc>
                  <a:txBody>
                    <a:bodyPr/>
                    <a:lstStyle/>
                    <a:p>
                      <a:pPr algn="ctr"/>
                      <a:r>
                        <a:rPr sz="1000"/>
                        <a:t>China national network</a:t>
                      </a:r>
                    </a:p>
                  </a:txBody>
                  <a:tcPr marL="45720" marR="45720" marT="18288" marB="18288" anchor="ctr">
                    <a:solidFill>
                      <a:srgbClr val="F2F4F8"/>
                    </a:solidFill>
                  </a:tcPr>
                </a:tc>
                <a:tc>
                  <a:txBody>
                    <a:bodyPr/>
                    <a:lstStyle/>
                    <a:p>
                      <a:pPr algn="ctr"/>
                      <a:r>
                        <a:rPr sz="1000"/>
                        <a:t>DO regression</a:t>
                      </a:r>
                    </a:p>
                  </a:txBody>
                  <a:tcPr marL="45720" marR="45720" marT="18288" marB="18288" anchor="ctr">
                    <a:solidFill>
                      <a:srgbClr val="F2F4F8"/>
                    </a:solidFill>
                  </a:tcPr>
                </a:tc>
                <a:tc>
                  <a:txBody>
                    <a:bodyPr/>
                    <a:lstStyle/>
                    <a:p>
                      <a:pPr algn="ctr"/>
                      <a:r>
                        <a:rPr sz="1000"/>
                        <a:t>Transformer + LSTM</a:t>
                      </a:r>
                    </a:p>
                  </a:txBody>
                  <a:tcPr marL="45720" marR="45720" marT="18288" marB="18288" anchor="ctr">
                    <a:solidFill>
                      <a:srgbClr val="F2F4F8"/>
                    </a:solidFill>
                  </a:tcPr>
                </a:tc>
                <a:tc>
                  <a:txBody>
                    <a:bodyPr/>
                    <a:lstStyle/>
                    <a:p>
                      <a:pPr algn="ctr"/>
                      <a:r>
                        <a:rPr sz="1000"/>
                        <a:t>3–14 d</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tc>
                  <a:txBody>
                    <a:bodyPr/>
                    <a:lstStyle/>
                    <a:p>
                      <a:pPr algn="ctr"/>
                      <a:r>
                        <a:rPr sz="1000"/>
                        <a:t>No</a:t>
                      </a:r>
                    </a:p>
                  </a:txBody>
                  <a:tcPr marL="45720" marR="45720" marT="18288" marB="18288" anchor="ctr">
                    <a:solidFill>
                      <a:srgbClr val="F2F4F8"/>
                    </a:solidFill>
                  </a:tcPr>
                </a:tc>
                <a:extLst>
                  <a:ext uri="{0D108BD9-81ED-4DB2-BD59-A6C34878D82A}">
                    <a16:rowId xmlns:a16="http://schemas.microsoft.com/office/drawing/2014/main" val="10008"/>
                  </a:ext>
                </a:extLst>
              </a:tr>
              <a:tr h="438912">
                <a:tc>
                  <a:txBody>
                    <a:bodyPr/>
                    <a:lstStyle/>
                    <a:p>
                      <a:pPr algn="l"/>
                      <a:r>
                        <a:rPr sz="1000" b="1"/>
                        <a:t>Proposed work</a:t>
                      </a:r>
                    </a:p>
                  </a:txBody>
                  <a:tcPr marL="45720" marR="45720" marT="18288" marB="18288" anchor="ctr">
                    <a:solidFill>
                      <a:srgbClr val="E2EFDA"/>
                    </a:solidFill>
                  </a:tcPr>
                </a:tc>
                <a:tc>
                  <a:txBody>
                    <a:bodyPr/>
                    <a:lstStyle/>
                    <a:p>
                      <a:pPr algn="ctr"/>
                      <a:r>
                        <a:rPr sz="1000" b="1"/>
                        <a:t>30 USGS stations, 15 states; 789k station-hours</a:t>
                      </a:r>
                    </a:p>
                  </a:txBody>
                  <a:tcPr marL="45720" marR="45720" marT="18288" marB="18288" anchor="ctr">
                    <a:solidFill>
                      <a:srgbClr val="E2EFDA"/>
                    </a:solidFill>
                  </a:tcPr>
                </a:tc>
                <a:tc>
                  <a:txBody>
                    <a:bodyPr/>
                    <a:lstStyle/>
                    <a:p>
                      <a:pPr algn="ctr"/>
                      <a:r>
                        <a:rPr sz="1000" b="1"/>
                        <a:t>DO regression + 3-class</a:t>
                      </a:r>
                    </a:p>
                  </a:txBody>
                  <a:tcPr marL="45720" marR="45720" marT="18288" marB="18288" anchor="ctr">
                    <a:solidFill>
                      <a:srgbClr val="E2EFDA"/>
                    </a:solidFill>
                  </a:tcPr>
                </a:tc>
                <a:tc>
                  <a:txBody>
                    <a:bodyPr/>
                    <a:lstStyle/>
                    <a:p>
                      <a:pPr algn="ctr"/>
                      <a:r>
                        <a:rPr sz="1000" b="1"/>
                        <a:t>Stacking of 3 ML + 2 DL</a:t>
                      </a:r>
                    </a:p>
                  </a:txBody>
                  <a:tcPr marL="45720" marR="45720" marT="18288" marB="18288" anchor="ctr">
                    <a:solidFill>
                      <a:srgbClr val="E2EFDA"/>
                    </a:solidFill>
                  </a:tcPr>
                </a:tc>
                <a:tc>
                  <a:txBody>
                    <a:bodyPr/>
                    <a:lstStyle/>
                    <a:p>
                      <a:pPr algn="ctr"/>
                      <a:r>
                        <a:rPr sz="1000" b="1"/>
                        <a:t>6–48 h</a:t>
                      </a:r>
                    </a:p>
                  </a:txBody>
                  <a:tcPr marL="45720" marR="45720" marT="18288" marB="18288" anchor="ctr">
                    <a:solidFill>
                      <a:srgbClr val="E2EFDA"/>
                    </a:solidFill>
                  </a:tcPr>
                </a:tc>
                <a:tc>
                  <a:txBody>
                    <a:bodyPr/>
                    <a:lstStyle/>
                    <a:p>
                      <a:pPr algn="ctr"/>
                      <a:r>
                        <a:rPr sz="1000" b="1"/>
                        <a:t>Yes</a:t>
                      </a:r>
                    </a:p>
                  </a:txBody>
                  <a:tcPr marL="45720" marR="45720" marT="18288" marB="18288" anchor="ctr">
                    <a:solidFill>
                      <a:srgbClr val="E2EFDA"/>
                    </a:solidFill>
                  </a:tcPr>
                </a:tc>
                <a:tc>
                  <a:txBody>
                    <a:bodyPr/>
                    <a:lstStyle/>
                    <a:p>
                      <a:pPr algn="ctr"/>
                      <a:r>
                        <a:rPr sz="1000" b="1"/>
                        <a:t>Yes (lead time)</a:t>
                      </a:r>
                    </a:p>
                  </a:txBody>
                  <a:tcPr marL="45720" marR="45720" marT="18288" marB="18288" anchor="ctr">
                    <a:solidFill>
                      <a:srgbClr val="E2EFDA"/>
                    </a:solidFill>
                  </a:tcPr>
                </a:tc>
                <a:tc>
                  <a:txBody>
                    <a:bodyPr/>
                    <a:lstStyle/>
                    <a:p>
                      <a:pPr algn="ctr"/>
                      <a:r>
                        <a:rPr sz="1000" b="1"/>
                        <a:t>Yes</a:t>
                      </a:r>
                    </a:p>
                  </a:txBody>
                  <a:tcPr marL="45720" marR="45720" marT="18288" marB="18288" anchor="ctr">
                    <a:solidFill>
                      <a:srgbClr val="E2EFDA"/>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Key Contributions</a:t>
            </a:r>
          </a:p>
        </p:txBody>
      </p:sp>
      <p:sp>
        <p:nvSpPr>
          <p:cNvPr id="3" name="Footer Placeholder 2"/>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4" name="Slide Number Placeholder 3"/>
          <p:cNvSpPr>
            <a:spLocks noGrp="1"/>
          </p:cNvSpPr>
          <p:nvPr>
            <p:ph type="sldNum" idx="12"/>
          </p:nvPr>
        </p:nvSpPr>
        <p:spPr>
          <a:xfrm>
            <a:off x="7772400" y="6355080"/>
            <a:ext cx="914400" cy="320040"/>
          </a:xfrm>
        </p:spPr>
        <p:txBody>
          <a:bodyPr/>
          <a:lstStyle/>
          <a:p>
            <a:pPr algn="r"/>
            <a:fld id="{B6F15528-21DE-4FAA-801E-634DDDAF4B2B}" type="slidenum">
              <a:rPr lang="en-US" sz="1000"/>
              <a:t>29</a:t>
            </a:fld>
            <a:endParaRPr lang="en-US" sz="1000"/>
          </a:p>
        </p:txBody>
      </p:sp>
      <p:sp>
        <p:nvSpPr>
          <p:cNvPr id="5" name="Rounded Rectangle 4"/>
          <p:cNvSpPr/>
          <p:nvPr/>
        </p:nvSpPr>
        <p:spPr>
          <a:xfrm>
            <a:off x="457200" y="1417320"/>
            <a:ext cx="402336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4360" y="155448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1</a:t>
            </a:r>
          </a:p>
        </p:txBody>
      </p:sp>
      <p:sp>
        <p:nvSpPr>
          <p:cNvPr id="7" name="TextBox 6"/>
          <p:cNvSpPr txBox="1"/>
          <p:nvPr/>
        </p:nvSpPr>
        <p:spPr>
          <a:xfrm>
            <a:off x="1097280" y="1527048"/>
            <a:ext cx="3291840" cy="457200"/>
          </a:xfrm>
          <a:prstGeom prst="rect">
            <a:avLst/>
          </a:prstGeom>
          <a:noFill/>
        </p:spPr>
        <p:txBody>
          <a:bodyPr wrap="square" anchor="ctr">
            <a:spAutoFit/>
          </a:bodyPr>
          <a:lstStyle/>
          <a:p>
            <a:pPr algn="l">
              <a:spcAft>
                <a:spcPts val="400"/>
              </a:spcAft>
            </a:pPr>
            <a:r>
              <a:rPr sz="1700" b="1">
                <a:solidFill>
                  <a:srgbClr val="1F3864"/>
                </a:solidFill>
              </a:rPr>
              <a:t>Dual-task forecasting</a:t>
            </a:r>
          </a:p>
        </p:txBody>
      </p:sp>
      <p:sp>
        <p:nvSpPr>
          <p:cNvPr id="8" name="TextBox 7"/>
          <p:cNvSpPr txBox="1"/>
          <p:nvPr/>
        </p:nvSpPr>
        <p:spPr>
          <a:xfrm>
            <a:off x="594360" y="2039112"/>
            <a:ext cx="3749040" cy="1463040"/>
          </a:xfrm>
          <a:prstGeom prst="rect">
            <a:avLst/>
          </a:prstGeom>
          <a:noFill/>
        </p:spPr>
        <p:txBody>
          <a:bodyPr wrap="square">
            <a:spAutoFit/>
          </a:bodyPr>
          <a:lstStyle/>
          <a:p>
            <a:pPr algn="l">
              <a:spcAft>
                <a:spcPts val="400"/>
              </a:spcAft>
            </a:pPr>
            <a:r>
              <a:rPr sz="1500">
                <a:solidFill>
                  <a:srgbClr val="000000"/>
                </a:solidFill>
              </a:rPr>
              <a:t>One causal feature set gives both the DO value and a Low / Medium / Good class at 4 horizons, with regression and class-wise evaluation.</a:t>
            </a:r>
          </a:p>
        </p:txBody>
      </p:sp>
      <p:sp>
        <p:nvSpPr>
          <p:cNvPr id="9" name="Rounded Rectangle 8"/>
          <p:cNvSpPr/>
          <p:nvPr/>
        </p:nvSpPr>
        <p:spPr>
          <a:xfrm>
            <a:off x="4663440" y="1417320"/>
            <a:ext cx="402336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00600" y="155448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2</a:t>
            </a:r>
          </a:p>
        </p:txBody>
      </p:sp>
      <p:sp>
        <p:nvSpPr>
          <p:cNvPr id="11" name="TextBox 10"/>
          <p:cNvSpPr txBox="1"/>
          <p:nvPr/>
        </p:nvSpPr>
        <p:spPr>
          <a:xfrm>
            <a:off x="5303520" y="1527048"/>
            <a:ext cx="3291840" cy="457200"/>
          </a:xfrm>
          <a:prstGeom prst="rect">
            <a:avLst/>
          </a:prstGeom>
          <a:noFill/>
        </p:spPr>
        <p:txBody>
          <a:bodyPr wrap="square" anchor="ctr">
            <a:spAutoFit/>
          </a:bodyPr>
          <a:lstStyle/>
          <a:p>
            <a:pPr algn="l">
              <a:spcAft>
                <a:spcPts val="400"/>
              </a:spcAft>
            </a:pPr>
            <a:r>
              <a:rPr sz="1700" b="1">
                <a:solidFill>
                  <a:srgbClr val="1F3864"/>
                </a:solidFill>
              </a:rPr>
              <a:t>Hybrid ML + DL stacking</a:t>
            </a:r>
          </a:p>
        </p:txBody>
      </p:sp>
      <p:sp>
        <p:nvSpPr>
          <p:cNvPr id="12" name="TextBox 11"/>
          <p:cNvSpPr txBox="1"/>
          <p:nvPr/>
        </p:nvSpPr>
        <p:spPr>
          <a:xfrm>
            <a:off x="4800600" y="2039112"/>
            <a:ext cx="3749040" cy="1463040"/>
          </a:xfrm>
          <a:prstGeom prst="rect">
            <a:avLst/>
          </a:prstGeom>
          <a:noFill/>
        </p:spPr>
        <p:txBody>
          <a:bodyPr wrap="square">
            <a:spAutoFit/>
          </a:bodyPr>
          <a:lstStyle/>
          <a:p>
            <a:pPr algn="l">
              <a:spcAft>
                <a:spcPts val="400"/>
              </a:spcAft>
            </a:pPr>
            <a:r>
              <a:rPr sz="1500">
                <a:solidFill>
                  <a:srgbClr val="000000"/>
                </a:solidFill>
              </a:rPr>
              <a:t>RF, XGBoost, LightGBM, BiLSTM and CNN-LSTM combined by Ridge and multinomial-logistic meta-learners plus a frozen P(Low) warning rule.</a:t>
            </a:r>
          </a:p>
        </p:txBody>
      </p:sp>
      <p:sp>
        <p:nvSpPr>
          <p:cNvPr id="13" name="Rounded Rectangle 12"/>
          <p:cNvSpPr/>
          <p:nvPr/>
        </p:nvSpPr>
        <p:spPr>
          <a:xfrm>
            <a:off x="457200" y="3794760"/>
            <a:ext cx="402336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4360" y="393192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3</a:t>
            </a:r>
          </a:p>
        </p:txBody>
      </p:sp>
      <p:sp>
        <p:nvSpPr>
          <p:cNvPr id="15" name="TextBox 14"/>
          <p:cNvSpPr txBox="1"/>
          <p:nvPr/>
        </p:nvSpPr>
        <p:spPr>
          <a:xfrm>
            <a:off x="1097280" y="3904488"/>
            <a:ext cx="3291840" cy="457200"/>
          </a:xfrm>
          <a:prstGeom prst="rect">
            <a:avLst/>
          </a:prstGeom>
          <a:noFill/>
        </p:spPr>
        <p:txBody>
          <a:bodyPr wrap="square" anchor="ctr">
            <a:spAutoFit/>
          </a:bodyPr>
          <a:lstStyle/>
          <a:p>
            <a:pPr algn="l">
              <a:spcAft>
                <a:spcPts val="400"/>
              </a:spcAft>
            </a:pPr>
            <a:r>
              <a:rPr sz="1700" b="1">
                <a:solidFill>
                  <a:srgbClr val="1F3864"/>
                </a:solidFill>
              </a:rPr>
              <a:t>Leakage-free protocol</a:t>
            </a:r>
          </a:p>
        </p:txBody>
      </p:sp>
      <p:sp>
        <p:nvSpPr>
          <p:cNvPr id="16" name="TextBox 15"/>
          <p:cNvSpPr txBox="1"/>
          <p:nvPr/>
        </p:nvSpPr>
        <p:spPr>
          <a:xfrm>
            <a:off x="594360" y="4416552"/>
            <a:ext cx="3749040" cy="1463040"/>
          </a:xfrm>
          <a:prstGeom prst="rect">
            <a:avLst/>
          </a:prstGeom>
          <a:noFill/>
        </p:spPr>
        <p:txBody>
          <a:bodyPr wrap="square">
            <a:spAutoFit/>
          </a:bodyPr>
          <a:lstStyle/>
          <a:p>
            <a:pPr algn="l">
              <a:spcAft>
                <a:spcPts val="400"/>
              </a:spcAft>
            </a:pPr>
            <a:r>
              <a:rPr sz="1500">
                <a:solidFill>
                  <a:srgbClr val="000000"/>
                </a:solidFill>
              </a:rPr>
              <a:t>Chronological 2023 / 2024 / 2025 split, purged cross-fitting, and model hashes frozen before a single test run.</a:t>
            </a:r>
          </a:p>
        </p:txBody>
      </p:sp>
      <p:sp>
        <p:nvSpPr>
          <p:cNvPr id="17" name="Rounded Rectangle 16"/>
          <p:cNvSpPr/>
          <p:nvPr/>
        </p:nvSpPr>
        <p:spPr>
          <a:xfrm>
            <a:off x="4663440" y="3794760"/>
            <a:ext cx="4023360" cy="2148840"/>
          </a:xfrm>
          <a:prstGeom prst="roundRect">
            <a:avLst>
              <a:gd name="adj" fmla="val 8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800600" y="3931920"/>
            <a:ext cx="411480" cy="4114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400" b="1">
                <a:solidFill>
                  <a:srgbClr val="FFFFFF"/>
                </a:solidFill>
              </a:rPr>
              <a:t>4</a:t>
            </a:r>
          </a:p>
        </p:txBody>
      </p:sp>
      <p:sp>
        <p:nvSpPr>
          <p:cNvPr id="19" name="TextBox 18"/>
          <p:cNvSpPr txBox="1"/>
          <p:nvPr/>
        </p:nvSpPr>
        <p:spPr>
          <a:xfrm>
            <a:off x="5303520" y="3904488"/>
            <a:ext cx="3291840" cy="457200"/>
          </a:xfrm>
          <a:prstGeom prst="rect">
            <a:avLst/>
          </a:prstGeom>
          <a:noFill/>
        </p:spPr>
        <p:txBody>
          <a:bodyPr wrap="square" anchor="ctr">
            <a:spAutoFit/>
          </a:bodyPr>
          <a:lstStyle/>
          <a:p>
            <a:pPr algn="l">
              <a:spcAft>
                <a:spcPts val="400"/>
              </a:spcAft>
            </a:pPr>
            <a:r>
              <a:rPr sz="1700" b="1">
                <a:solidFill>
                  <a:srgbClr val="1F3864"/>
                </a:solidFill>
              </a:rPr>
              <a:t>Quantified multimodality</a:t>
            </a:r>
          </a:p>
        </p:txBody>
      </p:sp>
      <p:sp>
        <p:nvSpPr>
          <p:cNvPr id="20" name="TextBox 19"/>
          <p:cNvSpPr txBox="1"/>
          <p:nvPr/>
        </p:nvSpPr>
        <p:spPr>
          <a:xfrm>
            <a:off x="4800600" y="4416552"/>
            <a:ext cx="3749040" cy="1463040"/>
          </a:xfrm>
          <a:prstGeom prst="rect">
            <a:avLst/>
          </a:prstGeom>
          <a:noFill/>
        </p:spPr>
        <p:txBody>
          <a:bodyPr wrap="square">
            <a:spAutoFit/>
          </a:bodyPr>
          <a:lstStyle/>
          <a:p>
            <a:pPr algn="l">
              <a:spcAft>
                <a:spcPts val="400"/>
              </a:spcAft>
            </a:pPr>
            <a:r>
              <a:rPr sz="1500">
                <a:solidFill>
                  <a:srgbClr val="000000"/>
                </a:solidFill>
              </a:rPr>
              <a:t>Weather and air quality lower DO RMSE by 2.7% over water-only but barely change classification.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Conclusion</a:t>
            </a:r>
          </a:p>
        </p:txBody>
      </p:sp>
      <p:sp>
        <p:nvSpPr>
          <p:cNvPr id="3" name="Text Placeholder 2"/>
          <p:cNvSpPr>
            <a:spLocks noGrp="1"/>
          </p:cNvSpPr>
          <p:nvPr>
            <p:ph type="body" idx="1"/>
          </p:nvPr>
        </p:nvSpPr>
        <p:spPr>
          <a:xfrm>
            <a:off x="457200" y="1371600"/>
            <a:ext cx="8229600" cy="4892040"/>
          </a:xfrm>
        </p:spPr>
        <p:txBody>
          <a:bodyPr wrap="square"/>
          <a:lstStyle/>
          <a:p>
            <a:pPr algn="l">
              <a:spcAft>
                <a:spcPts val="800"/>
              </a:spcAft>
            </a:pPr>
            <a:r>
              <a:rPr sz="1500" b="1"/>
              <a:t>Framework: </a:t>
            </a:r>
            <a:r>
              <a:rPr sz="1500"/>
              <a:t>built and deployed an end-to-end multimodal system that forecasts DO and warns of Low-DO conditions 6–48 h ahead at 30 US river stations.</a:t>
            </a:r>
          </a:p>
          <a:p>
            <a:pPr algn="l">
              <a:spcAft>
                <a:spcPts val="800"/>
              </a:spcAft>
            </a:pPr>
            <a:r>
              <a:rPr sz="1500" b="1"/>
              <a:t>Regression: </a:t>
            </a:r>
            <a:r>
              <a:rPr sz="1500"/>
              <a:t>the stacking ensemble has the lowest error at every horizon: RMSE 0.514 → 0.854 mg/L and R² 0.971 → 0.920 from 6 h to 48 h.</a:t>
            </a:r>
          </a:p>
          <a:p>
            <a:pPr algn="l">
              <a:spcAft>
                <a:spcPts val="800"/>
              </a:spcAft>
            </a:pPr>
            <a:r>
              <a:rPr sz="1500" b="1"/>
              <a:t>Classification: </a:t>
            </a:r>
            <a:r>
              <a:rPr sz="1500"/>
              <a:t>accuracy 92.1% (6 h) to 87.6% (48 h), macro F1 0.905 → 0.856, and Low-class recall ≥ 90.9% at every horizon.</a:t>
            </a:r>
          </a:p>
          <a:p>
            <a:pPr algn="l">
              <a:spcAft>
                <a:spcPts val="800"/>
              </a:spcAft>
            </a:pPr>
            <a:r>
              <a:rPr sz="1500" b="1"/>
              <a:t>Early warning: </a:t>
            </a:r>
            <a:r>
              <a:rPr sz="1500"/>
              <a:t>119 of 230 real 2025 Low-DO events warned in advance, with 25% fewer missed onset hours than LightGBM at 24 h.</a:t>
            </a:r>
          </a:p>
          <a:p>
            <a:pPr algn="l">
              <a:spcAft>
                <a:spcPts val="800"/>
              </a:spcAft>
            </a:pPr>
            <a:r>
              <a:rPr sz="1500" b="1"/>
              <a:t>Modalities: </a:t>
            </a:r>
            <a:r>
              <a:rPr sz="1500"/>
              <a:t>water sensors carry most of the signal; weather and air quality give small, consistent gains in DO error.</a:t>
            </a:r>
          </a:p>
          <a:p>
            <a:pPr algn="l">
              <a:spcAft>
                <a:spcPts val="800"/>
              </a:spcAft>
            </a:pPr>
            <a:r>
              <a:rPr sz="1500" b="1"/>
              <a:t>Rigour: </a:t>
            </a:r>
            <a:r>
              <a:rPr sz="1500"/>
              <a:t>a strict temporal split with frozen settings makes the 2025 results a realistic estimate of deployed performance.</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30</a:t>
            </a:fld>
            <a:endParaRPr 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Future Work</a:t>
            </a:r>
          </a:p>
        </p:txBody>
      </p:sp>
      <p:sp>
        <p:nvSpPr>
          <p:cNvPr id="3" name="Text Placeholder 2"/>
          <p:cNvSpPr>
            <a:spLocks noGrp="1"/>
          </p:cNvSpPr>
          <p:nvPr>
            <p:ph type="body" idx="1"/>
          </p:nvPr>
        </p:nvSpPr>
        <p:spPr>
          <a:xfrm>
            <a:off x="457200" y="1417320"/>
            <a:ext cx="8229600" cy="4846320"/>
          </a:xfrm>
        </p:spPr>
        <p:txBody>
          <a:bodyPr wrap="square"/>
          <a:lstStyle/>
          <a:p>
            <a:pPr algn="l">
              <a:spcAft>
                <a:spcPts val="1000"/>
              </a:spcAft>
            </a:pPr>
            <a:r>
              <a:rPr sz="1600" b="1"/>
              <a:t>Higher onset recall: </a:t>
            </a:r>
            <a:r>
              <a:rPr sz="1600"/>
              <a:t>about half of onsets are still missed; add onset-weighted training or a dedicated onset model.</a:t>
            </a:r>
          </a:p>
          <a:p>
            <a:pPr algn="l">
              <a:spcAft>
                <a:spcPts val="1000"/>
              </a:spcAft>
            </a:pPr>
            <a:r>
              <a:rPr sz="1600" b="1"/>
              <a:t>Forecast inputs: </a:t>
            </a:r>
            <a:r>
              <a:rPr sz="1600"/>
              <a:t>replace reanalysis weather with numerical weather forecasts (NWP) for true operational use.</a:t>
            </a:r>
          </a:p>
          <a:p>
            <a:pPr algn="l">
              <a:spcAft>
                <a:spcPts val="1000"/>
              </a:spcAft>
            </a:pPr>
            <a:r>
              <a:rPr sz="1600" b="1"/>
              <a:t>Explainability: </a:t>
            </a:r>
            <a:r>
              <a:rPr sz="1600"/>
              <a:t>attach SHAP explanations to every issued warning.</a:t>
            </a:r>
          </a:p>
          <a:p>
            <a:pPr algn="l">
              <a:spcAft>
                <a:spcPts val="1000"/>
              </a:spcAft>
            </a:pPr>
            <a:r>
              <a:rPr sz="1600" b="1"/>
              <a:t>Indian rivers: </a:t>
            </a:r>
            <a:r>
              <a:rPr sz="1600"/>
              <a:t>adapt the framework to CPCB real-time monitoring stations (e.g. Ganga, Yamuna).</a:t>
            </a:r>
          </a:p>
          <a:p>
            <a:pPr algn="l">
              <a:spcAft>
                <a:spcPts val="1000"/>
              </a:spcAft>
            </a:pPr>
            <a:r>
              <a:rPr sz="1600" b="1"/>
              <a:t>More parameters: </a:t>
            </a:r>
            <a:r>
              <a:rPr sz="1600"/>
              <a:t>extend warnings to ammonia (NH3-N) and turbidity; rolling-origin validation across years.</a:t>
            </a:r>
          </a:p>
          <a:p>
            <a:pPr algn="l">
              <a:spcAft>
                <a:spcPts val="1000"/>
              </a:spcAft>
            </a:pPr>
            <a:r>
              <a:rPr sz="1600" b="1"/>
              <a:t>Edge deployment: </a:t>
            </a:r>
            <a:r>
              <a:rPr sz="1600"/>
              <a:t>run inference on solar-powered IoT buoys for on-site alerts.</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31</a:t>
            </a:fld>
            <a:endParaRPr lang="en-US"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References</a:t>
            </a:r>
          </a:p>
        </p:txBody>
      </p:sp>
      <p:sp>
        <p:nvSpPr>
          <p:cNvPr id="3" name="Text Placeholder 2"/>
          <p:cNvSpPr>
            <a:spLocks noGrp="1"/>
          </p:cNvSpPr>
          <p:nvPr>
            <p:ph type="body" idx="1"/>
          </p:nvPr>
        </p:nvSpPr>
        <p:spPr>
          <a:xfrm>
            <a:off x="457200" y="1325880"/>
            <a:ext cx="8229600" cy="4937760"/>
          </a:xfrm>
        </p:spPr>
        <p:txBody>
          <a:bodyPr/>
          <a:lstStyle/>
          <a:p>
            <a:pPr marL="365760" indent="-365760" algn="l">
              <a:spcAft>
                <a:spcPts val="400"/>
              </a:spcAft>
              <a:buNone/>
            </a:pPr>
            <a:r>
              <a:rPr sz="1150"/>
              <a:t>[1]	J. Moon, J. Lee, S. Lee, and H. Yoon, "Urban river dissolved oxygen prediction model using machine learning," Water, vol. 14, no. 12, p. 1899, 2022.</a:t>
            </a:r>
          </a:p>
          <a:p>
            <a:pPr marL="365760" indent="-365760" algn="l">
              <a:spcAft>
                <a:spcPts val="400"/>
              </a:spcAft>
              <a:buNone/>
            </a:pPr>
            <a:r>
              <a:rPr sz="1150"/>
              <a:t>[2]	P. A. C. Rocha, V. O. Santos, J. Van Griensven Thé, and B. Gharabaghi, "New graph-based and transformer deep learning models for river dissolved oxygen forecasting," Environments, vol. 10, no. 12, p. 217, 2023.</a:t>
            </a:r>
          </a:p>
          <a:p>
            <a:pPr marL="365760" indent="-365760" algn="l">
              <a:spcAft>
                <a:spcPts val="400"/>
              </a:spcAft>
              <a:buNone/>
            </a:pPr>
            <a:r>
              <a:rPr sz="1150"/>
              <a:t>[3]	N. Pant, D. Toshniwal, and B. R. Gurjar, "Multi-step forecasting of dissolved oxygen in River Ganga based on CEEMDAN-AdaBoost-BiLSTM-LSTM model," Scientific Reports, vol. 14, p. 11199, 2024.</a:t>
            </a:r>
          </a:p>
          <a:p>
            <a:pPr marL="365760" indent="-365760" algn="l">
              <a:spcAft>
                <a:spcPts val="400"/>
              </a:spcAft>
              <a:buNone/>
            </a:pPr>
            <a:r>
              <a:rPr sz="1150"/>
              <a:t>[4]	F. Granata, S. Zhu, and F. Di Nunno, "Dissolved oxygen forecasting in the Mississippi River: advanced ensemble machine learning models," Environmental Science: Advances, 2024, doi: 10.1039/D4VA00119B.</a:t>
            </a:r>
          </a:p>
          <a:p>
            <a:pPr marL="365760" indent="-365760" algn="l">
              <a:spcAft>
                <a:spcPts val="400"/>
              </a:spcAft>
              <a:buNone/>
            </a:pPr>
            <a:r>
              <a:rPr sz="1150"/>
              <a:t>[5]	V. Cerqueira et al., "Forecasting ocean hypoxia in salmonid fish farms," Frontiers in Aquaculture, vol. 3, p. 1365123, 2024.</a:t>
            </a:r>
          </a:p>
          <a:p>
            <a:pPr marL="365760" indent="-365760" algn="l">
              <a:spcAft>
                <a:spcPts val="400"/>
              </a:spcAft>
              <a:buNone/>
            </a:pPr>
            <a:r>
              <a:rPr sz="1150"/>
              <a:t>[6]	I. Simonetti, C. Lubello, and L. Cappietti, "On the use of hydrodynamic modelling and random forest classifiers for the prediction of hypoxia in coastal lagoons," Science of the Total Environment, vol. 951, p. 175424, 2024.</a:t>
            </a:r>
          </a:p>
          <a:p>
            <a:pPr marL="365760" indent="-365760" algn="l">
              <a:spcAft>
                <a:spcPts val="400"/>
              </a:spcAft>
              <a:buNone/>
            </a:pPr>
            <a:r>
              <a:rPr sz="1150"/>
              <a:t>[7]	Y. Zhao and M. Chen, "Prediction of river dissolved oxygen (DO) based on multi-source data and various machine learning coupling models," PLOS ONE, vol. 20, no. 3, p. e0319256, 2025.</a:t>
            </a:r>
          </a:p>
          <a:p>
            <a:pPr marL="365760" indent="-365760" algn="l">
              <a:spcAft>
                <a:spcPts val="400"/>
              </a:spcAft>
              <a:buNone/>
            </a:pPr>
            <a:r>
              <a:rPr sz="1150"/>
              <a:t>[8]	K. Merabet et al., "Predicting water quality variables using gradient boosting machine: global versus local explainability using SHapley Additive Explanations (SHAP)," Earth Science Informatics, vol. 18, p. 298, 2025.</a:t>
            </a:r>
          </a:p>
          <a:p>
            <a:pPr marL="365760" indent="-365760" algn="l">
              <a:spcAft>
                <a:spcPts val="400"/>
              </a:spcAft>
              <a:buNone/>
            </a:pPr>
            <a:r>
              <a:rPr sz="1150"/>
              <a:t>[9]	R. Choudhary et al., "Predicting water quality index using stacked ensemble regression and SHAP based explainable artificial intelligence," Scientific Reports, vol. 15, p. 31139, 2025.</a:t>
            </a:r>
          </a:p>
          <a:p>
            <a:pPr marL="365760" indent="-365760" algn="l">
              <a:spcAft>
                <a:spcPts val="400"/>
              </a:spcAft>
              <a:buNone/>
            </a:pPr>
            <a:r>
              <a:rPr sz="1150"/>
              <a:t>[10]	"Multimodal deep-learning–driven water-quality forecasting and scenario assessment: shifting from reactive monitoring to proactive basin management," Journal of Hydrology, 2026.</a:t>
            </a:r>
          </a:p>
          <a:p>
            <a:pPr marL="365760" indent="-365760" algn="l">
              <a:spcAft>
                <a:spcPts val="400"/>
              </a:spcAft>
              <a:buNone/>
            </a:pPr>
            <a:r>
              <a:rPr sz="1150"/>
              <a:t>[11]	L. Breiman, "Random forests," Machine Learning, vol. 45, no. 1, pp. 5–32, 2001.</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32</a:t>
            </a:fld>
            <a:endParaRPr 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t>References (contd.)</a:t>
            </a:r>
          </a:p>
        </p:txBody>
      </p:sp>
      <p:sp>
        <p:nvSpPr>
          <p:cNvPr id="3" name="Text Placeholder 2"/>
          <p:cNvSpPr>
            <a:spLocks noGrp="1"/>
          </p:cNvSpPr>
          <p:nvPr>
            <p:ph type="body" idx="1"/>
          </p:nvPr>
        </p:nvSpPr>
        <p:spPr>
          <a:xfrm>
            <a:off x="457200" y="1325880"/>
            <a:ext cx="8229600" cy="4937760"/>
          </a:xfrm>
        </p:spPr>
        <p:txBody>
          <a:bodyPr/>
          <a:lstStyle/>
          <a:p>
            <a:pPr marL="365760" indent="-365760" algn="l">
              <a:spcAft>
                <a:spcPts val="400"/>
              </a:spcAft>
              <a:buNone/>
            </a:pPr>
            <a:r>
              <a:rPr sz="1150"/>
              <a:t>[12]	T. Chen and C. Guestrin, "XGBoost: A scalable tree boosting system," in Proc. 22nd ACM SIGKDD, 2016, pp. 785–794.</a:t>
            </a:r>
          </a:p>
          <a:p>
            <a:pPr marL="365760" indent="-365760" algn="l">
              <a:spcAft>
                <a:spcPts val="400"/>
              </a:spcAft>
              <a:buNone/>
            </a:pPr>
            <a:r>
              <a:rPr sz="1150"/>
              <a:t>[13]	G. Ke et al., "LightGBM: A highly efficient gradient boosting decision tree," in Advances in Neural Information Processing Systems (NeurIPS), 2017.</a:t>
            </a:r>
          </a:p>
          <a:p>
            <a:pPr marL="365760" indent="-365760" algn="l">
              <a:spcAft>
                <a:spcPts val="400"/>
              </a:spcAft>
              <a:buNone/>
            </a:pPr>
            <a:r>
              <a:rPr sz="1150"/>
              <a:t>[14]	S. Hochreiter and J. Schmidhuber, "Long short-term memory," Neural Computation, vol. 9, no. 8, pp. 1735–1780, 1997.</a:t>
            </a:r>
          </a:p>
          <a:p>
            <a:pPr marL="365760" indent="-365760" algn="l">
              <a:spcAft>
                <a:spcPts val="400"/>
              </a:spcAft>
              <a:buNone/>
            </a:pPr>
            <a:r>
              <a:rPr sz="1150"/>
              <a:t>[15]	M. Schuster and K. K. Paliwal, "Bidirectional recurrent neural networks," IEEE Trans. Signal Processing, vol. 45, no. 11, pp. 2673–2681, 1997.</a:t>
            </a:r>
          </a:p>
          <a:p>
            <a:pPr marL="365760" indent="-365760" algn="l">
              <a:spcAft>
                <a:spcPts val="400"/>
              </a:spcAft>
              <a:buNone/>
            </a:pPr>
            <a:r>
              <a:rPr sz="1150"/>
              <a:t>[16]	T. N. Sainath, O. Vinyals, A. Senior, and H. Sak, "Convolutional, long short-term memory, fully connected deep neural networks," in Proc. IEEE ICASSP, 2015, pp. 4580–4584.</a:t>
            </a:r>
          </a:p>
          <a:p>
            <a:pPr marL="365760" indent="-365760" algn="l">
              <a:spcAft>
                <a:spcPts val="400"/>
              </a:spcAft>
              <a:buNone/>
            </a:pPr>
            <a:r>
              <a:rPr sz="1150"/>
              <a:t>[17]	D. H. Wolpert, "Stacked generalization," Neural Networks, vol. 5, no. 2, pp. 241–259, 1992.</a:t>
            </a:r>
          </a:p>
          <a:p>
            <a:pPr marL="365760" indent="-365760" algn="l">
              <a:spcAft>
                <a:spcPts val="400"/>
              </a:spcAft>
              <a:buNone/>
            </a:pPr>
            <a:r>
              <a:rPr sz="1150"/>
              <a:t>[18]	A. E. Hoerl and R. W. Kennard, "Ridge regression: Biased estimation for nonorthogonal problems," Technometrics, vol. 12, no. 1, pp. 55–67, 1970.</a:t>
            </a:r>
          </a:p>
          <a:p>
            <a:pPr marL="365760" indent="-365760" algn="l">
              <a:spcAft>
                <a:spcPts val="400"/>
              </a:spcAft>
              <a:buNone/>
            </a:pPr>
            <a:r>
              <a:rPr sz="1150"/>
              <a:t>[19]	H. Hersbach et al., "The ERA5 global reanalysis," Quarterly Journal of the Royal Meteorological Society, vol. 146, no. 730, pp. 1999–2049, 2020.</a:t>
            </a:r>
          </a:p>
          <a:p>
            <a:pPr marL="365760" indent="-365760" algn="l">
              <a:spcAft>
                <a:spcPts val="400"/>
              </a:spcAft>
              <a:buNone/>
            </a:pPr>
            <a:r>
              <a:rPr sz="1150"/>
              <a:t>[20]	A. Inness et al., "The CAMS reanalysis of atmospheric composition," Atmospheric Chemistry and Physics, vol. 19, pp. 3515–3556, 2019.</a:t>
            </a:r>
          </a:p>
          <a:p>
            <a:pPr marL="365760" indent="-365760" algn="l">
              <a:spcAft>
                <a:spcPts val="400"/>
              </a:spcAft>
              <a:buNone/>
            </a:pPr>
            <a:r>
              <a:rPr sz="1150"/>
              <a:t>[21]	P. Zippenfenig, "Open-Meteo.com Weather API," Zenodo, 2023.</a:t>
            </a:r>
          </a:p>
          <a:p>
            <a:pPr marL="365760" indent="-365760" algn="l">
              <a:spcAft>
                <a:spcPts val="400"/>
              </a:spcAft>
              <a:buNone/>
            </a:pPr>
            <a:r>
              <a:rPr sz="1150"/>
              <a:t>[22]	U.S. Geological Survey, "National Water Information System (NWIS)," waterdata.usgs.gov.</a:t>
            </a:r>
          </a:p>
          <a:p>
            <a:pPr marL="365760" indent="-365760" algn="l">
              <a:spcAft>
                <a:spcPts val="400"/>
              </a:spcAft>
              <a:buNone/>
            </a:pPr>
            <a:r>
              <a:rPr sz="1150"/>
              <a:t>[23]	U.S. Environmental Protection Agency, "Ambient water quality criteria for dissolved oxygen," EPA 440/5-86-003, 1986.</a:t>
            </a:r>
          </a:p>
        </p:txBody>
      </p:sp>
      <p:sp>
        <p:nvSpPr>
          <p:cNvPr id="4" name="Footer Placeholder 3"/>
          <p:cNvSpPr>
            <a:spLocks noGrp="1"/>
          </p:cNvSpPr>
          <p:nvPr>
            <p:ph type="ftr" idx="11"/>
          </p:nvPr>
        </p:nvSpPr>
        <p:spPr>
          <a:xfrm>
            <a:off x="2286000" y="6355080"/>
            <a:ext cx="4572000" cy="320040"/>
          </a:xfrm>
        </p:spPr>
        <p:txBody>
          <a:bodyPr/>
          <a:lstStyle/>
          <a:p>
            <a:pPr algn="ctr"/>
            <a:r>
              <a:rPr sz="1000">
                <a:solidFill>
                  <a:srgbClr val="595959"/>
                </a:solidFill>
                <a:latin typeface="Calibri"/>
              </a:rPr>
              <a:t>DEPARTMENT OF COMPUTER SCIENCE AND ENGINEERING</a:t>
            </a:r>
          </a:p>
        </p:txBody>
      </p:sp>
      <p:sp>
        <p:nvSpPr>
          <p:cNvPr id="5" name="Slide Number Placeholder 4"/>
          <p:cNvSpPr>
            <a:spLocks noGrp="1"/>
          </p:cNvSpPr>
          <p:nvPr>
            <p:ph type="sldNum" idx="12"/>
          </p:nvPr>
        </p:nvSpPr>
        <p:spPr>
          <a:xfrm>
            <a:off x="7772400" y="6355080"/>
            <a:ext cx="914400" cy="320040"/>
          </a:xfrm>
        </p:spPr>
        <p:txBody>
          <a:bodyPr/>
          <a:lstStyle/>
          <a:p>
            <a:pPr algn="r"/>
            <a:fld id="{B6F15528-21DE-4FAA-801E-634DDDAF4B2B}" type="slidenum">
              <a:rPr lang="en-US" sz="1000"/>
              <a:t>33</a:t>
            </a:fld>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533</TotalTime>
  <Words>5307</Words>
  <Application>Microsoft Office PowerPoint</Application>
  <PresentationFormat>On-screen Show (4:3)</PresentationFormat>
  <Paragraphs>594</Paragraphs>
  <Slides>33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Times New Roman</vt:lpstr>
      <vt:lpstr>Office Theme</vt:lpstr>
      <vt:lpstr>SRM INSTITUTE OF SCIENCE AND TECHNOLOGY Ramapuram , Chennai – 600 089 DEPARTMENT OF COMPUTER SCIENCE AND ENGINEERING</vt:lpstr>
      <vt:lpstr>ABSTRACT</vt:lpstr>
      <vt:lpstr>Scope and Motivation</vt:lpstr>
      <vt:lpstr>Introduction</vt:lpstr>
      <vt:lpstr>Literature Survey</vt:lpstr>
      <vt:lpstr>Problem Statement</vt:lpstr>
      <vt:lpstr>Objectives</vt:lpstr>
      <vt:lpstr>Proposed Work</vt:lpstr>
      <vt:lpstr>Proposed Work: Problem, Data &amp; Pipeline</vt:lpstr>
      <vt:lpstr>System Architecture</vt:lpstr>
      <vt:lpstr>Modules</vt:lpstr>
      <vt:lpstr>Module Description (1–3)</vt:lpstr>
      <vt:lpstr>Module Description (4–6)</vt:lpstr>
      <vt:lpstr>Algorithm 1: Causal Features &amp; Labels</vt:lpstr>
      <vt:lpstr>Algorithm 2: Stacking &amp; Warning Rule</vt:lpstr>
      <vt:lpstr>Implementation Details</vt:lpstr>
      <vt:lpstr>Dataset Splits &amp; Class Distribution</vt:lpstr>
      <vt:lpstr>Results — Regression (DO in mg/L)</vt:lpstr>
      <vt:lpstr>Results — Classification (24 h)</vt:lpstr>
      <vt:lpstr>Results — Class-wise Performance (Stacking)</vt:lpstr>
      <vt:lpstr>Results — ROC Curves (24 h)</vt:lpstr>
      <vt:lpstr>Results — Cross-Validation on 2024</vt:lpstr>
      <vt:lpstr>Results — Proposed vs Existing Algorithms</vt:lpstr>
      <vt:lpstr>Results — Early-Warning Comparison (24 h)</vt:lpstr>
      <vt:lpstr>Results — Modality Ablation</vt:lpstr>
      <vt:lpstr>Results — Early-Warning Lead Time</vt:lpstr>
      <vt:lpstr>Deployment — Live Monitoring Dashboard</vt:lpstr>
      <vt:lpstr>Comparison with Existing Work</vt:lpstr>
      <vt:lpstr>Key Contributions</vt:lpstr>
      <vt:lpstr>Conclusion</vt:lpstr>
      <vt:lpstr>Future Work</vt:lpstr>
      <vt:lpstr>References</vt:lpstr>
      <vt:lpstr>References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 Chennai – 600 089 DEPARTMENT OF COMPUTER SCIENCE AND ENGINEERING</dc:title>
  <dc:creator>DELL</dc:creator>
  <cp:lastModifiedBy>JACK ROSHAN J</cp:lastModifiedBy>
  <cp:revision>14</cp:revision>
  <dcterms:created xsi:type="dcterms:W3CDTF">2023-07-26T03:49:14Z</dcterms:created>
  <dcterms:modified xsi:type="dcterms:W3CDTF">2026-10-23T06:42:45Z</dcterms:modified>
</cp:coreProperties>
</file>